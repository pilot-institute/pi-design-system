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</p:sldIdLst>
  <p:sldSz cy="5143500" cx="9144000"/>
  <p:notesSz cx="5143500" cy="9144000"/>
  <p:embeddedFontLst>
    <p:embeddedFont>
      <p:font typeface="Arial Black"/>
      <p:regular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8" roundtripDataSignature="AMtx7mg02vRJubgaVk5h0szqH/Us9MQo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44" Type="http://schemas.openxmlformats.org/officeDocument/2006/relationships/slide" Target="slides/slide40.xml"/><Relationship Id="rId21" Type="http://schemas.openxmlformats.org/officeDocument/2006/relationships/slide" Target="slides/slide17.xml"/><Relationship Id="rId43" Type="http://schemas.openxmlformats.org/officeDocument/2006/relationships/slide" Target="slides/slide39.xml"/><Relationship Id="rId24" Type="http://schemas.openxmlformats.org/officeDocument/2006/relationships/slide" Target="slides/slide20.xml"/><Relationship Id="rId46" Type="http://schemas.openxmlformats.org/officeDocument/2006/relationships/slide" Target="slides/slide42.xml"/><Relationship Id="rId23" Type="http://schemas.openxmlformats.org/officeDocument/2006/relationships/slide" Target="slides/slide19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48" Type="http://customschemas.google.com/relationships/presentationmetadata" Target="metadata"/><Relationship Id="rId25" Type="http://schemas.openxmlformats.org/officeDocument/2006/relationships/slide" Target="slides/slide21.xml"/><Relationship Id="rId47" Type="http://schemas.openxmlformats.org/officeDocument/2006/relationships/font" Target="fonts/ArialBlack-regular.fntdata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Mention the Secrets that are coming up.</a:t>
            </a:r>
            <a:endParaRPr/>
          </a:p>
        </p:txBody>
      </p:sp>
      <p:sp>
        <p:nvSpPr>
          <p:cNvPr id="79" name="Google Shape;7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8" name="Google Shape;40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8" name="Google Shape;45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0" name="Google Shape;48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9" name="Google Shape;49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8" name="Google Shape;51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3" name="Google Shape;54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0" name="Google Shape;570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1" name="Google Shape;581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0" name="Google Shape;600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0" name="Google Shape;620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4" name="Google Shape;634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1" name="Google Shape;651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6" name="Google Shape;676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5" name="Google Shape;695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8" name="Google Shape;708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9" name="Google Shape;729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0" name="Google Shape;740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3b78501958d_0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0" name="Google Shape;760;g3b78501958d_0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g3b78501958d_0_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3b78501958d_0_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8" name="Google Shape;768;g3b78501958d_0_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g3b78501958d_0_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6" name="Google Shape;776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3b78501958d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2" name="Google Shape;792;g3b78501958d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g3b78501958d_0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g3b78501958d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2" name="Google Shape;802;g3b78501958d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g3b78501958d_0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2" name="Google Shape;812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7" name="Google Shape;837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3b78501958d_0_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9" name="Google Shape;859;g3b78501958d_0_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g3b78501958d_0_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pos="360">
          <p15:clr>
            <a:srgbClr val="E46962"/>
          </p15:clr>
        </p15:guide>
        <p15:guide id="2" pos="576">
          <p15:clr>
            <a:srgbClr val="E46962"/>
          </p15:clr>
        </p15:guide>
        <p15:guide id="3" orient="horz" pos="244">
          <p15:clr>
            <a:srgbClr val="E46962"/>
          </p15:clr>
        </p15:guide>
        <p15:guide id="4" orient="horz" pos="468">
          <p15:clr>
            <a:srgbClr val="E46962"/>
          </p15:clr>
        </p15:guide>
        <p15:guide id="5" pos="5400">
          <p15:clr>
            <a:srgbClr val="E46962"/>
          </p15:clr>
        </p15:guide>
        <p15:guide id="6" pos="2789">
          <p15:clr>
            <a:srgbClr val="E46962"/>
          </p15:clr>
        </p15:guide>
        <p15:guide id="7" pos="2970">
          <p15:clr>
            <a:srgbClr val="E46962"/>
          </p15:clr>
        </p15:guide>
        <p15:guide id="8" orient="horz" pos="64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33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61750"/>
            <a:ext cx="9204946" cy="530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571500" y="1924242"/>
            <a:ext cx="8001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5200"/>
              <a:buFont typeface="Arial Black"/>
              <a:buNone/>
            </a:pPr>
            <a:r>
              <a:rPr b="1" i="0" lang="en-US" sz="6000" u="none" cap="none" strike="noStrike">
                <a:solidFill>
                  <a:srgbClr val="F0F0F0"/>
                </a:solidFill>
                <a:latin typeface="Arial Black"/>
                <a:ea typeface="Arial Black"/>
                <a:cs typeface="Arial Black"/>
                <a:sym typeface="Arial Black"/>
              </a:rPr>
              <a:t>Part 107 to Paid</a:t>
            </a:r>
            <a:br>
              <a:rPr b="1" i="0" lang="en-US" sz="6000" u="none" cap="none" strike="noStrike">
                <a:solidFill>
                  <a:srgbClr val="F0F0F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1" i="0" lang="en-US" sz="6000" u="none" cap="none" strike="noStrike">
                <a:solidFill>
                  <a:srgbClr val="2398FF"/>
                </a:solidFill>
                <a:latin typeface="Arial Black"/>
                <a:ea typeface="Arial Black"/>
                <a:cs typeface="Arial Black"/>
                <a:sym typeface="Arial Black"/>
              </a:rPr>
              <a:t>in 7 Days</a:t>
            </a:r>
            <a:endParaRPr b="0" i="0" sz="6000" u="none" cap="none" strike="noStrike">
              <a:solidFill>
                <a:srgbClr val="2398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1465963" y="4114800"/>
            <a:ext cx="6212100" cy="457200"/>
          </a:xfrm>
          <a:prstGeom prst="rect">
            <a:avLst/>
          </a:prstGeom>
          <a:solidFill>
            <a:srgbClr val="2123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98FF"/>
              </a:buClr>
              <a:buSzPts val="1300"/>
              <a:buFont typeface="Arial"/>
              <a:buNone/>
            </a:pPr>
            <a:r>
              <a:rPr b="0" i="0" lang="en-US" sz="1800" u="none" cap="none" strike="noStrike">
                <a:solidFill>
                  <a:srgbClr val="2398FF"/>
                </a:solidFill>
                <a:latin typeface="Arial"/>
                <a:ea typeface="Arial"/>
                <a:cs typeface="Arial"/>
                <a:sym typeface="Arial"/>
              </a:rPr>
              <a:t>Based on real survey data from pilots who've done it</a:t>
            </a:r>
            <a:endParaRPr b="0" i="0" sz="1800" u="none" cap="none" strike="noStrike">
              <a:solidFill>
                <a:srgbClr val="2398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" name="Google Shape;19;p1" title="PI logos al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1925" y="871825"/>
            <a:ext cx="2240181" cy="327125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"/>
          <p:cNvSpPr txBox="1"/>
          <p:nvPr/>
        </p:nvSpPr>
        <p:spPr>
          <a:xfrm>
            <a:off x="3040000" y="1334249"/>
            <a:ext cx="3000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</a:rPr>
              <a:t>presents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838900" y="0"/>
            <a:ext cx="3305100" cy="312300"/>
          </a:xfrm>
          <a:prstGeom prst="rect">
            <a:avLst/>
          </a:prstGeom>
          <a:solidFill>
            <a:srgbClr val="239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lt1"/>
                </a:solidFill>
              </a:rPr>
              <a:t>FREE PDF BONUS — Stay to the end!</a:t>
            </a:r>
            <a:endParaRPr b="1" sz="1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33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696963" y="527138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3600"/>
              <a:buFont typeface="Arial Black"/>
              <a:buNone/>
            </a:pPr>
            <a:r>
              <a:rPr b="1" i="0" lang="en-US" sz="3600" u="none" cap="none" strike="noStrike">
                <a:solidFill>
                  <a:srgbClr val="F0F0F0"/>
                </a:solidFill>
                <a:latin typeface="Arial Black"/>
                <a:ea typeface="Arial Black"/>
                <a:cs typeface="Arial Black"/>
                <a:sym typeface="Arial Black"/>
              </a:rPr>
              <a:t>By The End of This Webinar...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" name="Google Shape;28;p2"/>
          <p:cNvGrpSpPr/>
          <p:nvPr/>
        </p:nvGrpSpPr>
        <p:grpSpPr>
          <a:xfrm>
            <a:off x="1823907" y="1447825"/>
            <a:ext cx="5496187" cy="548700"/>
            <a:chOff x="1823907" y="1447825"/>
            <a:chExt cx="5496187" cy="548700"/>
          </a:xfrm>
        </p:grpSpPr>
        <p:sp>
          <p:nvSpPr>
            <p:cNvPr id="29" name="Google Shape;29;p2"/>
            <p:cNvSpPr/>
            <p:nvPr/>
          </p:nvSpPr>
          <p:spPr>
            <a:xfrm>
              <a:off x="1823907" y="1467324"/>
              <a:ext cx="457200" cy="457200"/>
            </a:xfrm>
            <a:prstGeom prst="ellipse">
              <a:avLst/>
            </a:prstGeom>
            <a:solidFill>
              <a:srgbClr val="2398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33"/>
                </a:buClr>
                <a:buSzPts val="1800"/>
                <a:buFont typeface="Arial Black"/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</a:rPr>
                <a:t>1</a:t>
              </a:r>
              <a:endParaRPr i="0" sz="1800" u="none" cap="none" strike="noStrike">
                <a:solidFill>
                  <a:schemeClr val="lt1"/>
                </a:solidFill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2492793" y="1447825"/>
              <a:ext cx="48273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0F0F0"/>
                </a:buClr>
                <a:buSzPts val="20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0F0F0"/>
                  </a:solidFill>
                  <a:latin typeface="Arial"/>
                  <a:ea typeface="Arial"/>
                  <a:cs typeface="Arial"/>
                  <a:sym typeface="Arial"/>
                </a:rPr>
                <a:t>You'll know why </a:t>
              </a:r>
              <a:r>
                <a:rPr b="0" i="0" lang="en-US" sz="1800" u="none" cap="none" strike="noStrike">
                  <a:solidFill>
                    <a:srgbClr val="81D1F4"/>
                  </a:solidFill>
                  <a:latin typeface="Arial"/>
                  <a:ea typeface="Arial"/>
                  <a:cs typeface="Arial"/>
                  <a:sym typeface="Arial"/>
                </a:rPr>
                <a:t>93.8%</a:t>
              </a:r>
              <a:r>
                <a:rPr b="0" i="0" lang="en-US" sz="1800" u="none" cap="none" strike="noStrike">
                  <a:solidFill>
                    <a:srgbClr val="F0F0F0"/>
                  </a:solidFill>
                  <a:latin typeface="Arial"/>
                  <a:ea typeface="Arial"/>
                  <a:cs typeface="Arial"/>
                  <a:sym typeface="Arial"/>
                </a:rPr>
                <a:t> of pilots without clients are making the same critical mistake.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" name="Google Shape;31;p2"/>
          <p:cNvGrpSpPr/>
          <p:nvPr/>
        </p:nvGrpSpPr>
        <p:grpSpPr>
          <a:xfrm>
            <a:off x="1823907" y="2292075"/>
            <a:ext cx="5496187" cy="548700"/>
            <a:chOff x="1823907" y="2292075"/>
            <a:chExt cx="5496187" cy="548700"/>
          </a:xfrm>
        </p:grpSpPr>
        <p:sp>
          <p:nvSpPr>
            <p:cNvPr id="32" name="Google Shape;32;p2"/>
            <p:cNvSpPr/>
            <p:nvPr/>
          </p:nvSpPr>
          <p:spPr>
            <a:xfrm>
              <a:off x="1823907" y="2318084"/>
              <a:ext cx="457200" cy="457200"/>
            </a:xfrm>
            <a:prstGeom prst="ellipse">
              <a:avLst/>
            </a:prstGeom>
            <a:solidFill>
              <a:srgbClr val="2398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33"/>
                </a:buClr>
                <a:buSzPts val="1800"/>
                <a:buFont typeface="Arial Black"/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</a:rPr>
                <a:t>2</a:t>
              </a:r>
              <a:endParaRPr i="0" sz="1800" u="none" cap="none" strike="noStrike">
                <a:solidFill>
                  <a:schemeClr val="lt1"/>
                </a:solidFill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2492793" y="2292075"/>
              <a:ext cx="48273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0F0F0"/>
                </a:buClr>
                <a:buSzPts val="20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0F0F0"/>
                  </a:solidFill>
                  <a:latin typeface="Arial"/>
                  <a:ea typeface="Arial"/>
                  <a:cs typeface="Arial"/>
                  <a:sym typeface="Arial"/>
                </a:rPr>
                <a:t>You'll discover the </a:t>
              </a:r>
              <a:r>
                <a:rPr b="0" i="0" lang="en-US" sz="1800" u="none" cap="none" strike="noStrike">
                  <a:solidFill>
                    <a:srgbClr val="81D1F4"/>
                  </a:solidFill>
                  <a:latin typeface="Arial"/>
                  <a:ea typeface="Arial"/>
                  <a:cs typeface="Arial"/>
                  <a:sym typeface="Arial"/>
                </a:rPr>
                <a:t>3 secrets</a:t>
              </a:r>
              <a:r>
                <a:rPr b="0" i="0" lang="en-US" sz="1800" u="none" cap="none" strike="noStrike">
                  <a:solidFill>
                    <a:srgbClr val="F0F0F0"/>
                  </a:solidFill>
                  <a:latin typeface="Arial"/>
                  <a:ea typeface="Arial"/>
                  <a:cs typeface="Arial"/>
                  <a:sym typeface="Arial"/>
                </a:rPr>
                <a:t> that helped pilots land their first paying client.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" name="Google Shape;34;p2"/>
          <p:cNvGrpSpPr/>
          <p:nvPr/>
        </p:nvGrpSpPr>
        <p:grpSpPr>
          <a:xfrm>
            <a:off x="1823907" y="3136325"/>
            <a:ext cx="5496187" cy="548700"/>
            <a:chOff x="1823907" y="3136325"/>
            <a:chExt cx="5496187" cy="548700"/>
          </a:xfrm>
        </p:grpSpPr>
        <p:sp>
          <p:nvSpPr>
            <p:cNvPr id="35" name="Google Shape;35;p2"/>
            <p:cNvSpPr/>
            <p:nvPr/>
          </p:nvSpPr>
          <p:spPr>
            <a:xfrm>
              <a:off x="1823907" y="3175348"/>
              <a:ext cx="457200" cy="457200"/>
            </a:xfrm>
            <a:prstGeom prst="ellipse">
              <a:avLst/>
            </a:prstGeom>
            <a:solidFill>
              <a:srgbClr val="2398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33"/>
                </a:buClr>
                <a:buSzPts val="1800"/>
                <a:buFont typeface="Arial Black"/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</a:rPr>
                <a:t>3</a:t>
              </a:r>
              <a:endParaRPr i="0" sz="1800" u="none" cap="none" strike="noStrike">
                <a:solidFill>
                  <a:schemeClr val="lt1"/>
                </a:solidFill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2492793" y="3136325"/>
              <a:ext cx="48273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0F0F0"/>
                </a:buClr>
                <a:buSzPts val="20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0F0F0"/>
                  </a:solidFill>
                  <a:latin typeface="Arial"/>
                  <a:ea typeface="Arial"/>
                  <a:cs typeface="Arial"/>
                  <a:sym typeface="Arial"/>
                </a:rPr>
                <a:t>You'll see what high earners do differently than everyone else.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" name="Google Shape;37;p2"/>
          <p:cNvGrpSpPr/>
          <p:nvPr/>
        </p:nvGrpSpPr>
        <p:grpSpPr>
          <a:xfrm>
            <a:off x="1823907" y="3980575"/>
            <a:ext cx="5496187" cy="548700"/>
            <a:chOff x="1823907" y="3980575"/>
            <a:chExt cx="5496187" cy="548700"/>
          </a:xfrm>
        </p:grpSpPr>
        <p:sp>
          <p:nvSpPr>
            <p:cNvPr id="38" name="Google Shape;38;p2"/>
            <p:cNvSpPr/>
            <p:nvPr/>
          </p:nvSpPr>
          <p:spPr>
            <a:xfrm>
              <a:off x="1823907" y="4019604"/>
              <a:ext cx="457200" cy="457200"/>
            </a:xfrm>
            <a:prstGeom prst="ellipse">
              <a:avLst/>
            </a:prstGeom>
            <a:solidFill>
              <a:srgbClr val="2398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33"/>
                </a:buClr>
                <a:buSzPts val="1800"/>
                <a:buFont typeface="Arial Black"/>
                <a:buNone/>
              </a:pPr>
              <a:r>
                <a:rPr b="1" i="0" lang="en-US" sz="1800" u="none" cap="none" strike="noStrike">
                  <a:solidFill>
                    <a:schemeClr val="lt1"/>
                  </a:solidFill>
                </a:rPr>
                <a:t>4</a:t>
              </a:r>
              <a:endParaRPr i="0" sz="1800" u="none" cap="none" strike="noStrike">
                <a:solidFill>
                  <a:schemeClr val="lt1"/>
                </a:solidFill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2492793" y="3980575"/>
              <a:ext cx="48273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BE33"/>
                </a:buClr>
                <a:buSzPts val="20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You'll get a </a:t>
              </a:r>
              <a:r>
                <a:rPr lang="en-US" sz="1800">
                  <a:solidFill>
                    <a:srgbClr val="81D1F4"/>
                  </a:solidFill>
                </a:rPr>
                <a:t>free</a:t>
              </a:r>
              <a:r>
                <a:rPr b="0" i="0" lang="en-US" sz="1800" u="none" cap="none" strike="noStrike">
                  <a:solidFill>
                    <a:srgbClr val="81D1F4"/>
                  </a:solidFill>
                  <a:latin typeface="Arial"/>
                  <a:ea typeface="Arial"/>
                  <a:cs typeface="Arial"/>
                  <a:sym typeface="Arial"/>
                </a:rPr>
                <a:t> PDF </a:t>
              </a:r>
              <a:r>
                <a:rPr b="0" i="0" lang="en-US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action guide if you stay to the end.</a:t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33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239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576040" y="49536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0590"/>
              </a:buClr>
              <a:buSzPts val="1400"/>
              <a:buFont typeface="Arial"/>
              <a:buNone/>
            </a:pPr>
            <a:r>
              <a:rPr lang="en-US" sz="1500">
                <a:solidFill>
                  <a:srgbClr val="81D1F4"/>
                </a:solidFill>
              </a:rPr>
              <a:t>You’ve Already Taken the First Step</a:t>
            </a:r>
            <a:endParaRPr i="0" sz="1500" u="none" cap="none" strike="noStrike">
              <a:solidFill>
                <a:srgbClr val="81D1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583600" y="871122"/>
            <a:ext cx="634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3200"/>
              <a:buFont typeface="Arial Black"/>
              <a:buNone/>
            </a:pPr>
            <a:r>
              <a:rPr b="1" lang="en-US" sz="3600">
                <a:solidFill>
                  <a:srgbClr val="F0F0F0"/>
                </a:solidFill>
                <a:latin typeface="Arial Black"/>
                <a:ea typeface="Arial Black"/>
                <a:cs typeface="Arial Black"/>
                <a:sym typeface="Arial Black"/>
              </a:rPr>
              <a:t>While You Wait…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898175" y="1593324"/>
            <a:ext cx="6340200" cy="17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2000"/>
              <a:buFont typeface="Arial"/>
              <a:buNone/>
            </a:pPr>
            <a:r>
              <a:rPr i="0" lang="en-US" sz="1500" u="none" cap="none" strike="noStrike">
                <a:solidFill>
                  <a:srgbClr val="F0F0F0"/>
                </a:solidFill>
              </a:rPr>
              <a:t>Every week you don't take action, that voice in your head gets louder:</a:t>
            </a:r>
            <a:endParaRPr i="0" sz="1500" u="none" cap="none" strike="noStrike">
              <a:solidFill>
                <a:schemeClr val="dk1"/>
              </a:solidFill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919881" y="2061414"/>
            <a:ext cx="6626840" cy="457200"/>
          </a:xfrm>
          <a:prstGeom prst="rect">
            <a:avLst/>
          </a:prstGeom>
          <a:solidFill>
            <a:srgbClr val="2123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0590"/>
              </a:buClr>
              <a:buSzPts val="1800"/>
              <a:buFont typeface="Arial"/>
              <a:buNone/>
            </a:pPr>
            <a:r>
              <a:rPr b="0" lang="en-US" sz="1800" u="none" cap="none" strike="noStrike">
                <a:solidFill>
                  <a:srgbClr val="81D1F4"/>
                </a:solidFill>
                <a:latin typeface="Arial"/>
                <a:ea typeface="Arial"/>
                <a:cs typeface="Arial"/>
                <a:sym typeface="Arial"/>
              </a:rPr>
              <a:t>"Maybe I'm not cut out for this."</a:t>
            </a:r>
            <a:endParaRPr b="0" sz="1800" u="none" cap="none" strike="noStrike">
              <a:solidFill>
                <a:srgbClr val="81D1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919881" y="2701494"/>
            <a:ext cx="6626840" cy="457200"/>
          </a:xfrm>
          <a:prstGeom prst="rect">
            <a:avLst/>
          </a:prstGeom>
          <a:solidFill>
            <a:srgbClr val="2123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0590"/>
              </a:buClr>
              <a:buSzPts val="1800"/>
              <a:buFont typeface="Arial"/>
              <a:buNone/>
            </a:pPr>
            <a:r>
              <a:rPr b="0" lang="en-US" sz="1800" u="none" cap="none" strike="noStrike">
                <a:solidFill>
                  <a:srgbClr val="81D1F4"/>
                </a:solidFill>
                <a:latin typeface="Arial"/>
                <a:ea typeface="Arial"/>
                <a:cs typeface="Arial"/>
                <a:sym typeface="Arial"/>
              </a:rPr>
              <a:t>"Maybe I should have just stuck with my day job."</a:t>
            </a:r>
            <a:endParaRPr b="0" sz="1800" u="none" cap="none" strike="noStrike">
              <a:solidFill>
                <a:srgbClr val="81D1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919881" y="3341574"/>
            <a:ext cx="6626840" cy="457200"/>
          </a:xfrm>
          <a:prstGeom prst="rect">
            <a:avLst/>
          </a:prstGeom>
          <a:solidFill>
            <a:srgbClr val="2123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0590"/>
              </a:buClr>
              <a:buSzPts val="1800"/>
              <a:buFont typeface="Arial"/>
              <a:buNone/>
            </a:pPr>
            <a:r>
              <a:rPr b="0" lang="en-US" sz="1800" u="none" cap="none" strike="noStrike">
                <a:solidFill>
                  <a:srgbClr val="81D1F4"/>
                </a:solidFill>
                <a:latin typeface="Arial"/>
                <a:ea typeface="Arial"/>
                <a:cs typeface="Arial"/>
                <a:sym typeface="Arial"/>
              </a:rPr>
              <a:t>"That expensive drone starts collecting dust..."</a:t>
            </a:r>
            <a:endParaRPr b="0" sz="1800" u="none" cap="none" strike="noStrike">
              <a:solidFill>
                <a:srgbClr val="81D1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576040" y="4184386"/>
            <a:ext cx="82296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i="0" lang="en-US" sz="1500" u="none" cap="none" strike="noStrike">
                <a:solidFill>
                  <a:schemeClr val="lt1"/>
                </a:solidFill>
              </a:rPr>
              <a:t>And while you're waiting?</a:t>
            </a:r>
            <a:r>
              <a:rPr i="0" lang="en-US" sz="1500" u="none" cap="none" strike="noStrike">
                <a:solidFill>
                  <a:srgbClr val="94A3B8"/>
                </a:solidFill>
              </a:rPr>
              <a:t> </a:t>
            </a:r>
            <a:r>
              <a:rPr i="0" lang="en-US" sz="1500" u="none" cap="none" strike="noStrike">
                <a:solidFill>
                  <a:srgbClr val="81D1F4"/>
                </a:solidFill>
              </a:rPr>
              <a:t>Someone else is calling the clients that should be yours.</a:t>
            </a:r>
            <a:endParaRPr i="0" sz="1500" u="none" cap="none" strike="noStrike">
              <a:solidFill>
                <a:srgbClr val="81D1F4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33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239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457200" y="289357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0590"/>
              </a:buClr>
              <a:buSzPts val="1400"/>
              <a:buFont typeface="Arial"/>
              <a:buNone/>
            </a:pPr>
            <a:r>
              <a:rPr lang="en-US" sz="1500">
                <a:solidFill>
                  <a:srgbClr val="81D1F4"/>
                </a:solidFill>
              </a:rPr>
              <a:t>The Brutal Truth</a:t>
            </a:r>
            <a:endParaRPr i="0" sz="1500" u="none" cap="none" strike="noStrike">
              <a:solidFill>
                <a:srgbClr val="81D1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1371600" y="934483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3000"/>
              <a:buFont typeface="Arial Black"/>
              <a:buNone/>
            </a:pPr>
            <a:r>
              <a:rPr b="1" i="0" lang="en-US" sz="3600" u="none" cap="none" strike="noStrike">
                <a:solidFill>
                  <a:srgbClr val="F0F0F0"/>
                </a:solidFill>
                <a:latin typeface="Arial Black"/>
                <a:ea typeface="Arial Black"/>
                <a:cs typeface="Arial Black"/>
                <a:sym typeface="Arial Black"/>
              </a:rPr>
              <a:t>Why Most Pilots Never Get a Single Client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457200" y="1814240"/>
            <a:ext cx="82296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0590"/>
              </a:buClr>
              <a:buSzPts val="12000"/>
              <a:buFont typeface="Arial Black"/>
              <a:buNone/>
            </a:pPr>
            <a:r>
              <a:rPr b="1" i="0" lang="en-US" sz="13000" u="none" cap="none" strike="noStrike">
                <a:solidFill>
                  <a:srgbClr val="2398FF"/>
                </a:solidFill>
                <a:latin typeface="Arial Black"/>
                <a:ea typeface="Arial Black"/>
                <a:cs typeface="Arial Black"/>
                <a:sym typeface="Arial Black"/>
              </a:rPr>
              <a:t>93.8%</a:t>
            </a:r>
            <a:endParaRPr b="0" i="0" sz="13000" u="none" cap="none" strike="noStrike">
              <a:solidFill>
                <a:srgbClr val="2398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457200" y="3255124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2200"/>
              <a:buFont typeface="Arial"/>
              <a:buNone/>
            </a:pPr>
            <a:r>
              <a:rPr b="0" i="0" lang="en-US" sz="15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of pilots </a:t>
            </a:r>
            <a:r>
              <a:rPr lang="en-US" sz="1500">
                <a:solidFill>
                  <a:srgbClr val="F0F0F0"/>
                </a:solidFill>
              </a:rPr>
              <a:t>who don’t have clients</a:t>
            </a:r>
            <a:r>
              <a:rPr b="0" i="0" lang="en-US" sz="15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 made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457200" y="35886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3200"/>
              <a:buFont typeface="Arial Black"/>
              <a:buNone/>
            </a:pPr>
            <a:r>
              <a:rPr b="1" lang="en-US" sz="3600">
                <a:solidFill>
                  <a:srgbClr val="81D1F4"/>
                </a:solidFill>
              </a:rPr>
              <a:t>zero</a:t>
            </a:r>
            <a:r>
              <a:rPr b="1" i="0" lang="en-US" sz="3600" u="none" cap="none" strike="noStrike">
                <a:solidFill>
                  <a:srgbClr val="F0F0F0"/>
                </a:solidFill>
              </a:rPr>
              <a:t> contact attempts</a:t>
            </a:r>
            <a:endParaRPr b="1" i="0" sz="3600" u="none" cap="none" strike="noStrike">
              <a:solidFill>
                <a:schemeClr val="dk1"/>
              </a:solidFill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1371600" y="4249615"/>
            <a:ext cx="6400800" cy="457200"/>
          </a:xfrm>
          <a:prstGeom prst="rect">
            <a:avLst/>
          </a:prstGeom>
          <a:solidFill>
            <a:srgbClr val="2123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0590"/>
              </a:buClr>
              <a:buSzPts val="1800"/>
              <a:buFont typeface="Arial"/>
              <a:buNone/>
            </a:pPr>
            <a:r>
              <a:rPr b="0" lang="en-US" sz="1500" u="none" cap="none" strike="noStrike">
                <a:solidFill>
                  <a:srgbClr val="81D1F4"/>
                </a:solidFill>
                <a:latin typeface="Arial"/>
                <a:ea typeface="Arial"/>
                <a:cs typeface="Arial"/>
                <a:sym typeface="Arial"/>
              </a:rPr>
              <a:t>"They didn't fail. They didn't even try."</a:t>
            </a:r>
            <a:endParaRPr b="0" sz="1500" u="none" cap="none" strike="noStrike">
              <a:solidFill>
                <a:srgbClr val="81D1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33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239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"/>
          <p:cNvSpPr/>
          <p:nvPr/>
        </p:nvSpPr>
        <p:spPr>
          <a:xfrm>
            <a:off x="3256650" y="518631"/>
            <a:ext cx="23427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98FF"/>
              </a:buClr>
              <a:buSzPts val="1600"/>
              <a:buFont typeface="Arial"/>
              <a:buNone/>
            </a:pPr>
            <a:r>
              <a:rPr lang="en-US" sz="1500">
                <a:solidFill>
                  <a:srgbClr val="81D1F4"/>
                </a:solidFill>
              </a:rPr>
              <a:t>But Here’s the Thing…</a:t>
            </a:r>
            <a:endParaRPr i="0" sz="1500" u="none" cap="none" strike="noStrike">
              <a:solidFill>
                <a:srgbClr val="81D1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916050" y="1208498"/>
            <a:ext cx="7311900" cy="9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3800"/>
              <a:buFont typeface="Arial Black"/>
              <a:buNone/>
            </a:pPr>
            <a:r>
              <a:rPr b="1" i="0" lang="en-US" sz="6000" u="none" cap="none" strike="noStrike">
                <a:solidFill>
                  <a:srgbClr val="F0F0F0"/>
                </a:solidFill>
                <a:latin typeface="Arial Black"/>
                <a:ea typeface="Arial Black"/>
                <a:cs typeface="Arial Black"/>
                <a:sym typeface="Arial Black"/>
              </a:rPr>
              <a:t>The pilots who </a:t>
            </a:r>
            <a:r>
              <a:rPr b="1" lang="en-US" sz="6000">
                <a:solidFill>
                  <a:srgbClr val="81D1F4"/>
                </a:solidFill>
                <a:latin typeface="Arial Black"/>
                <a:ea typeface="Arial Black"/>
                <a:cs typeface="Arial Black"/>
                <a:sym typeface="Arial Black"/>
              </a:rPr>
              <a:t>are</a:t>
            </a:r>
            <a:r>
              <a:rPr b="1" i="0" lang="en-US" sz="6000" u="none" cap="none" strike="noStrike">
                <a:solidFill>
                  <a:srgbClr val="F0F0F0"/>
                </a:solidFill>
                <a:latin typeface="Arial Black"/>
                <a:ea typeface="Arial Black"/>
                <a:cs typeface="Arial Black"/>
                <a:sym typeface="Arial Black"/>
              </a:rPr>
              <a:t> winning?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457200" y="2471753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2400"/>
              <a:buFont typeface="Arial"/>
              <a:buNone/>
            </a:pPr>
            <a:r>
              <a:rPr b="0" i="0" lang="en-US" sz="15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They're not smarter than you.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2400"/>
              <a:buFont typeface="Arial"/>
              <a:buNone/>
            </a:pPr>
            <a:r>
              <a:rPr b="0" i="0" lang="en-US" sz="15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They're not more talented.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2400"/>
              <a:buFont typeface="Arial"/>
              <a:buNone/>
            </a:pPr>
            <a:r>
              <a:rPr b="0" i="0" lang="en-US" sz="15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They don't have better equipment.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1570800" y="3551189"/>
            <a:ext cx="6002400" cy="582300"/>
          </a:xfrm>
          <a:prstGeom prst="rect">
            <a:avLst/>
          </a:prstGeom>
          <a:solidFill>
            <a:srgbClr val="2123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98FF"/>
              </a:buClr>
              <a:buSzPts val="2200"/>
              <a:buFont typeface="Arial Black"/>
              <a:buNone/>
            </a:pPr>
            <a:r>
              <a:rPr i="0" lang="en-US" sz="2200" u="none" cap="none" strike="noStrike">
                <a:solidFill>
                  <a:srgbClr val="81D1F4"/>
                </a:solidFill>
              </a:rPr>
              <a:t>They just did </a:t>
            </a:r>
            <a:r>
              <a:rPr lang="en-US" sz="2200">
                <a:solidFill>
                  <a:schemeClr val="lt1"/>
                </a:solidFill>
              </a:rPr>
              <a:t>a few</a:t>
            </a:r>
            <a:r>
              <a:rPr i="0" lang="en-US" sz="2200" u="none" cap="none" strike="noStrike">
                <a:solidFill>
                  <a:srgbClr val="81D1F4"/>
                </a:solidFill>
              </a:rPr>
              <a:t> things differently.</a:t>
            </a:r>
            <a:endParaRPr i="0" sz="2200" u="none" cap="none" strike="noStrike">
              <a:solidFill>
                <a:srgbClr val="81D1F4"/>
              </a:solidFill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457200" y="4263336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0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Let me show you exactly what </a:t>
            </a:r>
            <a:r>
              <a:rPr lang="en-US" sz="1800">
                <a:solidFill>
                  <a:schemeClr val="lt1"/>
                </a:solidFill>
              </a:rPr>
              <a:t>that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is...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33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"/>
          <p:cNvSpPr/>
          <p:nvPr/>
        </p:nvSpPr>
        <p:spPr>
          <a:xfrm>
            <a:off x="578762" y="647338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3400"/>
              <a:buFont typeface="Arial Black"/>
              <a:buNone/>
            </a:pPr>
            <a:r>
              <a:rPr b="1" i="0" lang="en-US" sz="3600" u="none" cap="none" strike="noStrike">
                <a:solidFill>
                  <a:srgbClr val="F0F0F0"/>
                </a:solidFill>
                <a:latin typeface="Arial Black"/>
                <a:ea typeface="Arial Black"/>
                <a:cs typeface="Arial Black"/>
                <a:sym typeface="Arial Black"/>
              </a:rPr>
              <a:t>This Isn't Theory. It's </a:t>
            </a:r>
            <a:r>
              <a:rPr b="1" i="0" lang="en-US" sz="3600" u="none" cap="none" strike="noStrike">
                <a:solidFill>
                  <a:srgbClr val="81D1F4"/>
                </a:solidFill>
                <a:latin typeface="Arial Black"/>
                <a:ea typeface="Arial Black"/>
                <a:cs typeface="Arial Black"/>
                <a:sym typeface="Arial Black"/>
              </a:rPr>
              <a:t>Data.</a:t>
            </a:r>
            <a:endParaRPr b="0" i="0" sz="3600" u="none" cap="none" strike="noStrike">
              <a:solidFill>
                <a:srgbClr val="81D1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379607" y="1162876"/>
            <a:ext cx="3200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98FF"/>
              </a:buClr>
              <a:buSzPts val="12000"/>
              <a:buFont typeface="Arial Black"/>
              <a:buNone/>
            </a:pPr>
            <a:r>
              <a:rPr b="1" i="0" lang="en-US" sz="11700" u="none" cap="none" strike="noStrike">
                <a:solidFill>
                  <a:srgbClr val="2398FF"/>
                </a:solidFill>
                <a:latin typeface="Arial Black"/>
                <a:ea typeface="Arial Black"/>
                <a:cs typeface="Arial Black"/>
                <a:sym typeface="Arial Black"/>
              </a:rPr>
              <a:t>563</a:t>
            </a:r>
            <a:endParaRPr b="0" i="0" sz="1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379607" y="2808796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drone pilots surveyed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" name="Google Shape;84;p7"/>
          <p:cNvGrpSpPr/>
          <p:nvPr/>
        </p:nvGrpSpPr>
        <p:grpSpPr>
          <a:xfrm>
            <a:off x="3819308" y="1535547"/>
            <a:ext cx="4799146" cy="548705"/>
            <a:chOff x="3819308" y="1535547"/>
            <a:chExt cx="4799146" cy="548705"/>
          </a:xfrm>
        </p:grpSpPr>
        <p:sp>
          <p:nvSpPr>
            <p:cNvPr id="85" name="Google Shape;85;p7"/>
            <p:cNvSpPr/>
            <p:nvPr/>
          </p:nvSpPr>
          <p:spPr>
            <a:xfrm>
              <a:off x="3819308" y="1535552"/>
              <a:ext cx="927300" cy="548700"/>
            </a:xfrm>
            <a:prstGeom prst="rect">
              <a:avLst/>
            </a:prstGeom>
            <a:solidFill>
              <a:srgbClr val="2398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33"/>
                </a:buClr>
                <a:buSzPts val="2400"/>
                <a:buFont typeface="Arial Black"/>
                <a:buNone/>
              </a:pPr>
              <a:r>
                <a:rPr b="1" i="0" lang="en-US" sz="2400" u="none" cap="none" strike="noStrik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72%</a:t>
              </a:r>
              <a:endPara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7"/>
            <p:cNvSpPr/>
            <p:nvPr/>
          </p:nvSpPr>
          <p:spPr>
            <a:xfrm>
              <a:off x="4960854" y="1535547"/>
              <a:ext cx="36576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0F0F0"/>
                </a:buClr>
                <a:buSzPts val="1800"/>
                <a:buFont typeface="Arial"/>
                <a:buNone/>
              </a:pPr>
              <a:r>
                <a:rPr i="0" lang="en-US" sz="1500" u="none" cap="none" strike="noStrike">
                  <a:solidFill>
                    <a:schemeClr val="lt1"/>
                  </a:solidFill>
                </a:rPr>
                <a:t>have landed at least one paying client</a:t>
              </a:r>
              <a:endParaRPr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7"/>
          <p:cNvSpPr/>
          <p:nvPr/>
        </p:nvSpPr>
        <p:spPr>
          <a:xfrm>
            <a:off x="3819308" y="2985300"/>
            <a:ext cx="927300" cy="548700"/>
          </a:xfrm>
          <a:prstGeom prst="rect">
            <a:avLst/>
          </a:prstGeom>
          <a:solidFill>
            <a:srgbClr val="239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2400"/>
              <a:buFont typeface="Arial Black"/>
              <a:buNone/>
            </a:pPr>
            <a:r>
              <a:rPr b="1" lang="en-US" sz="24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8</a:t>
            </a:r>
            <a:r>
              <a:rPr b="1" i="0" lang="en-US" sz="2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5%</a:t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4960854" y="2985295"/>
            <a:ext cx="3657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800"/>
              <a:buFont typeface="Arial"/>
              <a:buNone/>
            </a:pPr>
            <a:r>
              <a:rPr lang="en-US" sz="1500">
                <a:solidFill>
                  <a:schemeClr val="lt1"/>
                </a:solidFill>
              </a:rPr>
              <a:t>use consumer drones</a:t>
            </a:r>
            <a:endParaRPr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3819307" y="3707956"/>
            <a:ext cx="42423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Arial"/>
              <a:buNone/>
            </a:pPr>
            <a:r>
              <a:rPr b="0" i="0" lang="en-US" sz="1500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We asked them everything: how they found clients, what worked, what didn't, their biggest mistakes, and their best advice.</a:t>
            </a:r>
            <a:endParaRPr b="0" i="0" sz="1500" u="none" cap="none" strike="noStrike">
              <a:solidFill>
                <a:srgbClr val="B7B7B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3819308" y="2260726"/>
            <a:ext cx="927300" cy="548700"/>
          </a:xfrm>
          <a:prstGeom prst="rect">
            <a:avLst/>
          </a:prstGeom>
          <a:solidFill>
            <a:srgbClr val="F8059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2400"/>
              <a:buFont typeface="Arial Black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6%</a:t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4960852" y="2306476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800"/>
              <a:buFont typeface="Arial"/>
              <a:buNone/>
            </a:pPr>
            <a:r>
              <a:rPr i="0" lang="en-US" sz="1500" u="none" cap="none" strike="noStrike">
                <a:solidFill>
                  <a:schemeClr val="lt1"/>
                </a:solidFill>
              </a:rPr>
              <a:t>got their first client in 7 days or less</a:t>
            </a:r>
            <a:endParaRPr i="0" sz="1500" u="none" cap="none" strike="noStrike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800"/>
              <a:buFont typeface="Arial"/>
              <a:buNone/>
            </a:pPr>
            <a:r>
              <a:rPr lang="en-US" sz="1500">
                <a:solidFill>
                  <a:srgbClr val="F80590"/>
                </a:solidFill>
              </a:rPr>
              <a:t>Our goal: Get you in this group</a:t>
            </a:r>
            <a:endParaRPr sz="1500">
              <a:solidFill>
                <a:srgbClr val="F0F0F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33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"/>
          <p:cNvSpPr/>
          <p:nvPr/>
        </p:nvSpPr>
        <p:spPr>
          <a:xfrm>
            <a:off x="1883107" y="277498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0590"/>
              </a:buClr>
              <a:buSzPts val="1300"/>
              <a:buFont typeface="Arial"/>
              <a:buNone/>
            </a:pPr>
            <a:r>
              <a:rPr b="0" i="0" lang="en-US" sz="1500" u="none" cap="none" strike="noStrike">
                <a:solidFill>
                  <a:srgbClr val="81D1F4"/>
                </a:solidFill>
                <a:latin typeface="Arial"/>
                <a:ea typeface="Arial"/>
                <a:cs typeface="Arial"/>
                <a:sym typeface="Arial"/>
              </a:rPr>
              <a:t>False Belief: "I need to cold call 100 people"</a:t>
            </a:r>
            <a:endParaRPr b="0" i="0" sz="1500" u="none" cap="none" strike="noStrike">
              <a:solidFill>
                <a:srgbClr val="81D1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8"/>
          <p:cNvSpPr/>
          <p:nvPr/>
        </p:nvSpPr>
        <p:spPr>
          <a:xfrm>
            <a:off x="1883107" y="588219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3800"/>
              <a:buFont typeface="Arial Black"/>
              <a:buNone/>
            </a:pPr>
            <a:r>
              <a:rPr b="1" i="0" lang="en-US" sz="3600" u="none" cap="none" strike="noStrike">
                <a:solidFill>
                  <a:srgbClr val="F0F0F0"/>
                </a:solidFill>
                <a:latin typeface="Arial Black"/>
                <a:ea typeface="Arial Black"/>
                <a:cs typeface="Arial Black"/>
                <a:sym typeface="Arial Black"/>
              </a:rPr>
              <a:t>The Network Myth</a:t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8"/>
          <p:cNvSpPr/>
          <p:nvPr/>
        </p:nvSpPr>
        <p:spPr>
          <a:xfrm>
            <a:off x="1883111" y="1369006"/>
            <a:ext cx="2718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CFE5"/>
              </a:buClr>
              <a:buSzPts val="3600"/>
              <a:buFont typeface="Arial Black"/>
              <a:buNone/>
            </a:pPr>
            <a:r>
              <a:rPr b="1" i="0" lang="en-US" sz="4800" u="none" cap="none" strike="noStrike">
                <a:solidFill>
                  <a:srgbClr val="2398FF"/>
                </a:solidFill>
                <a:latin typeface="Arial Black"/>
                <a:ea typeface="Arial Black"/>
                <a:cs typeface="Arial Black"/>
                <a:sym typeface="Arial Black"/>
              </a:rPr>
              <a:t>43.9%</a:t>
            </a:r>
            <a:endParaRPr b="0" i="0" sz="4800" u="none" cap="none" strike="noStrike">
              <a:solidFill>
                <a:srgbClr val="2398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8"/>
          <p:cNvSpPr/>
          <p:nvPr/>
        </p:nvSpPr>
        <p:spPr>
          <a:xfrm>
            <a:off x="1883107" y="1891426"/>
            <a:ext cx="2758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got their first client from people they already knew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8"/>
          <p:cNvSpPr/>
          <p:nvPr/>
        </p:nvSpPr>
        <p:spPr>
          <a:xfrm>
            <a:off x="1883111" y="2573616"/>
            <a:ext cx="2718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CFE5"/>
              </a:buClr>
              <a:buSzPts val="3600"/>
              <a:buFont typeface="Arial Black"/>
              <a:buNone/>
            </a:pPr>
            <a:r>
              <a:rPr b="1" i="0" lang="en-US" sz="4800" u="none" cap="none" strike="noStrike">
                <a:solidFill>
                  <a:srgbClr val="2398FF"/>
                </a:solidFill>
                <a:latin typeface="Arial Black"/>
                <a:ea typeface="Arial Black"/>
                <a:cs typeface="Arial Black"/>
                <a:sym typeface="Arial Black"/>
              </a:rPr>
              <a:t>50%</a:t>
            </a:r>
            <a:endParaRPr b="0" i="0" sz="4800" u="none" cap="none" strike="noStrike">
              <a:solidFill>
                <a:srgbClr val="2398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8"/>
          <p:cNvSpPr/>
          <p:nvPr/>
        </p:nvSpPr>
        <p:spPr>
          <a:xfrm>
            <a:off x="1883107" y="3096035"/>
            <a:ext cx="2758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got clients through INBOUND — zero outreach required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8"/>
          <p:cNvSpPr/>
          <p:nvPr/>
        </p:nvSpPr>
        <p:spPr>
          <a:xfrm>
            <a:off x="1883111" y="3778226"/>
            <a:ext cx="2718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CFE5"/>
              </a:buClr>
              <a:buSzPts val="3600"/>
              <a:buFont typeface="Arial Black"/>
              <a:buNone/>
            </a:pPr>
            <a:r>
              <a:rPr b="1" i="0" lang="en-US" sz="4800" u="none" cap="none" strike="noStrike">
                <a:solidFill>
                  <a:srgbClr val="2398FF"/>
                </a:solidFill>
                <a:latin typeface="Arial Black"/>
                <a:ea typeface="Arial Black"/>
                <a:cs typeface="Arial Black"/>
                <a:sym typeface="Arial Black"/>
              </a:rPr>
              <a:t>65%</a:t>
            </a:r>
            <a:endParaRPr b="0" i="0" sz="4800" u="none" cap="none" strike="noStrike">
              <a:solidFill>
                <a:srgbClr val="2398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8"/>
          <p:cNvSpPr/>
          <p:nvPr/>
        </p:nvSpPr>
        <p:spPr>
          <a:xfrm>
            <a:off x="1883107" y="4300644"/>
            <a:ext cx="2758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needed only 0–3 contacts before getting a YES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4972690" y="1328850"/>
            <a:ext cx="2838000" cy="3383400"/>
          </a:xfrm>
          <a:prstGeom prst="rect">
            <a:avLst/>
          </a:prstGeom>
          <a:solidFill>
            <a:srgbClr val="212353"/>
          </a:solidFill>
          <a:ln>
            <a:noFill/>
          </a:ln>
        </p:spPr>
        <p:txBody>
          <a:bodyPr anchorCtr="0" anchor="t" bIns="182875" lIns="182875" spcFirstLastPara="1" rIns="365750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CFE5"/>
              </a:buClr>
              <a:buSzPts val="1400"/>
              <a:buFont typeface="Arial"/>
              <a:buNone/>
            </a:pPr>
            <a:r>
              <a:rPr lang="en-US" sz="2400">
                <a:solidFill>
                  <a:srgbClr val="2398FF"/>
                </a:solidFill>
              </a:rPr>
              <a:t>The Truth</a:t>
            </a:r>
            <a:endParaRPr sz="2400">
              <a:solidFill>
                <a:srgbClr val="0ECFE5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CFE5"/>
              </a:buClr>
              <a:buSzPts val="1400"/>
              <a:buFont typeface="Arial"/>
              <a:buNone/>
            </a:pPr>
            <a:r>
              <a:rPr i="0" lang="en-US" sz="1500" u="none" cap="none" strike="noStrike">
                <a:solidFill>
                  <a:srgbClr val="F0F0F0"/>
                </a:solidFill>
              </a:rPr>
              <a:t>You don't need strangers.</a:t>
            </a:r>
            <a:endParaRPr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0F0F0"/>
              </a:buClr>
              <a:buSzPts val="2000"/>
              <a:buFont typeface="Arial"/>
              <a:buNone/>
            </a:pPr>
            <a:r>
              <a:rPr i="0" lang="en-US" sz="1500" u="none" cap="none" strike="noStrike">
                <a:solidFill>
                  <a:srgbClr val="F0F0F0"/>
                </a:solidFill>
              </a:rPr>
              <a:t>You need to </a:t>
            </a:r>
            <a:r>
              <a:rPr i="0" lang="en-US" sz="1500" u="none" cap="none" strike="noStrike">
                <a:solidFill>
                  <a:srgbClr val="2398FF"/>
                </a:solidFill>
              </a:rPr>
              <a:t>tell people you know</a:t>
            </a:r>
            <a:r>
              <a:rPr i="0" lang="en-US" sz="1500" u="none" cap="none" strike="noStrike">
                <a:solidFill>
                  <a:srgbClr val="F0F0F0"/>
                </a:solidFill>
              </a:rPr>
              <a:t> that you fly drones for money.</a:t>
            </a:r>
            <a:endParaRPr i="0" sz="1500" u="none" cap="none" strike="noStrike">
              <a:solidFill>
                <a:srgbClr val="F0F0F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ECFE5"/>
              </a:buClr>
              <a:buSzPts val="2000"/>
              <a:buFont typeface="Arial"/>
              <a:buNone/>
            </a:pPr>
            <a:r>
              <a:rPr i="0" lang="en-US" sz="1500" u="none" cap="none" strike="noStrike">
                <a:solidFill>
                  <a:schemeClr val="lt1"/>
                </a:solidFill>
              </a:rPr>
              <a:t>That's it. That's the secret.</a:t>
            </a:r>
            <a:endParaRPr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8"/>
          <p:cNvSpPr/>
          <p:nvPr/>
        </p:nvSpPr>
        <p:spPr>
          <a:xfrm>
            <a:off x="565075" y="387575"/>
            <a:ext cx="1091100" cy="365700"/>
          </a:xfrm>
          <a:prstGeom prst="rect">
            <a:avLst/>
          </a:prstGeom>
          <a:solidFill>
            <a:srgbClr val="239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200"/>
              <a:buFont typeface="Arial Black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SECRET #1</a:t>
            </a:r>
            <a:endParaRPr b="1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33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oogle Shape;112;p9"/>
          <p:cNvGrpSpPr/>
          <p:nvPr/>
        </p:nvGrpSpPr>
        <p:grpSpPr>
          <a:xfrm>
            <a:off x="677625" y="1393950"/>
            <a:ext cx="3891300" cy="1643100"/>
            <a:chOff x="677625" y="1393950"/>
            <a:chExt cx="3891300" cy="1643100"/>
          </a:xfrm>
        </p:grpSpPr>
        <p:sp>
          <p:nvSpPr>
            <p:cNvPr id="113" name="Google Shape;113;p9"/>
            <p:cNvSpPr/>
            <p:nvPr/>
          </p:nvSpPr>
          <p:spPr>
            <a:xfrm>
              <a:off x="677625" y="1393950"/>
              <a:ext cx="3891300" cy="1643100"/>
            </a:xfrm>
            <a:prstGeom prst="rect">
              <a:avLst/>
            </a:prstGeom>
            <a:solidFill>
              <a:srgbClr val="21235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0F0F0"/>
                </a:buClr>
                <a:buSzPts val="1800"/>
                <a:buFont typeface="Arial"/>
                <a:buNone/>
              </a:pPr>
              <a:r>
                <a:t/>
              </a:r>
              <a:endPara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9"/>
            <p:cNvSpPr/>
            <p:nvPr/>
          </p:nvSpPr>
          <p:spPr>
            <a:xfrm>
              <a:off x="695029" y="1505694"/>
              <a:ext cx="3856500" cy="13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E80590"/>
                </a:buClr>
                <a:buSzPts val="1300"/>
                <a:buFont typeface="Arial"/>
                <a:buNone/>
              </a:pPr>
              <a:r>
                <a:rPr b="1" i="0" lang="en-US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What pilots </a:t>
              </a:r>
              <a:r>
                <a:rPr b="1" lang="en-US" sz="1500">
                  <a:solidFill>
                    <a:srgbClr val="81D1F4"/>
                  </a:solidFill>
                </a:rPr>
                <a:t>think</a:t>
              </a:r>
              <a:r>
                <a:rPr b="1" lang="en-US" sz="1500">
                  <a:solidFill>
                    <a:schemeClr val="lt1"/>
                  </a:solidFill>
                </a:rPr>
                <a:t> </a:t>
              </a:r>
              <a:r>
                <a:rPr b="1" i="0" lang="en-US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holds them back</a:t>
              </a:r>
              <a:br>
                <a:rPr b="1" i="0" lang="en-US" sz="1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i="0" lang="en-US" sz="4800" u="none" cap="none" strike="noStrike">
                  <a:solidFill>
                    <a:srgbClr val="81D1F4"/>
                  </a:solidFill>
                  <a:latin typeface="Arial"/>
                  <a:ea typeface="Arial"/>
                  <a:cs typeface="Arial"/>
                  <a:sym typeface="Arial"/>
                </a:rPr>
                <a:t>5.5%</a:t>
              </a:r>
              <a:endParaRPr b="0" i="0" sz="1300" u="none" cap="none" strike="noStrike">
                <a:solidFill>
                  <a:srgbClr val="81D1F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E80590"/>
                </a:buClr>
                <a:buSzPts val="1600"/>
                <a:buFont typeface="Arial"/>
                <a:buNone/>
              </a:pPr>
              <a:r>
                <a:rPr b="0" i="0" lang="en-US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said "waiting for the perfect portfolio"</a:t>
              </a:r>
              <a:endPara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5" name="Google Shape;115;p9"/>
          <p:cNvSpPr/>
          <p:nvPr/>
        </p:nvSpPr>
        <p:spPr>
          <a:xfrm>
            <a:off x="695029" y="3286692"/>
            <a:ext cx="3856500" cy="13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CFE5"/>
              </a:buClr>
              <a:buSzPts val="1300"/>
              <a:buFont typeface="Arial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What </a:t>
            </a:r>
            <a:r>
              <a:rPr b="1" lang="en-US" sz="1500">
                <a:solidFill>
                  <a:srgbClr val="81D1F4"/>
                </a:solidFill>
              </a:rPr>
              <a:t>actually</a:t>
            </a:r>
            <a:r>
              <a:rPr b="1" i="0" lang="en-U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holds them back</a:t>
            </a:r>
            <a:br>
              <a:rPr b="1" i="0" lang="en-US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4800" u="none" cap="none" strike="noStrike">
                <a:solidFill>
                  <a:srgbClr val="2398FF"/>
                </a:solidFill>
                <a:latin typeface="Arial"/>
                <a:ea typeface="Arial"/>
                <a:cs typeface="Arial"/>
                <a:sym typeface="Arial"/>
              </a:rPr>
              <a:t>23.4%</a:t>
            </a:r>
            <a:endParaRPr b="0" i="0" sz="1300" u="none" cap="none" strike="noStrike">
              <a:solidFill>
                <a:srgbClr val="2398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CFE5"/>
              </a:buClr>
              <a:buSzPts val="1600"/>
              <a:buFont typeface="Arial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imposter syndrome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6" name="Google Shape;116;p9"/>
          <p:cNvGrpSpPr/>
          <p:nvPr/>
        </p:nvGrpSpPr>
        <p:grpSpPr>
          <a:xfrm>
            <a:off x="4913249" y="1507868"/>
            <a:ext cx="3449700" cy="1946639"/>
            <a:chOff x="4913249" y="1507868"/>
            <a:chExt cx="3449700" cy="1946639"/>
          </a:xfrm>
        </p:grpSpPr>
        <p:sp>
          <p:nvSpPr>
            <p:cNvPr id="117" name="Google Shape;117;p9"/>
            <p:cNvSpPr/>
            <p:nvPr/>
          </p:nvSpPr>
          <p:spPr>
            <a:xfrm>
              <a:off x="5686649" y="1507868"/>
              <a:ext cx="19029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2398FF"/>
                </a:buClr>
                <a:buSzPts val="6000"/>
                <a:buFont typeface="Arial Black"/>
                <a:buNone/>
              </a:pPr>
              <a:r>
                <a:rPr b="1" i="0" lang="en-US" sz="10000" u="none" cap="none" strike="noStrike">
                  <a:solidFill>
                    <a:srgbClr val="F80590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4×</a:t>
              </a:r>
              <a:endParaRPr b="0" i="0" sz="10000" u="none" cap="none" strike="noStrike">
                <a:solidFill>
                  <a:srgbClr val="F8059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9"/>
            <p:cNvSpPr/>
            <p:nvPr/>
          </p:nvSpPr>
          <p:spPr>
            <a:xfrm>
              <a:off x="4913249" y="2429107"/>
              <a:ext cx="3449700" cy="102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1800"/>
                <a:buFont typeface="Arial"/>
                <a:buNone/>
              </a:pPr>
              <a:r>
                <a:rPr b="0" i="0" lang="en-US" sz="1500" u="none" cap="none" strike="noStrike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more people struggled with </a:t>
              </a:r>
              <a:r>
                <a:rPr b="1" i="0" lang="en-US" sz="1500" u="none" cap="none" strike="noStrike">
                  <a:solidFill>
                    <a:srgbClr val="F0F0F0"/>
                  </a:solidFill>
                  <a:latin typeface="Arial"/>
                  <a:ea typeface="Arial"/>
                  <a:cs typeface="Arial"/>
                  <a:sym typeface="Arial"/>
                </a:rPr>
                <a:t>confidence</a:t>
              </a:r>
              <a:endPara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1800"/>
                <a:buFont typeface="Arial"/>
                <a:buNone/>
              </a:pPr>
              <a:r>
                <a:rPr b="0" i="0" lang="en-US" sz="1500" u="none" cap="none" strike="noStrike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than actually had portfolio problems</a:t>
              </a:r>
              <a:endPara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9" name="Google Shape;119;p9"/>
          <p:cNvSpPr/>
          <p:nvPr/>
        </p:nvSpPr>
        <p:spPr>
          <a:xfrm>
            <a:off x="4714421" y="3616390"/>
            <a:ext cx="3972300" cy="914400"/>
          </a:xfrm>
          <a:prstGeom prst="rect">
            <a:avLst/>
          </a:prstGeom>
          <a:solidFill>
            <a:srgbClr val="2123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98FF"/>
              </a:buClr>
              <a:buSzPts val="1800"/>
              <a:buFont typeface="Arial"/>
              <a:buNone/>
            </a:pPr>
            <a:r>
              <a:rPr b="1" i="0" lang="en-US" sz="1500" u="none" cap="none" strike="noStrike">
                <a:solidFill>
                  <a:srgbClr val="81D1F4"/>
                </a:solidFill>
                <a:latin typeface="Arial"/>
                <a:ea typeface="Arial"/>
                <a:cs typeface="Arial"/>
                <a:sym typeface="Arial"/>
              </a:rPr>
              <a:t>The issue isn't your skills.</a:t>
            </a:r>
            <a:endParaRPr b="0" i="0" sz="1500" u="none" cap="none" strike="noStrike">
              <a:solidFill>
                <a:srgbClr val="81D1F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800"/>
              <a:buFont typeface="Arial"/>
              <a:buNone/>
            </a:pPr>
            <a:r>
              <a:rPr b="0" i="0" lang="en-US" sz="15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It's in your head.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9"/>
          <p:cNvSpPr/>
          <p:nvPr/>
        </p:nvSpPr>
        <p:spPr>
          <a:xfrm>
            <a:off x="1883107" y="277498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80590"/>
              </a:buClr>
              <a:buSzPts val="1300"/>
              <a:buFont typeface="Arial"/>
              <a:buNone/>
            </a:pPr>
            <a:r>
              <a:rPr lang="en-US" sz="1500">
                <a:solidFill>
                  <a:srgbClr val="81D1F4"/>
                </a:solidFill>
              </a:rPr>
              <a:t>False Belief: "I'm not good enough yet to charge money"</a:t>
            </a:r>
            <a:endParaRPr sz="1500">
              <a:solidFill>
                <a:srgbClr val="81D1F4"/>
              </a:solidFill>
            </a:endParaRPr>
          </a:p>
        </p:txBody>
      </p:sp>
      <p:sp>
        <p:nvSpPr>
          <p:cNvPr id="121" name="Google Shape;121;p9"/>
          <p:cNvSpPr/>
          <p:nvPr/>
        </p:nvSpPr>
        <p:spPr>
          <a:xfrm>
            <a:off x="1883107" y="588219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3800"/>
              <a:buFont typeface="Arial Black"/>
              <a:buNone/>
            </a:pPr>
            <a:r>
              <a:rPr b="1" lang="en-US" sz="3600">
                <a:solidFill>
                  <a:srgbClr val="F0F0F0"/>
                </a:solidFill>
                <a:latin typeface="Arial Black"/>
                <a:ea typeface="Arial Black"/>
                <a:cs typeface="Arial Black"/>
                <a:sym typeface="Arial Black"/>
              </a:rPr>
              <a:t>The Confidence Code</a:t>
            </a:r>
            <a:endParaRPr b="1" sz="3600">
              <a:solidFill>
                <a:srgbClr val="F0F0F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22" name="Google Shape;122;p9"/>
          <p:cNvSpPr/>
          <p:nvPr/>
        </p:nvSpPr>
        <p:spPr>
          <a:xfrm>
            <a:off x="565075" y="387575"/>
            <a:ext cx="1091100" cy="365700"/>
          </a:xfrm>
          <a:prstGeom prst="rect">
            <a:avLst/>
          </a:prstGeom>
          <a:solidFill>
            <a:srgbClr val="239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200"/>
              <a:buFont typeface="Arial Black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SECRET #</a:t>
            </a:r>
            <a:r>
              <a:rPr b="1" lang="en-US" sz="1200">
                <a:solidFill>
                  <a:srgbClr val="FFFFFF"/>
                </a:solidFill>
              </a:rPr>
              <a:t>2</a:t>
            </a:r>
            <a:endParaRPr b="1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33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/>
          <p:nvPr/>
        </p:nvSpPr>
        <p:spPr>
          <a:xfrm>
            <a:off x="571501" y="391525"/>
            <a:ext cx="68886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3000"/>
              <a:buFont typeface="Arial Black"/>
              <a:buNone/>
            </a:pPr>
            <a:r>
              <a:rPr b="1" i="0" lang="en-US" sz="3600" u="none" cap="none" strike="noStrike">
                <a:solidFill>
                  <a:srgbClr val="F0F0F0"/>
                </a:solidFill>
                <a:latin typeface="Arial Black"/>
                <a:ea typeface="Arial Black"/>
                <a:cs typeface="Arial Black"/>
                <a:sym typeface="Arial Black"/>
              </a:rPr>
              <a:t>What's REALLY Holding Pilots Back?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571501" y="1407958"/>
            <a:ext cx="7744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Arial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Self-reported biggest obstacles (329 responses):</a:t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8"/>
          <p:cNvSpPr/>
          <p:nvPr/>
        </p:nvSpPr>
        <p:spPr>
          <a:xfrm>
            <a:off x="552182" y="1884733"/>
            <a:ext cx="15273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100"/>
              <a:buFont typeface="Arial"/>
              <a:buNone/>
            </a:pPr>
            <a:r>
              <a:rPr i="0" lang="en-US" sz="1100" u="none" cap="none" strike="noStrike">
                <a:solidFill>
                  <a:srgbClr val="81D1F4"/>
                </a:solidFill>
              </a:rPr>
              <a:t>Imposter Syndrome</a:t>
            </a:r>
            <a:endParaRPr i="0" sz="1100" u="none" cap="none" strike="noStrike">
              <a:solidFill>
                <a:srgbClr val="81D1F4"/>
              </a:solidFill>
            </a:endParaRPr>
          </a:p>
        </p:txBody>
      </p:sp>
      <p:grpSp>
        <p:nvGrpSpPr>
          <p:cNvPr id="131" name="Google Shape;131;p18"/>
          <p:cNvGrpSpPr/>
          <p:nvPr/>
        </p:nvGrpSpPr>
        <p:grpSpPr>
          <a:xfrm>
            <a:off x="2257250" y="1905158"/>
            <a:ext cx="3658500" cy="238200"/>
            <a:chOff x="2257250" y="1905158"/>
            <a:chExt cx="3658500" cy="238200"/>
          </a:xfrm>
        </p:grpSpPr>
        <p:sp>
          <p:nvSpPr>
            <p:cNvPr id="132" name="Google Shape;132;p18"/>
            <p:cNvSpPr/>
            <p:nvPr/>
          </p:nvSpPr>
          <p:spPr>
            <a:xfrm>
              <a:off x="2257250" y="1905158"/>
              <a:ext cx="3658500" cy="238200"/>
            </a:xfrm>
            <a:prstGeom prst="rect">
              <a:avLst/>
            </a:prstGeom>
            <a:solidFill>
              <a:srgbClr val="2398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8"/>
            <p:cNvSpPr/>
            <p:nvPr/>
          </p:nvSpPr>
          <p:spPr>
            <a:xfrm>
              <a:off x="5266397" y="1915846"/>
              <a:ext cx="604200" cy="22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E80590"/>
                </a:buClr>
                <a:buSzPts val="1100"/>
                <a:buFont typeface="Arial Black"/>
                <a:buNone/>
              </a:pPr>
              <a:r>
                <a:rPr i="0" lang="en-US" sz="1300" u="none" cap="none" strike="noStrike">
                  <a:solidFill>
                    <a:schemeClr val="lt1"/>
                  </a:solidFill>
                </a:rPr>
                <a:t>23.4%</a:t>
              </a:r>
              <a:endParaRPr i="0" sz="1300" u="none" cap="none" strike="noStrike">
                <a:solidFill>
                  <a:schemeClr val="lt1"/>
                </a:solidFill>
              </a:endParaRPr>
            </a:p>
          </p:txBody>
        </p:sp>
      </p:grpSp>
      <p:sp>
        <p:nvSpPr>
          <p:cNvPr id="134" name="Google Shape;134;p18"/>
          <p:cNvSpPr/>
          <p:nvPr/>
        </p:nvSpPr>
        <p:spPr>
          <a:xfrm>
            <a:off x="552182" y="2203488"/>
            <a:ext cx="15273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100"/>
              <a:buFont typeface="Arial"/>
              <a:buNone/>
            </a:pPr>
            <a:r>
              <a:rPr i="0" lang="en-US" sz="1100" u="none" cap="none" strike="noStrike">
                <a:solidFill>
                  <a:srgbClr val="81D1F4"/>
                </a:solidFill>
              </a:rPr>
              <a:t>Strategy Paralysis</a:t>
            </a:r>
            <a:endParaRPr i="0" sz="1100" u="none" cap="none" strike="noStrike">
              <a:solidFill>
                <a:srgbClr val="81D1F4"/>
              </a:solidFill>
            </a:endParaRPr>
          </a:p>
        </p:txBody>
      </p:sp>
      <p:grpSp>
        <p:nvGrpSpPr>
          <p:cNvPr id="135" name="Google Shape;135;p18"/>
          <p:cNvGrpSpPr/>
          <p:nvPr/>
        </p:nvGrpSpPr>
        <p:grpSpPr>
          <a:xfrm>
            <a:off x="2257250" y="2223199"/>
            <a:ext cx="2797800" cy="238200"/>
            <a:chOff x="2257250" y="2223199"/>
            <a:chExt cx="2797800" cy="238200"/>
          </a:xfrm>
        </p:grpSpPr>
        <p:sp>
          <p:nvSpPr>
            <p:cNvPr id="136" name="Google Shape;136;p18"/>
            <p:cNvSpPr/>
            <p:nvPr/>
          </p:nvSpPr>
          <p:spPr>
            <a:xfrm>
              <a:off x="2257250" y="2223199"/>
              <a:ext cx="2797800" cy="238200"/>
            </a:xfrm>
            <a:prstGeom prst="rect">
              <a:avLst/>
            </a:prstGeom>
            <a:solidFill>
              <a:srgbClr val="2398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8"/>
            <p:cNvSpPr/>
            <p:nvPr/>
          </p:nvSpPr>
          <p:spPr>
            <a:xfrm>
              <a:off x="4393113" y="2233426"/>
              <a:ext cx="604200" cy="22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E80590"/>
                </a:buClr>
                <a:buSzPts val="1100"/>
                <a:buFont typeface="Arial Black"/>
                <a:buNone/>
              </a:pPr>
              <a:r>
                <a:rPr i="0" lang="en-US" sz="1300" u="none" cap="none" strike="noStrike">
                  <a:solidFill>
                    <a:schemeClr val="lt1"/>
                  </a:solidFill>
                </a:rPr>
                <a:t>17.9%</a:t>
              </a:r>
              <a:endParaRPr i="0" sz="1300" u="none" cap="none" strike="noStrike">
                <a:solidFill>
                  <a:schemeClr val="lt1"/>
                </a:solidFill>
              </a:endParaRPr>
            </a:p>
          </p:txBody>
        </p:sp>
      </p:grpSp>
      <p:sp>
        <p:nvSpPr>
          <p:cNvPr id="138" name="Google Shape;138;p18"/>
          <p:cNvSpPr/>
          <p:nvPr/>
        </p:nvSpPr>
        <p:spPr>
          <a:xfrm>
            <a:off x="552182" y="2522244"/>
            <a:ext cx="15273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100"/>
              <a:buFont typeface="Arial"/>
              <a:buNone/>
            </a:pPr>
            <a:r>
              <a:rPr i="0" lang="en-US" sz="1100" u="none" cap="none" strike="noStrike">
                <a:solidFill>
                  <a:srgbClr val="F0F0F0"/>
                </a:solidFill>
              </a:rPr>
              <a:t>Other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grpSp>
        <p:nvGrpSpPr>
          <p:cNvPr id="139" name="Google Shape;139;p18"/>
          <p:cNvGrpSpPr/>
          <p:nvPr/>
        </p:nvGrpSpPr>
        <p:grpSpPr>
          <a:xfrm>
            <a:off x="2257250" y="2541239"/>
            <a:ext cx="2797800" cy="238200"/>
            <a:chOff x="2257250" y="2541239"/>
            <a:chExt cx="2797800" cy="238200"/>
          </a:xfrm>
        </p:grpSpPr>
        <p:sp>
          <p:nvSpPr>
            <p:cNvPr id="140" name="Google Shape;140;p18"/>
            <p:cNvSpPr/>
            <p:nvPr/>
          </p:nvSpPr>
          <p:spPr>
            <a:xfrm>
              <a:off x="2257250" y="2541239"/>
              <a:ext cx="2797800" cy="238200"/>
            </a:xfrm>
            <a:prstGeom prst="rect">
              <a:avLst/>
            </a:prstGeom>
            <a:solidFill>
              <a:srgbClr val="1D3B6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8"/>
            <p:cNvSpPr/>
            <p:nvPr/>
          </p:nvSpPr>
          <p:spPr>
            <a:xfrm>
              <a:off x="4385632" y="2551006"/>
              <a:ext cx="604200" cy="22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1100"/>
                <a:buFont typeface="Arial Black"/>
                <a:buNone/>
              </a:pPr>
              <a:r>
                <a:rPr i="0" lang="en-US" sz="1300" u="none" cap="none" strike="noStrike">
                  <a:solidFill>
                    <a:schemeClr val="lt1"/>
                  </a:solidFill>
                </a:rPr>
                <a:t>17.9%</a:t>
              </a:r>
              <a:endParaRPr i="0" sz="1300" u="none" cap="none" strike="noStrike">
                <a:solidFill>
                  <a:schemeClr val="lt1"/>
                </a:solidFill>
              </a:endParaRPr>
            </a:p>
          </p:txBody>
        </p:sp>
      </p:grpSp>
      <p:sp>
        <p:nvSpPr>
          <p:cNvPr id="142" name="Google Shape;142;p18"/>
          <p:cNvSpPr/>
          <p:nvPr/>
        </p:nvSpPr>
        <p:spPr>
          <a:xfrm>
            <a:off x="552182" y="2840999"/>
            <a:ext cx="15273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100"/>
              <a:buFont typeface="Arial"/>
              <a:buNone/>
            </a:pPr>
            <a:r>
              <a:rPr i="0" lang="en-US" sz="1100" u="none" cap="none" strike="noStrike">
                <a:solidFill>
                  <a:srgbClr val="F0F0F0"/>
                </a:solidFill>
              </a:rPr>
              <a:t>Regulatory Overwhelm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grpSp>
        <p:nvGrpSpPr>
          <p:cNvPr id="143" name="Google Shape;143;p18"/>
          <p:cNvGrpSpPr/>
          <p:nvPr/>
        </p:nvGrpSpPr>
        <p:grpSpPr>
          <a:xfrm>
            <a:off x="2257250" y="2859280"/>
            <a:ext cx="2188200" cy="238200"/>
            <a:chOff x="2257250" y="2859280"/>
            <a:chExt cx="2188200" cy="238200"/>
          </a:xfrm>
        </p:grpSpPr>
        <p:sp>
          <p:nvSpPr>
            <p:cNvPr id="144" name="Google Shape;144;p18"/>
            <p:cNvSpPr/>
            <p:nvPr/>
          </p:nvSpPr>
          <p:spPr>
            <a:xfrm>
              <a:off x="2257250" y="2859280"/>
              <a:ext cx="2188200" cy="238200"/>
            </a:xfrm>
            <a:prstGeom prst="rect">
              <a:avLst/>
            </a:prstGeom>
            <a:solidFill>
              <a:srgbClr val="1D3B6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8"/>
            <p:cNvSpPr/>
            <p:nvPr/>
          </p:nvSpPr>
          <p:spPr>
            <a:xfrm>
              <a:off x="3791596" y="2868587"/>
              <a:ext cx="604200" cy="22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1100"/>
                <a:buFont typeface="Arial Black"/>
                <a:buNone/>
              </a:pPr>
              <a:r>
                <a:rPr i="0" lang="en-US" sz="1300" u="none" cap="none" strike="noStrike">
                  <a:solidFill>
                    <a:schemeClr val="lt1"/>
                  </a:solidFill>
                </a:rPr>
                <a:t>14.0%</a:t>
              </a:r>
              <a:endParaRPr i="0" sz="1300" u="none" cap="none" strike="noStrike">
                <a:solidFill>
                  <a:schemeClr val="lt1"/>
                </a:solidFill>
              </a:endParaRPr>
            </a:p>
          </p:txBody>
        </p:sp>
      </p:grpSp>
      <p:sp>
        <p:nvSpPr>
          <p:cNvPr id="146" name="Google Shape;146;p18"/>
          <p:cNvSpPr/>
          <p:nvPr/>
        </p:nvSpPr>
        <p:spPr>
          <a:xfrm>
            <a:off x="552182" y="3159755"/>
            <a:ext cx="15273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100"/>
              <a:buFont typeface="Arial"/>
              <a:buNone/>
            </a:pPr>
            <a:r>
              <a:rPr i="0" lang="en-US" sz="1100" u="none" cap="none" strike="noStrike">
                <a:solidFill>
                  <a:srgbClr val="F0F0F0"/>
                </a:solidFill>
              </a:rPr>
              <a:t>Gatekeepers / Rejection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grpSp>
        <p:nvGrpSpPr>
          <p:cNvPr id="147" name="Google Shape;147;p18"/>
          <p:cNvGrpSpPr/>
          <p:nvPr/>
        </p:nvGrpSpPr>
        <p:grpSpPr>
          <a:xfrm>
            <a:off x="2257250" y="3177320"/>
            <a:ext cx="1282200" cy="238200"/>
            <a:chOff x="2257250" y="3177320"/>
            <a:chExt cx="1282200" cy="238200"/>
          </a:xfrm>
        </p:grpSpPr>
        <p:sp>
          <p:nvSpPr>
            <p:cNvPr id="148" name="Google Shape;148;p18"/>
            <p:cNvSpPr/>
            <p:nvPr/>
          </p:nvSpPr>
          <p:spPr>
            <a:xfrm>
              <a:off x="2257250" y="3177320"/>
              <a:ext cx="1282200" cy="238200"/>
            </a:xfrm>
            <a:prstGeom prst="rect">
              <a:avLst/>
            </a:prstGeom>
            <a:solidFill>
              <a:srgbClr val="1D3B6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8"/>
            <p:cNvSpPr/>
            <p:nvPr/>
          </p:nvSpPr>
          <p:spPr>
            <a:xfrm>
              <a:off x="2905235" y="3186167"/>
              <a:ext cx="604200" cy="22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1100"/>
                <a:buFont typeface="Arial Black"/>
                <a:buNone/>
              </a:pPr>
              <a:r>
                <a:rPr i="0" lang="en-US" sz="1300" u="none" cap="none" strike="noStrike">
                  <a:solidFill>
                    <a:schemeClr val="lt1"/>
                  </a:solidFill>
                </a:rPr>
                <a:t>8.2%</a:t>
              </a:r>
              <a:endParaRPr i="0" sz="1300" u="none" cap="none" strike="noStrike">
                <a:solidFill>
                  <a:schemeClr val="lt1"/>
                </a:solidFill>
              </a:endParaRPr>
            </a:p>
          </p:txBody>
        </p:sp>
      </p:grpSp>
      <p:sp>
        <p:nvSpPr>
          <p:cNvPr id="150" name="Google Shape;150;p18"/>
          <p:cNvSpPr/>
          <p:nvPr/>
        </p:nvSpPr>
        <p:spPr>
          <a:xfrm>
            <a:off x="552182" y="3478510"/>
            <a:ext cx="15273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100"/>
              <a:buFont typeface="Arial"/>
              <a:buNone/>
            </a:pPr>
            <a:r>
              <a:rPr i="0" lang="en-US" sz="1100" u="none" cap="none" strike="noStrike">
                <a:solidFill>
                  <a:srgbClr val="F0F0F0"/>
                </a:solidFill>
              </a:rPr>
              <a:t>The Portfolio Trap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grpSp>
        <p:nvGrpSpPr>
          <p:cNvPr id="151" name="Google Shape;151;p18"/>
          <p:cNvGrpSpPr/>
          <p:nvPr/>
        </p:nvGrpSpPr>
        <p:grpSpPr>
          <a:xfrm>
            <a:off x="2257250" y="3495361"/>
            <a:ext cx="859200" cy="238200"/>
            <a:chOff x="2257250" y="3495361"/>
            <a:chExt cx="859200" cy="238200"/>
          </a:xfrm>
        </p:grpSpPr>
        <p:sp>
          <p:nvSpPr>
            <p:cNvPr id="152" name="Google Shape;152;p18"/>
            <p:cNvSpPr/>
            <p:nvPr/>
          </p:nvSpPr>
          <p:spPr>
            <a:xfrm>
              <a:off x="2257250" y="3495361"/>
              <a:ext cx="859200" cy="238200"/>
            </a:xfrm>
            <a:prstGeom prst="rect">
              <a:avLst/>
            </a:prstGeom>
            <a:solidFill>
              <a:srgbClr val="1D3B6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8"/>
            <p:cNvSpPr/>
            <p:nvPr/>
          </p:nvSpPr>
          <p:spPr>
            <a:xfrm>
              <a:off x="2459786" y="3503747"/>
              <a:ext cx="604200" cy="22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1100"/>
                <a:buFont typeface="Arial Black"/>
                <a:buNone/>
              </a:pPr>
              <a:r>
                <a:rPr i="0" lang="en-US" sz="1300" u="none" cap="none" strike="noStrike">
                  <a:solidFill>
                    <a:schemeClr val="lt1"/>
                  </a:solidFill>
                </a:rPr>
                <a:t>5.5%</a:t>
              </a:r>
              <a:endParaRPr i="0" sz="1300" u="none" cap="none" strike="noStrike">
                <a:solidFill>
                  <a:schemeClr val="lt1"/>
                </a:solidFill>
              </a:endParaRPr>
            </a:p>
          </p:txBody>
        </p:sp>
      </p:grpSp>
      <p:sp>
        <p:nvSpPr>
          <p:cNvPr id="154" name="Google Shape;154;p18"/>
          <p:cNvSpPr/>
          <p:nvPr/>
        </p:nvSpPr>
        <p:spPr>
          <a:xfrm>
            <a:off x="552182" y="3797266"/>
            <a:ext cx="15273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100"/>
              <a:buFont typeface="Arial"/>
              <a:buNone/>
            </a:pPr>
            <a:r>
              <a:rPr i="0" lang="en-US" sz="1100" u="none" cap="none" strike="noStrike">
                <a:solidFill>
                  <a:srgbClr val="F0F0F0"/>
                </a:solidFill>
              </a:rPr>
              <a:t>Business Admin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grpSp>
        <p:nvGrpSpPr>
          <p:cNvPr id="155" name="Google Shape;155;p18"/>
          <p:cNvGrpSpPr/>
          <p:nvPr/>
        </p:nvGrpSpPr>
        <p:grpSpPr>
          <a:xfrm>
            <a:off x="2257250" y="3813401"/>
            <a:ext cx="766200" cy="238200"/>
            <a:chOff x="2257250" y="3813401"/>
            <a:chExt cx="766200" cy="238200"/>
          </a:xfrm>
        </p:grpSpPr>
        <p:sp>
          <p:nvSpPr>
            <p:cNvPr id="156" name="Google Shape;156;p18"/>
            <p:cNvSpPr/>
            <p:nvPr/>
          </p:nvSpPr>
          <p:spPr>
            <a:xfrm>
              <a:off x="2257250" y="3813401"/>
              <a:ext cx="766200" cy="238200"/>
            </a:xfrm>
            <a:prstGeom prst="rect">
              <a:avLst/>
            </a:prstGeom>
            <a:solidFill>
              <a:srgbClr val="1D3B6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8"/>
            <p:cNvSpPr/>
            <p:nvPr/>
          </p:nvSpPr>
          <p:spPr>
            <a:xfrm>
              <a:off x="2353128" y="3821328"/>
              <a:ext cx="604200" cy="22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1100"/>
                <a:buFont typeface="Arial Black"/>
                <a:buNone/>
              </a:pPr>
              <a:r>
                <a:rPr i="0" lang="en-US" sz="1300" u="none" cap="none" strike="noStrike">
                  <a:solidFill>
                    <a:schemeClr val="lt1"/>
                  </a:solidFill>
                </a:rPr>
                <a:t>4.9%</a:t>
              </a:r>
              <a:endParaRPr i="0" sz="1300" u="none" cap="none" strike="noStrike">
                <a:solidFill>
                  <a:schemeClr val="lt1"/>
                </a:solidFill>
              </a:endParaRPr>
            </a:p>
          </p:txBody>
        </p:sp>
      </p:grpSp>
      <p:sp>
        <p:nvSpPr>
          <p:cNvPr id="158" name="Google Shape;158;p18"/>
          <p:cNvSpPr/>
          <p:nvPr/>
        </p:nvSpPr>
        <p:spPr>
          <a:xfrm>
            <a:off x="552182" y="4116022"/>
            <a:ext cx="15273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100"/>
              <a:buFont typeface="Arial"/>
              <a:buNone/>
            </a:pPr>
            <a:r>
              <a:rPr i="0" lang="en-US" sz="1100" u="none" cap="none" strike="noStrike">
                <a:solidFill>
                  <a:srgbClr val="F0F0F0"/>
                </a:solidFill>
              </a:rPr>
              <a:t>Pricing Confusion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grpSp>
        <p:nvGrpSpPr>
          <p:cNvPr id="159" name="Google Shape;159;p18"/>
          <p:cNvGrpSpPr/>
          <p:nvPr/>
        </p:nvGrpSpPr>
        <p:grpSpPr>
          <a:xfrm>
            <a:off x="2257250" y="4131442"/>
            <a:ext cx="719100" cy="238200"/>
            <a:chOff x="2257250" y="4131442"/>
            <a:chExt cx="719100" cy="238200"/>
          </a:xfrm>
        </p:grpSpPr>
        <p:sp>
          <p:nvSpPr>
            <p:cNvPr id="160" name="Google Shape;160;p18"/>
            <p:cNvSpPr/>
            <p:nvPr/>
          </p:nvSpPr>
          <p:spPr>
            <a:xfrm>
              <a:off x="2257250" y="4131442"/>
              <a:ext cx="719100" cy="238200"/>
            </a:xfrm>
            <a:prstGeom prst="rect">
              <a:avLst/>
            </a:prstGeom>
            <a:solidFill>
              <a:srgbClr val="1D3B6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8"/>
            <p:cNvSpPr/>
            <p:nvPr/>
          </p:nvSpPr>
          <p:spPr>
            <a:xfrm>
              <a:off x="2341481" y="4138908"/>
              <a:ext cx="604200" cy="22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1100"/>
                <a:buFont typeface="Arial Black"/>
                <a:buNone/>
              </a:pPr>
              <a:r>
                <a:rPr i="0" lang="en-US" sz="1300" u="none" cap="none" strike="noStrike">
                  <a:solidFill>
                    <a:schemeClr val="lt1"/>
                  </a:solidFill>
                </a:rPr>
                <a:t>4.6%</a:t>
              </a:r>
              <a:endParaRPr i="0" sz="1300" u="none" cap="none" strike="noStrike">
                <a:solidFill>
                  <a:schemeClr val="lt1"/>
                </a:solidFill>
              </a:endParaRPr>
            </a:p>
          </p:txBody>
        </p:sp>
      </p:grpSp>
      <p:sp>
        <p:nvSpPr>
          <p:cNvPr id="162" name="Google Shape;162;p18"/>
          <p:cNvSpPr/>
          <p:nvPr/>
        </p:nvSpPr>
        <p:spPr>
          <a:xfrm>
            <a:off x="552182" y="4434777"/>
            <a:ext cx="15273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100"/>
              <a:buFont typeface="Arial"/>
              <a:buNone/>
            </a:pPr>
            <a:r>
              <a:rPr i="0" lang="en-US" sz="1100" u="none" cap="none" strike="noStrike">
                <a:solidFill>
                  <a:srgbClr val="F0F0F0"/>
                </a:solidFill>
              </a:rPr>
              <a:t>Sales Anxiety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grpSp>
        <p:nvGrpSpPr>
          <p:cNvPr id="163" name="Google Shape;163;p18"/>
          <p:cNvGrpSpPr/>
          <p:nvPr/>
        </p:nvGrpSpPr>
        <p:grpSpPr>
          <a:xfrm>
            <a:off x="2257250" y="4449482"/>
            <a:ext cx="577500" cy="238200"/>
            <a:chOff x="2257250" y="4449482"/>
            <a:chExt cx="577500" cy="238200"/>
          </a:xfrm>
        </p:grpSpPr>
        <p:sp>
          <p:nvSpPr>
            <p:cNvPr id="164" name="Google Shape;164;p18"/>
            <p:cNvSpPr/>
            <p:nvPr/>
          </p:nvSpPr>
          <p:spPr>
            <a:xfrm>
              <a:off x="2257250" y="4449482"/>
              <a:ext cx="577500" cy="238200"/>
            </a:xfrm>
            <a:prstGeom prst="rect">
              <a:avLst/>
            </a:prstGeom>
            <a:solidFill>
              <a:srgbClr val="1D3B6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8"/>
            <p:cNvSpPr/>
            <p:nvPr/>
          </p:nvSpPr>
          <p:spPr>
            <a:xfrm>
              <a:off x="2341483" y="4456488"/>
              <a:ext cx="421200" cy="22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1100"/>
                <a:buFont typeface="Arial Black"/>
                <a:buNone/>
              </a:pPr>
              <a:r>
                <a:rPr i="0" lang="en-US" sz="1300" u="none" cap="none" strike="noStrike">
                  <a:solidFill>
                    <a:schemeClr val="lt1"/>
                  </a:solidFill>
                </a:rPr>
                <a:t>3.7%</a:t>
              </a:r>
              <a:endParaRPr i="0" sz="1300" u="none" cap="none" strike="noStrike">
                <a:solidFill>
                  <a:schemeClr val="lt1"/>
                </a:solidFill>
              </a:endParaRPr>
            </a:p>
          </p:txBody>
        </p:sp>
      </p:grpSp>
      <p:sp>
        <p:nvSpPr>
          <p:cNvPr id="166" name="Google Shape;166;p18"/>
          <p:cNvSpPr/>
          <p:nvPr/>
        </p:nvSpPr>
        <p:spPr>
          <a:xfrm>
            <a:off x="6077885" y="1897033"/>
            <a:ext cx="2494500" cy="993300"/>
          </a:xfrm>
          <a:prstGeom prst="rect">
            <a:avLst/>
          </a:prstGeom>
          <a:solidFill>
            <a:srgbClr val="212353"/>
          </a:solidFill>
          <a:ln>
            <a:noFill/>
          </a:ln>
        </p:spPr>
        <p:txBody>
          <a:bodyPr anchorCtr="0" anchor="ctr" bIns="0" lIns="0" spcFirstLastPara="1" rIns="0" wrap="square" tIns="182875">
            <a:noAutofit/>
          </a:bodyPr>
          <a:lstStyle/>
          <a:p>
            <a:pPr indent="0" lvl="0" marL="0" marR="0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E80590"/>
              </a:buClr>
              <a:buSzPts val="4200"/>
              <a:buFont typeface="Arial"/>
              <a:buNone/>
            </a:pPr>
            <a:r>
              <a:rPr b="1" i="0" lang="en-US" sz="4000" u="none" cap="none" strike="noStrike">
                <a:solidFill>
                  <a:srgbClr val="2398FF"/>
                </a:solidFill>
                <a:latin typeface="Arial Black"/>
                <a:ea typeface="Arial Black"/>
                <a:cs typeface="Arial Black"/>
                <a:sym typeface="Arial Black"/>
              </a:rPr>
              <a:t>41%</a:t>
            </a:r>
            <a:endParaRPr sz="4000">
              <a:solidFill>
                <a:srgbClr val="2398FF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0590"/>
              </a:buClr>
              <a:buSzPts val="4200"/>
              <a:buFont typeface="Arial"/>
              <a:buNone/>
            </a:pPr>
            <a:r>
              <a:rPr b="0" i="0" lang="en-US" sz="12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of struggles are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400"/>
              <a:buFont typeface="Arial"/>
              <a:buNone/>
            </a:pPr>
            <a:r>
              <a:rPr b="0" i="0" lang="en-US" sz="12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MINDSET problems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6077885" y="3011707"/>
            <a:ext cx="2494500" cy="596100"/>
          </a:xfrm>
          <a:prstGeom prst="rect">
            <a:avLst/>
          </a:prstGeom>
          <a:solidFill>
            <a:srgbClr val="21235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Only </a:t>
            </a:r>
            <a:r>
              <a:rPr i="0" lang="en-US" sz="1200" u="none" cap="none" strike="noStrike">
                <a:solidFill>
                  <a:srgbClr val="2398FF"/>
                </a:solidFill>
              </a:rPr>
              <a:t>5.5%</a:t>
            </a:r>
            <a:r>
              <a:rPr b="0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actually had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portfolio problems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8" name="Google Shape;168;p18"/>
          <p:cNvGrpSpPr/>
          <p:nvPr/>
        </p:nvGrpSpPr>
        <p:grpSpPr>
          <a:xfrm>
            <a:off x="5957505" y="3346022"/>
            <a:ext cx="2614870" cy="1723800"/>
            <a:chOff x="5957505" y="3346022"/>
            <a:chExt cx="2614870" cy="1723800"/>
          </a:xfrm>
        </p:grpSpPr>
        <p:sp>
          <p:nvSpPr>
            <p:cNvPr id="169" name="Google Shape;169;p18"/>
            <p:cNvSpPr/>
            <p:nvPr/>
          </p:nvSpPr>
          <p:spPr>
            <a:xfrm>
              <a:off x="6077875" y="3733941"/>
              <a:ext cx="2494500" cy="953700"/>
            </a:xfrm>
            <a:prstGeom prst="rect">
              <a:avLst/>
            </a:prstGeom>
            <a:solidFill>
              <a:srgbClr val="21235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0" lIns="91425" spcFirstLastPara="1" rIns="91425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ECFE5"/>
                </a:buClr>
                <a:buSzPts val="1400"/>
                <a:buFont typeface="Arial"/>
                <a:buNone/>
              </a:pPr>
              <a:r>
                <a:t/>
              </a:r>
              <a:endParaRPr b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18"/>
            <p:cNvSpPr txBox="1"/>
            <p:nvPr/>
          </p:nvSpPr>
          <p:spPr>
            <a:xfrm>
              <a:off x="5957505" y="3346022"/>
              <a:ext cx="369900" cy="17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0">
                  <a:solidFill>
                    <a:srgbClr val="004E92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“</a:t>
              </a:r>
              <a:endParaRPr sz="10000">
                <a:solidFill>
                  <a:srgbClr val="004E92"/>
                </a:solidFill>
              </a:endParaRPr>
            </a:p>
          </p:txBody>
        </p:sp>
        <p:sp>
          <p:nvSpPr>
            <p:cNvPr id="171" name="Google Shape;171;p18"/>
            <p:cNvSpPr/>
            <p:nvPr/>
          </p:nvSpPr>
          <p:spPr>
            <a:xfrm>
              <a:off x="6414175" y="3787079"/>
              <a:ext cx="1821900" cy="8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ECFE5"/>
                </a:buClr>
                <a:buSzPts val="1400"/>
                <a:buFont typeface="Arial"/>
                <a:buNone/>
              </a:pPr>
              <a:r>
                <a:rPr b="0" lang="en-US" sz="1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"Imposter syndrome isn't a sign you're not ready. It's a sign you care about doing good work."</a:t>
              </a:r>
              <a:endParaRPr b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33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Google Shape;177;p10"/>
          <p:cNvGrpSpPr/>
          <p:nvPr/>
        </p:nvGrpSpPr>
        <p:grpSpPr>
          <a:xfrm>
            <a:off x="571425" y="1568983"/>
            <a:ext cx="2550000" cy="1989877"/>
            <a:chOff x="571425" y="1568983"/>
            <a:chExt cx="2550000" cy="1989877"/>
          </a:xfrm>
        </p:grpSpPr>
        <p:sp>
          <p:nvSpPr>
            <p:cNvPr id="178" name="Google Shape;178;p10"/>
            <p:cNvSpPr/>
            <p:nvPr/>
          </p:nvSpPr>
          <p:spPr>
            <a:xfrm>
              <a:off x="571425" y="2667860"/>
              <a:ext cx="2550000" cy="891000"/>
            </a:xfrm>
            <a:prstGeom prst="rect">
              <a:avLst/>
            </a:prstGeom>
            <a:solidFill>
              <a:srgbClr val="21235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0F0F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0F0F0"/>
                  </a:solidFill>
                  <a:latin typeface="Arial"/>
                  <a:ea typeface="Arial"/>
                  <a:cs typeface="Arial"/>
                  <a:sym typeface="Arial"/>
                </a:rPr>
                <a:t>got clients in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0F0F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0F0F0"/>
                  </a:solidFill>
                  <a:latin typeface="Arial"/>
                  <a:ea typeface="Arial"/>
                  <a:cs typeface="Arial"/>
                  <a:sym typeface="Arial"/>
                </a:rPr>
                <a:t>7 DAYS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10"/>
            <p:cNvSpPr/>
            <p:nvPr/>
          </p:nvSpPr>
          <p:spPr>
            <a:xfrm>
              <a:off x="571425" y="1568983"/>
              <a:ext cx="2550000" cy="1113600"/>
            </a:xfrm>
            <a:prstGeom prst="rect">
              <a:avLst/>
            </a:prstGeom>
            <a:solidFill>
              <a:srgbClr val="2398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33"/>
                </a:buClr>
                <a:buSzPts val="5600"/>
                <a:buFont typeface="Arial Black"/>
                <a:buNone/>
              </a:pPr>
              <a:r>
                <a:rPr b="1" i="0" lang="en-US" sz="5600" u="none" cap="none" strike="noStrike">
                  <a:solidFill>
                    <a:srgbClr val="F0F0F0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6%</a:t>
              </a:r>
              <a:endParaRPr b="0" i="0" sz="56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0" name="Google Shape;180;p10"/>
          <p:cNvGrpSpPr/>
          <p:nvPr/>
        </p:nvGrpSpPr>
        <p:grpSpPr>
          <a:xfrm>
            <a:off x="3297000" y="1568983"/>
            <a:ext cx="2550000" cy="1989877"/>
            <a:chOff x="3297000" y="1568983"/>
            <a:chExt cx="2550000" cy="1989877"/>
          </a:xfrm>
        </p:grpSpPr>
        <p:sp>
          <p:nvSpPr>
            <p:cNvPr id="181" name="Google Shape;181;p10"/>
            <p:cNvSpPr/>
            <p:nvPr/>
          </p:nvSpPr>
          <p:spPr>
            <a:xfrm>
              <a:off x="3297000" y="2667860"/>
              <a:ext cx="2550000" cy="891000"/>
            </a:xfrm>
            <a:prstGeom prst="rect">
              <a:avLst/>
            </a:prstGeom>
            <a:solidFill>
              <a:srgbClr val="21235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0F0F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0F0F0"/>
                  </a:solidFill>
                  <a:latin typeface="Arial"/>
                  <a:ea typeface="Arial"/>
                  <a:cs typeface="Arial"/>
                  <a:sym typeface="Arial"/>
                </a:rPr>
                <a:t>had clients lined up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0F0F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0F0F0"/>
                  </a:solidFill>
                  <a:latin typeface="Arial"/>
                  <a:ea typeface="Arial"/>
                  <a:cs typeface="Arial"/>
                  <a:sym typeface="Arial"/>
                </a:rPr>
                <a:t>BEFORE certification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10"/>
            <p:cNvSpPr/>
            <p:nvPr/>
          </p:nvSpPr>
          <p:spPr>
            <a:xfrm>
              <a:off x="3297000" y="1568983"/>
              <a:ext cx="2550000" cy="1113600"/>
            </a:xfrm>
            <a:prstGeom prst="rect">
              <a:avLst/>
            </a:prstGeom>
            <a:solidFill>
              <a:srgbClr val="2398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33"/>
                </a:buClr>
                <a:buSzPts val="5600"/>
                <a:buFont typeface="Arial Black"/>
                <a:buNone/>
              </a:pPr>
              <a:r>
                <a:rPr b="1" i="0" lang="en-US" sz="5600" u="none" cap="none" strike="noStrike">
                  <a:solidFill>
                    <a:srgbClr val="F0F0F0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29%</a:t>
              </a:r>
              <a:endParaRPr b="0" i="0" sz="56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3" name="Google Shape;183;p10"/>
          <p:cNvGrpSpPr/>
          <p:nvPr/>
        </p:nvGrpSpPr>
        <p:grpSpPr>
          <a:xfrm>
            <a:off x="6022575" y="1568983"/>
            <a:ext cx="2550000" cy="1989877"/>
            <a:chOff x="6022575" y="1568983"/>
            <a:chExt cx="2550000" cy="1989877"/>
          </a:xfrm>
        </p:grpSpPr>
        <p:sp>
          <p:nvSpPr>
            <p:cNvPr id="184" name="Google Shape;184;p10"/>
            <p:cNvSpPr/>
            <p:nvPr/>
          </p:nvSpPr>
          <p:spPr>
            <a:xfrm>
              <a:off x="6022575" y="2667860"/>
              <a:ext cx="2550000" cy="891000"/>
            </a:xfrm>
            <a:prstGeom prst="rect">
              <a:avLst/>
            </a:prstGeom>
            <a:solidFill>
              <a:srgbClr val="21235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0F0F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0F0F0"/>
                  </a:solidFill>
                  <a:latin typeface="Arial"/>
                  <a:ea typeface="Arial"/>
                  <a:cs typeface="Arial"/>
                  <a:sym typeface="Arial"/>
                </a:rPr>
                <a:t>got </a:t>
              </a:r>
              <a:r>
                <a:rPr b="1" lang="en-US">
                  <a:solidFill>
                    <a:srgbClr val="F0F0F0"/>
                  </a:solidFill>
                </a:rPr>
                <a:t>their </a:t>
              </a:r>
              <a:r>
                <a:rPr b="1" i="0" lang="en-US" sz="1400" u="none" cap="none" strike="noStrike">
                  <a:solidFill>
                    <a:srgbClr val="F0F0F0"/>
                  </a:solidFill>
                  <a:latin typeface="Arial"/>
                  <a:ea typeface="Arial"/>
                  <a:cs typeface="Arial"/>
                  <a:sym typeface="Arial"/>
                </a:rPr>
                <a:t>first client in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0F0F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F0F0F0"/>
                  </a:solidFill>
                  <a:latin typeface="Arial"/>
                  <a:ea typeface="Arial"/>
                  <a:cs typeface="Arial"/>
                  <a:sym typeface="Arial"/>
                </a:rPr>
                <a:t>3 MONTHS or less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10"/>
            <p:cNvSpPr/>
            <p:nvPr/>
          </p:nvSpPr>
          <p:spPr>
            <a:xfrm>
              <a:off x="6022575" y="1568983"/>
              <a:ext cx="2550000" cy="1113600"/>
            </a:xfrm>
            <a:prstGeom prst="rect">
              <a:avLst/>
            </a:prstGeom>
            <a:solidFill>
              <a:srgbClr val="2398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33"/>
                </a:buClr>
                <a:buSzPts val="5600"/>
                <a:buFont typeface="Arial Black"/>
                <a:buNone/>
              </a:pPr>
              <a:r>
                <a:rPr b="1" i="0" lang="en-US" sz="5600" u="none" cap="none" strike="noStrike">
                  <a:solidFill>
                    <a:srgbClr val="F0F0F0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65%</a:t>
              </a:r>
              <a:endParaRPr b="0" i="0" sz="56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6" name="Google Shape;186;p10"/>
          <p:cNvSpPr/>
          <p:nvPr/>
        </p:nvSpPr>
        <p:spPr>
          <a:xfrm>
            <a:off x="774675" y="3971797"/>
            <a:ext cx="7594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2200"/>
              <a:buFont typeface="Arial Black"/>
              <a:buNone/>
            </a:pPr>
            <a:r>
              <a:rPr lang="en-US" sz="1800">
                <a:solidFill>
                  <a:srgbClr val="F0F0F0"/>
                </a:solidFill>
              </a:rPr>
              <a:t>They weren't ready. They just started.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774675" y="4317680"/>
            <a:ext cx="75945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Arial"/>
              <a:buNone/>
            </a:pPr>
            <a:r>
              <a:rPr i="0" lang="en-US" sz="1800" u="none" cap="none" strike="noStrike">
                <a:solidFill>
                  <a:schemeClr val="lt1"/>
                </a:solidFill>
              </a:rPr>
              <a:t>You don't need more time. You don't need perfection. You need</a:t>
            </a:r>
            <a:r>
              <a:rPr i="0" lang="en-US" sz="1800" u="none" cap="none" strike="noStrike">
                <a:solidFill>
                  <a:srgbClr val="94A3B8"/>
                </a:solidFill>
              </a:rPr>
              <a:t> </a:t>
            </a:r>
            <a:r>
              <a:rPr i="0" lang="en-US" sz="1800" u="none" cap="none" strike="noStrike">
                <a:solidFill>
                  <a:srgbClr val="81D1F4"/>
                </a:solidFill>
              </a:rPr>
              <a:t>action.</a:t>
            </a:r>
            <a:endParaRPr i="0" sz="1800" u="none" cap="none" strike="noStrike">
              <a:solidFill>
                <a:srgbClr val="81D1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1883107" y="277498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80590"/>
              </a:buClr>
              <a:buSzPts val="1300"/>
              <a:buFont typeface="Arial"/>
              <a:buNone/>
            </a:pPr>
            <a:r>
              <a:rPr lang="en-US" sz="1500">
                <a:solidFill>
                  <a:srgbClr val="81D1F4"/>
                </a:solidFill>
              </a:rPr>
              <a:t>False Belief: "Getting clients takes forever"</a:t>
            </a:r>
            <a:endParaRPr sz="1500">
              <a:solidFill>
                <a:srgbClr val="81D1F4"/>
              </a:solidFill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1883107" y="588219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3800"/>
              <a:buFont typeface="Arial Black"/>
              <a:buNone/>
            </a:pPr>
            <a:r>
              <a:rPr b="1" lang="en-US" sz="3800">
                <a:solidFill>
                  <a:srgbClr val="F0F0F0"/>
                </a:solidFill>
                <a:latin typeface="Arial Black"/>
                <a:ea typeface="Arial Black"/>
                <a:cs typeface="Arial Black"/>
                <a:sym typeface="Arial Black"/>
              </a:rPr>
              <a:t>The Speed Advantage</a:t>
            </a:r>
            <a:endParaRPr b="1" sz="3600">
              <a:solidFill>
                <a:srgbClr val="F0F0F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565075" y="387575"/>
            <a:ext cx="1091100" cy="365700"/>
          </a:xfrm>
          <a:prstGeom prst="rect">
            <a:avLst/>
          </a:prstGeom>
          <a:solidFill>
            <a:srgbClr val="239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200"/>
              <a:buFont typeface="Arial Black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SECRET #</a:t>
            </a:r>
            <a:r>
              <a:rPr b="1" lang="en-US" sz="1200">
                <a:solidFill>
                  <a:srgbClr val="FFFFFF"/>
                </a:solidFill>
              </a:rPr>
              <a:t>3</a:t>
            </a:r>
            <a:endParaRPr b="1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33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"/>
          <p:cNvSpPr/>
          <p:nvPr/>
        </p:nvSpPr>
        <p:spPr>
          <a:xfrm>
            <a:off x="1660067" y="275469"/>
            <a:ext cx="5486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3600"/>
              <a:buFont typeface="Arial Black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The Real Estate Trap</a:t>
            </a:r>
            <a:endParaRPr b="0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1660067" y="799245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Arial"/>
              <a:buNone/>
            </a:pPr>
            <a:r>
              <a:rPr i="0" lang="en-US" sz="1500" u="none" cap="none" strike="noStrike">
                <a:solidFill>
                  <a:schemeClr val="lt1"/>
                </a:solidFill>
              </a:rPr>
              <a:t>When we compared high earners ($10k+/yr) vs low earners ($0-$10k/yr)...</a:t>
            </a:r>
            <a:endParaRPr i="0" sz="1500" u="none" cap="none" strike="noStrike">
              <a:solidFill>
                <a:schemeClr val="lt1"/>
              </a:solidFill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571500" y="1581999"/>
            <a:ext cx="3856500" cy="417900"/>
          </a:xfrm>
          <a:prstGeom prst="rect">
            <a:avLst/>
          </a:prstGeom>
          <a:solidFill>
            <a:srgbClr val="212353"/>
          </a:solidFill>
          <a:ln>
            <a:noFill/>
          </a:ln>
        </p:spPr>
        <p:txBody>
          <a:bodyPr anchorCtr="0" anchor="ctr" bIns="45700" lIns="18287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0590"/>
              </a:buClr>
              <a:buSzPts val="1400"/>
              <a:buFont typeface="Arial Black"/>
              <a:buNone/>
            </a:pPr>
            <a:r>
              <a:rPr b="1" i="0" lang="en-US" sz="1500" u="none" cap="none" strike="noStrike">
                <a:solidFill>
                  <a:srgbClr val="81D1F4"/>
                </a:solidFill>
              </a:rPr>
              <a:t>L</a:t>
            </a:r>
            <a:r>
              <a:rPr b="1" lang="en-US" sz="1500">
                <a:solidFill>
                  <a:srgbClr val="81D1F4"/>
                </a:solidFill>
              </a:rPr>
              <a:t>ow Earners</a:t>
            </a:r>
            <a:r>
              <a:rPr b="1" i="0" lang="en-US" sz="1500" u="none" cap="none" strike="noStrike">
                <a:solidFill>
                  <a:srgbClr val="81D1F4"/>
                </a:solidFill>
              </a:rPr>
              <a:t> ($0-$10k/yr)</a:t>
            </a:r>
            <a:endParaRPr i="0" sz="1500" u="none" cap="none" strike="noStrike">
              <a:solidFill>
                <a:srgbClr val="81D1F4"/>
              </a:solidFill>
            </a:endParaRPr>
          </a:p>
        </p:txBody>
      </p:sp>
      <p:grpSp>
        <p:nvGrpSpPr>
          <p:cNvPr id="199" name="Google Shape;199;p11"/>
          <p:cNvGrpSpPr/>
          <p:nvPr/>
        </p:nvGrpSpPr>
        <p:grpSpPr>
          <a:xfrm>
            <a:off x="4678723" y="2285457"/>
            <a:ext cx="4122300" cy="1301199"/>
            <a:chOff x="4678723" y="2285457"/>
            <a:chExt cx="4122300" cy="1301199"/>
          </a:xfrm>
        </p:grpSpPr>
        <p:grpSp>
          <p:nvGrpSpPr>
            <p:cNvPr id="200" name="Google Shape;200;p11"/>
            <p:cNvGrpSpPr/>
            <p:nvPr/>
          </p:nvGrpSpPr>
          <p:grpSpPr>
            <a:xfrm>
              <a:off x="4719747" y="2285457"/>
              <a:ext cx="3931810" cy="1301199"/>
              <a:chOff x="4719747" y="2285457"/>
              <a:chExt cx="3931810" cy="1301199"/>
            </a:xfrm>
          </p:grpSpPr>
          <p:sp>
            <p:nvSpPr>
              <p:cNvPr id="201" name="Google Shape;201;p11"/>
              <p:cNvSpPr/>
              <p:nvPr/>
            </p:nvSpPr>
            <p:spPr>
              <a:xfrm>
                <a:off x="4719758" y="2285457"/>
                <a:ext cx="3931800" cy="20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94A3B8"/>
                  </a:buClr>
                  <a:buSzPts val="1400"/>
                  <a:buFont typeface="Arial"/>
                  <a:buNone/>
                </a:pPr>
                <a:r>
                  <a:rPr i="0" lang="en-US" sz="1500" u="none" cap="none" strike="noStrike">
                    <a:solidFill>
                      <a:schemeClr val="lt1"/>
                    </a:solidFill>
                  </a:rPr>
                  <a:t>Primary niche:</a:t>
                </a:r>
                <a:endParaRPr i="0" sz="1000" u="none" cap="none" strike="noStrik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endParaRPr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>
                <a:off x="4719747" y="3155557"/>
                <a:ext cx="38565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ECFE5"/>
                  </a:buClr>
                  <a:buSzPts val="1800"/>
                  <a:buFont typeface="Arial"/>
                  <a:buNone/>
                </a:pPr>
                <a:r>
                  <a:rPr i="0" lang="en-US" sz="1500" u="none" cap="none" strike="noStrike">
                    <a:solidFill>
                      <a:schemeClr val="lt1"/>
                    </a:solidFill>
                  </a:rPr>
                  <a:t>Mapping/Surveying: 22.7%</a:t>
                </a:r>
                <a:endParaRPr i="0" sz="1500" u="none" cap="none" strike="noStrike">
                  <a:solidFill>
                    <a:schemeClr val="lt1"/>
                  </a:solidFill>
                </a:endParaRPr>
              </a:p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ECFE5"/>
                  </a:buClr>
                  <a:buSzPts val="1800"/>
                  <a:buFont typeface="Arial"/>
                  <a:buNone/>
                </a:pPr>
                <a:r>
                  <a:rPr lang="en-US" sz="1500">
                    <a:solidFill>
                      <a:schemeClr val="lt1"/>
                    </a:solidFill>
                  </a:rPr>
                  <a:t>Construction: 24%</a:t>
                </a:r>
                <a:endParaRPr sz="1500">
                  <a:solidFill>
                    <a:schemeClr val="lt1"/>
                  </a:solidFill>
                </a:endParaRPr>
              </a:p>
            </p:txBody>
          </p:sp>
        </p:grpSp>
        <p:sp>
          <p:nvSpPr>
            <p:cNvPr id="203" name="Google Shape;203;p11"/>
            <p:cNvSpPr txBox="1"/>
            <p:nvPr/>
          </p:nvSpPr>
          <p:spPr>
            <a:xfrm>
              <a:off x="4678723" y="2575056"/>
              <a:ext cx="4122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rgbClr val="F80590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12% Real Estate</a:t>
              </a:r>
              <a:endParaRPr sz="3200"/>
            </a:p>
          </p:txBody>
        </p:sp>
      </p:grpSp>
      <p:grpSp>
        <p:nvGrpSpPr>
          <p:cNvPr id="204" name="Google Shape;204;p11"/>
          <p:cNvGrpSpPr/>
          <p:nvPr/>
        </p:nvGrpSpPr>
        <p:grpSpPr>
          <a:xfrm>
            <a:off x="530475" y="2285457"/>
            <a:ext cx="3972825" cy="1301197"/>
            <a:chOff x="530475" y="2285457"/>
            <a:chExt cx="3972825" cy="1301197"/>
          </a:xfrm>
        </p:grpSpPr>
        <p:grpSp>
          <p:nvGrpSpPr>
            <p:cNvPr id="205" name="Google Shape;205;p11"/>
            <p:cNvGrpSpPr/>
            <p:nvPr/>
          </p:nvGrpSpPr>
          <p:grpSpPr>
            <a:xfrm>
              <a:off x="571500" y="2285457"/>
              <a:ext cx="3931800" cy="1301197"/>
              <a:chOff x="571500" y="2285457"/>
              <a:chExt cx="3931800" cy="1301197"/>
            </a:xfrm>
          </p:grpSpPr>
          <p:sp>
            <p:nvSpPr>
              <p:cNvPr id="206" name="Google Shape;206;p11"/>
              <p:cNvSpPr/>
              <p:nvPr/>
            </p:nvSpPr>
            <p:spPr>
              <a:xfrm>
                <a:off x="571500" y="2285457"/>
                <a:ext cx="3931800" cy="20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94A3B8"/>
                  </a:buClr>
                  <a:buSzPts val="1400"/>
                  <a:buFont typeface="Arial"/>
                  <a:buNone/>
                </a:pPr>
                <a:r>
                  <a:rPr i="0" lang="en-US" sz="1500" u="none" cap="none" strike="noStrike">
                    <a:solidFill>
                      <a:schemeClr val="lt1"/>
                    </a:solidFill>
                  </a:rPr>
                  <a:t>Primary niche:</a:t>
                </a:r>
                <a:endParaRPr i="0" sz="1000" u="none" cap="none" strike="noStrik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endParaRPr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>
                <a:off x="571500" y="3155555"/>
                <a:ext cx="39318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4A3B8"/>
                  </a:buClr>
                  <a:buSzPts val="1800"/>
                  <a:buFont typeface="Arial"/>
                  <a:buNone/>
                </a:pPr>
                <a:r>
                  <a:rPr i="0" lang="en-US" sz="1500" u="none" cap="none" strike="noStrike">
                    <a:solidFill>
                      <a:schemeClr val="lt1"/>
                    </a:solidFill>
                  </a:rPr>
                  <a:t>Mapping/Surveying: 8.8%</a:t>
                </a:r>
                <a:endParaRPr i="0" sz="1500" u="none" cap="none" strike="noStrike">
                  <a:solidFill>
                    <a:schemeClr val="lt1"/>
                  </a:solidFill>
                </a:endParaRPr>
              </a:p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4A3B8"/>
                  </a:buClr>
                  <a:buSzPts val="1800"/>
                  <a:buFont typeface="Arial"/>
                  <a:buNone/>
                </a:pPr>
                <a:r>
                  <a:rPr lang="en-US" sz="1500">
                    <a:solidFill>
                      <a:schemeClr val="lt1"/>
                    </a:solidFill>
                  </a:rPr>
                  <a:t>Construction: 12%</a:t>
                </a:r>
                <a:endParaRPr sz="1500">
                  <a:solidFill>
                    <a:schemeClr val="lt1"/>
                  </a:solidFill>
                </a:endParaRPr>
              </a:p>
            </p:txBody>
          </p:sp>
        </p:grpSp>
        <p:sp>
          <p:nvSpPr>
            <p:cNvPr id="208" name="Google Shape;208;p11"/>
            <p:cNvSpPr txBox="1"/>
            <p:nvPr/>
          </p:nvSpPr>
          <p:spPr>
            <a:xfrm>
              <a:off x="530475" y="2575031"/>
              <a:ext cx="39318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rgbClr val="81D1F4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40% Real Estate</a:t>
              </a:r>
              <a:endParaRPr sz="3200"/>
            </a:p>
          </p:txBody>
        </p:sp>
      </p:grpSp>
      <p:sp>
        <p:nvSpPr>
          <p:cNvPr id="209" name="Google Shape;209;p11"/>
          <p:cNvSpPr/>
          <p:nvPr/>
        </p:nvSpPr>
        <p:spPr>
          <a:xfrm>
            <a:off x="4724875" y="1581999"/>
            <a:ext cx="3856500" cy="417900"/>
          </a:xfrm>
          <a:prstGeom prst="rect">
            <a:avLst/>
          </a:prstGeom>
          <a:solidFill>
            <a:srgbClr val="212353"/>
          </a:solidFill>
          <a:ln>
            <a:noFill/>
          </a:ln>
        </p:spPr>
        <p:txBody>
          <a:bodyPr anchorCtr="0" anchor="ctr" bIns="45700" lIns="18287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CFE5"/>
              </a:buClr>
              <a:buSzPts val="1400"/>
              <a:buFont typeface="Arial Black"/>
              <a:buNone/>
            </a:pPr>
            <a:r>
              <a:rPr b="1" lang="en-US" sz="1500">
                <a:solidFill>
                  <a:srgbClr val="F80590"/>
                </a:solidFill>
              </a:rPr>
              <a:t>High Earners ($10k+/yr)</a:t>
            </a:r>
            <a:endParaRPr b="1" sz="1500">
              <a:solidFill>
                <a:srgbClr val="81D1F4"/>
              </a:solidFill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571500" y="3999579"/>
            <a:ext cx="8229600" cy="417900"/>
          </a:xfrm>
          <a:prstGeom prst="rect">
            <a:avLst/>
          </a:prstGeom>
          <a:solidFill>
            <a:srgbClr val="2123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BE33"/>
              </a:buClr>
              <a:buSzPts val="1400"/>
              <a:buFont typeface="Arial"/>
              <a:buNone/>
            </a:pPr>
            <a:r>
              <a:rPr lang="en-US" sz="1500">
                <a:solidFill>
                  <a:srgbClr val="81D1F4"/>
                </a:solidFill>
              </a:rPr>
              <a:t>Real estate is crowded and low-margin. High earners pivot to technical services.</a:t>
            </a:r>
            <a:endParaRPr b="1" sz="1500">
              <a:solidFill>
                <a:srgbClr val="81D1F4"/>
              </a:solidFill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565075" y="387575"/>
            <a:ext cx="921300" cy="641100"/>
          </a:xfrm>
          <a:prstGeom prst="rect">
            <a:avLst/>
          </a:prstGeom>
          <a:solidFill>
            <a:srgbClr val="239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200"/>
              <a:buFont typeface="Arial Black"/>
              <a:buNone/>
            </a:pPr>
            <a:r>
              <a:rPr b="1" lang="en-US" sz="1000">
                <a:solidFill>
                  <a:schemeClr val="lt1"/>
                </a:solidFill>
              </a:rPr>
              <a:t>CRITICAL INSIGHT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33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2"/>
          <p:cNvSpPr/>
          <p:nvPr/>
        </p:nvSpPr>
        <p:spPr>
          <a:xfrm>
            <a:off x="569259" y="324791"/>
            <a:ext cx="8229600" cy="457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3000"/>
              <a:buFont typeface="Arial Black"/>
              <a:buNone/>
            </a:pPr>
            <a:r>
              <a:rPr b="1" i="0" lang="en-US" sz="3600" u="none" cap="none" strike="noStrike">
                <a:solidFill>
                  <a:srgbClr val="F0F0F0"/>
                </a:solidFill>
                <a:latin typeface="Arial Black"/>
                <a:ea typeface="Arial Black"/>
                <a:cs typeface="Arial Black"/>
                <a:sym typeface="Arial Black"/>
              </a:rPr>
              <a:t>The Real Estate Trap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2"/>
          <p:cNvSpPr/>
          <p:nvPr/>
        </p:nvSpPr>
        <p:spPr>
          <a:xfrm>
            <a:off x="575868" y="799245"/>
            <a:ext cx="5144700" cy="320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Arial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What services do high earners offer vs everyone else?</a:t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2"/>
          <p:cNvSpPr/>
          <p:nvPr/>
        </p:nvSpPr>
        <p:spPr>
          <a:xfrm>
            <a:off x="6869319" y="3608987"/>
            <a:ext cx="191400" cy="176400"/>
          </a:xfrm>
          <a:prstGeom prst="rect">
            <a:avLst/>
          </a:prstGeom>
          <a:solidFill>
            <a:srgbClr val="2398FF"/>
          </a:solidFill>
          <a:ln>
            <a:noFill/>
          </a:ln>
        </p:spPr>
        <p:txBody>
          <a:bodyPr anchorCtr="0" anchor="ctr" bIns="76975" lIns="76975" spcFirstLastPara="1" rIns="76975" wrap="square" tIns="7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2"/>
          <p:cNvSpPr/>
          <p:nvPr/>
        </p:nvSpPr>
        <p:spPr>
          <a:xfrm>
            <a:off x="7151980" y="3631020"/>
            <a:ext cx="1473300" cy="1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059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Low Earners ($0-$10k)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6869319" y="3860999"/>
            <a:ext cx="191400" cy="176400"/>
          </a:xfrm>
          <a:prstGeom prst="rect">
            <a:avLst/>
          </a:prstGeom>
          <a:solidFill>
            <a:srgbClr val="F80590"/>
          </a:solidFill>
          <a:ln>
            <a:noFill/>
          </a:ln>
        </p:spPr>
        <p:txBody>
          <a:bodyPr anchorCtr="0" anchor="ctr" bIns="76975" lIns="76975" spcFirstLastPara="1" rIns="76975" wrap="square" tIns="7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2"/>
          <p:cNvSpPr/>
          <p:nvPr/>
        </p:nvSpPr>
        <p:spPr>
          <a:xfrm>
            <a:off x="7151980" y="3884065"/>
            <a:ext cx="1473300" cy="1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CFE5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High Earners ($10k+)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2"/>
          <p:cNvSpPr/>
          <p:nvPr/>
        </p:nvSpPr>
        <p:spPr>
          <a:xfrm>
            <a:off x="518424" y="1441013"/>
            <a:ext cx="1238100" cy="1911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Arial"/>
              <a:buNone/>
            </a:pPr>
            <a:r>
              <a:rPr i="0" lang="en-US" sz="1100" u="none" cap="none" strike="noStrike">
                <a:solidFill>
                  <a:srgbClr val="F0F0F0"/>
                </a:solidFill>
              </a:rPr>
              <a:t>Real Estate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grpSp>
        <p:nvGrpSpPr>
          <p:cNvPr id="224" name="Google Shape;224;p12"/>
          <p:cNvGrpSpPr/>
          <p:nvPr/>
        </p:nvGrpSpPr>
        <p:grpSpPr>
          <a:xfrm>
            <a:off x="1867801" y="1380944"/>
            <a:ext cx="6744163" cy="317447"/>
            <a:chOff x="1867801" y="1380944"/>
            <a:chExt cx="6744163" cy="317447"/>
          </a:xfrm>
        </p:grpSpPr>
        <p:grpSp>
          <p:nvGrpSpPr>
            <p:cNvPr id="225" name="Google Shape;225;p12"/>
            <p:cNvGrpSpPr/>
            <p:nvPr/>
          </p:nvGrpSpPr>
          <p:grpSpPr>
            <a:xfrm>
              <a:off x="1871351" y="1380944"/>
              <a:ext cx="6740613" cy="133234"/>
              <a:chOff x="1871351" y="1380944"/>
              <a:chExt cx="6740613" cy="133234"/>
            </a:xfrm>
          </p:grpSpPr>
          <p:sp>
            <p:nvSpPr>
              <p:cNvPr id="226" name="Google Shape;226;p12"/>
              <p:cNvSpPr/>
              <p:nvPr/>
            </p:nvSpPr>
            <p:spPr>
              <a:xfrm>
                <a:off x="1871351" y="1380947"/>
                <a:ext cx="6275100" cy="133200"/>
              </a:xfrm>
              <a:prstGeom prst="rect">
                <a:avLst/>
              </a:prstGeom>
              <a:solidFill>
                <a:srgbClr val="2398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2"/>
              <p:cNvSpPr/>
              <p:nvPr/>
            </p:nvSpPr>
            <p:spPr>
              <a:xfrm>
                <a:off x="8261263" y="1380944"/>
                <a:ext cx="350700" cy="1332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E80590"/>
                  </a:buClr>
                  <a:buSzPts val="1100"/>
                  <a:buFont typeface="Arial Black"/>
                  <a:buNone/>
                </a:pPr>
                <a:r>
                  <a:rPr i="0" lang="en-US" sz="1100" u="none" cap="none" strike="noStrike">
                    <a:solidFill>
                      <a:schemeClr val="lt1"/>
                    </a:solidFill>
                  </a:rPr>
                  <a:t>40%</a:t>
                </a:r>
                <a:endParaRPr i="0" sz="1100" u="none" cap="none" strike="noStrike">
                  <a:solidFill>
                    <a:schemeClr val="lt1"/>
                  </a:solidFill>
                </a:endParaRPr>
              </a:p>
            </p:txBody>
          </p:sp>
        </p:grpSp>
        <p:grpSp>
          <p:nvGrpSpPr>
            <p:cNvPr id="228" name="Google Shape;228;p12"/>
            <p:cNvGrpSpPr/>
            <p:nvPr/>
          </p:nvGrpSpPr>
          <p:grpSpPr>
            <a:xfrm>
              <a:off x="1867801" y="1563952"/>
              <a:ext cx="2563674" cy="134439"/>
              <a:chOff x="1867801" y="1563952"/>
              <a:chExt cx="2563674" cy="134439"/>
            </a:xfrm>
          </p:grpSpPr>
          <p:sp>
            <p:nvSpPr>
              <p:cNvPr id="229" name="Google Shape;229;p12"/>
              <p:cNvSpPr/>
              <p:nvPr/>
            </p:nvSpPr>
            <p:spPr>
              <a:xfrm>
                <a:off x="1867801" y="1563952"/>
                <a:ext cx="1882500" cy="133234"/>
              </a:xfrm>
              <a:prstGeom prst="rect">
                <a:avLst/>
              </a:prstGeom>
              <a:solidFill>
                <a:srgbClr val="F8059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2"/>
              <p:cNvSpPr/>
              <p:nvPr/>
            </p:nvSpPr>
            <p:spPr>
              <a:xfrm>
                <a:off x="3822775" y="1565156"/>
                <a:ext cx="608700" cy="1332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ECFE5"/>
                  </a:buClr>
                  <a:buSzPts val="1100"/>
                  <a:buFont typeface="Arial Black"/>
                  <a:buNone/>
                </a:pPr>
                <a:r>
                  <a:rPr i="0" lang="en-US" sz="1100" u="none" cap="none" strike="noStrike">
                    <a:solidFill>
                      <a:schemeClr val="lt1"/>
                    </a:solidFill>
                  </a:rPr>
                  <a:t>12%</a:t>
                </a:r>
                <a:endParaRPr i="0" sz="1100" u="none" cap="none" strike="noStrike">
                  <a:solidFill>
                    <a:schemeClr val="lt1"/>
                  </a:solidFill>
                </a:endParaRPr>
              </a:p>
            </p:txBody>
          </p:sp>
        </p:grpSp>
      </p:grpSp>
      <p:sp>
        <p:nvSpPr>
          <p:cNvPr id="231" name="Google Shape;231;p12"/>
          <p:cNvSpPr/>
          <p:nvPr/>
        </p:nvSpPr>
        <p:spPr>
          <a:xfrm>
            <a:off x="518424" y="1908730"/>
            <a:ext cx="1238100" cy="1911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Arial"/>
              <a:buNone/>
            </a:pPr>
            <a:r>
              <a:rPr i="0" lang="en-US" sz="1100" u="none" cap="none" strike="noStrike">
                <a:solidFill>
                  <a:srgbClr val="F0F0F0"/>
                </a:solidFill>
              </a:rPr>
              <a:t>Construction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grpSp>
        <p:nvGrpSpPr>
          <p:cNvPr id="232" name="Google Shape;232;p12"/>
          <p:cNvGrpSpPr/>
          <p:nvPr/>
        </p:nvGrpSpPr>
        <p:grpSpPr>
          <a:xfrm>
            <a:off x="1867801" y="1838939"/>
            <a:ext cx="4613996" cy="320322"/>
            <a:chOff x="1867801" y="1838939"/>
            <a:chExt cx="4613996" cy="320322"/>
          </a:xfrm>
        </p:grpSpPr>
        <p:grpSp>
          <p:nvGrpSpPr>
            <p:cNvPr id="233" name="Google Shape;233;p12"/>
            <p:cNvGrpSpPr/>
            <p:nvPr/>
          </p:nvGrpSpPr>
          <p:grpSpPr>
            <a:xfrm>
              <a:off x="1871351" y="1838939"/>
              <a:ext cx="2560124" cy="135649"/>
              <a:chOff x="1871351" y="1838939"/>
              <a:chExt cx="2560124" cy="135649"/>
            </a:xfrm>
          </p:grpSpPr>
          <p:sp>
            <p:nvSpPr>
              <p:cNvPr id="234" name="Google Shape;234;p12"/>
              <p:cNvSpPr/>
              <p:nvPr/>
            </p:nvSpPr>
            <p:spPr>
              <a:xfrm>
                <a:off x="1871351" y="1838939"/>
                <a:ext cx="1882500" cy="133200"/>
              </a:xfrm>
              <a:prstGeom prst="rect">
                <a:avLst/>
              </a:prstGeom>
              <a:solidFill>
                <a:srgbClr val="2398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12"/>
              <p:cNvSpPr/>
              <p:nvPr/>
            </p:nvSpPr>
            <p:spPr>
              <a:xfrm>
                <a:off x="3822775" y="1841354"/>
                <a:ext cx="608700" cy="1332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E80590"/>
                  </a:buClr>
                  <a:buSzPts val="1100"/>
                  <a:buFont typeface="Arial Black"/>
                  <a:buNone/>
                </a:pPr>
                <a:r>
                  <a:rPr i="0" lang="en-US" sz="1100" u="none" cap="none" strike="noStrike">
                    <a:solidFill>
                      <a:schemeClr val="lt1"/>
                    </a:solidFill>
                  </a:rPr>
                  <a:t>12%</a:t>
                </a:r>
                <a:endParaRPr i="0" sz="1100" u="none" cap="none" strike="noStrike">
                  <a:solidFill>
                    <a:schemeClr val="lt1"/>
                  </a:solidFill>
                </a:endParaRPr>
              </a:p>
            </p:txBody>
          </p:sp>
        </p:grpSp>
        <p:grpSp>
          <p:nvGrpSpPr>
            <p:cNvPr id="236" name="Google Shape;236;p12"/>
            <p:cNvGrpSpPr/>
            <p:nvPr/>
          </p:nvGrpSpPr>
          <p:grpSpPr>
            <a:xfrm>
              <a:off x="1867801" y="2024358"/>
              <a:ext cx="4613996" cy="134903"/>
              <a:chOff x="1867801" y="2024358"/>
              <a:chExt cx="4613996" cy="134903"/>
            </a:xfrm>
          </p:grpSpPr>
          <p:sp>
            <p:nvSpPr>
              <p:cNvPr id="237" name="Google Shape;237;p12"/>
              <p:cNvSpPr/>
              <p:nvPr/>
            </p:nvSpPr>
            <p:spPr>
              <a:xfrm>
                <a:off x="1867801" y="2026027"/>
                <a:ext cx="3765300" cy="133234"/>
              </a:xfrm>
              <a:prstGeom prst="rect">
                <a:avLst/>
              </a:prstGeom>
              <a:solidFill>
                <a:srgbClr val="F8059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2"/>
              <p:cNvSpPr/>
              <p:nvPr/>
            </p:nvSpPr>
            <p:spPr>
              <a:xfrm>
                <a:off x="5726097" y="2024358"/>
                <a:ext cx="755700" cy="1332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ECFE5"/>
                  </a:buClr>
                  <a:buSzPts val="1100"/>
                  <a:buFont typeface="Arial Black"/>
                  <a:buNone/>
                </a:pPr>
                <a:r>
                  <a:rPr i="0" lang="en-US" sz="1100" u="none" cap="none" strike="noStrike">
                    <a:solidFill>
                      <a:schemeClr val="lt1"/>
                    </a:solidFill>
                  </a:rPr>
                  <a:t>24%</a:t>
                </a:r>
                <a:endParaRPr i="0" sz="1100" u="none" cap="none" strike="noStrike">
                  <a:solidFill>
                    <a:schemeClr val="lt1"/>
                  </a:solidFill>
                </a:endParaRPr>
              </a:p>
            </p:txBody>
          </p:sp>
        </p:grpSp>
      </p:grpSp>
      <p:sp>
        <p:nvSpPr>
          <p:cNvPr id="239" name="Google Shape;239;p12"/>
          <p:cNvSpPr/>
          <p:nvPr/>
        </p:nvSpPr>
        <p:spPr>
          <a:xfrm>
            <a:off x="518424" y="2376447"/>
            <a:ext cx="1238100" cy="1911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Arial"/>
              <a:buNone/>
            </a:pPr>
            <a:r>
              <a:rPr i="0" lang="en-US" sz="1100" u="none" cap="none" strike="noStrike">
                <a:solidFill>
                  <a:srgbClr val="F0F0F0"/>
                </a:solidFill>
              </a:rPr>
              <a:t>Mapping/Surveying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grpSp>
        <p:nvGrpSpPr>
          <p:cNvPr id="240" name="Google Shape;240;p12"/>
          <p:cNvGrpSpPr/>
          <p:nvPr/>
        </p:nvGrpSpPr>
        <p:grpSpPr>
          <a:xfrm>
            <a:off x="1867801" y="2299810"/>
            <a:ext cx="4446973" cy="317454"/>
            <a:chOff x="1867801" y="2299810"/>
            <a:chExt cx="4446973" cy="317454"/>
          </a:xfrm>
        </p:grpSpPr>
        <p:grpSp>
          <p:nvGrpSpPr>
            <p:cNvPr id="241" name="Google Shape;241;p12"/>
            <p:cNvGrpSpPr/>
            <p:nvPr/>
          </p:nvGrpSpPr>
          <p:grpSpPr>
            <a:xfrm>
              <a:off x="1867801" y="2299810"/>
              <a:ext cx="2395137" cy="133697"/>
              <a:chOff x="1867801" y="2299810"/>
              <a:chExt cx="2395137" cy="133697"/>
            </a:xfrm>
          </p:grpSpPr>
          <p:sp>
            <p:nvSpPr>
              <p:cNvPr id="242" name="Google Shape;242;p12"/>
              <p:cNvSpPr/>
              <p:nvPr/>
            </p:nvSpPr>
            <p:spPr>
              <a:xfrm>
                <a:off x="1867801" y="2300273"/>
                <a:ext cx="1380600" cy="133234"/>
              </a:xfrm>
              <a:prstGeom prst="rect">
                <a:avLst/>
              </a:prstGeom>
              <a:solidFill>
                <a:srgbClr val="2398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" name="Google Shape;243;p12"/>
              <p:cNvSpPr/>
              <p:nvPr/>
            </p:nvSpPr>
            <p:spPr>
              <a:xfrm>
                <a:off x="3340437" y="2299810"/>
                <a:ext cx="922500" cy="1332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E80590"/>
                  </a:buClr>
                  <a:buSzPts val="1100"/>
                  <a:buFont typeface="Arial Black"/>
                  <a:buNone/>
                </a:pPr>
                <a:r>
                  <a:rPr i="0" lang="en-US" sz="1100" u="none" cap="none" strike="noStrike">
                    <a:solidFill>
                      <a:schemeClr val="lt1"/>
                    </a:solidFill>
                  </a:rPr>
                  <a:t>8.8%</a:t>
                </a:r>
                <a:endParaRPr i="0" sz="1100" u="none" cap="none" strike="noStrike">
                  <a:solidFill>
                    <a:schemeClr val="lt1"/>
                  </a:solidFill>
                </a:endParaRPr>
              </a:p>
            </p:txBody>
          </p:sp>
        </p:grpSp>
        <p:grpSp>
          <p:nvGrpSpPr>
            <p:cNvPr id="244" name="Google Shape;244;p12"/>
            <p:cNvGrpSpPr/>
            <p:nvPr/>
          </p:nvGrpSpPr>
          <p:grpSpPr>
            <a:xfrm>
              <a:off x="1867801" y="2483277"/>
              <a:ext cx="4446973" cy="133987"/>
              <a:chOff x="1867801" y="2483277"/>
              <a:chExt cx="4446973" cy="133987"/>
            </a:xfrm>
          </p:grpSpPr>
          <p:sp>
            <p:nvSpPr>
              <p:cNvPr id="245" name="Google Shape;245;p12"/>
              <p:cNvSpPr/>
              <p:nvPr/>
            </p:nvSpPr>
            <p:spPr>
              <a:xfrm>
                <a:off x="1867801" y="2483277"/>
                <a:ext cx="3561300" cy="133234"/>
              </a:xfrm>
              <a:prstGeom prst="rect">
                <a:avLst/>
              </a:prstGeom>
              <a:solidFill>
                <a:srgbClr val="F8059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2"/>
              <p:cNvSpPr/>
              <p:nvPr/>
            </p:nvSpPr>
            <p:spPr>
              <a:xfrm>
                <a:off x="5559073" y="2484030"/>
                <a:ext cx="755700" cy="1332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ECFE5"/>
                  </a:buClr>
                  <a:buSzPts val="1100"/>
                  <a:buFont typeface="Arial Black"/>
                  <a:buNone/>
                </a:pPr>
                <a:r>
                  <a:rPr i="0" lang="en-US" sz="1100" u="none" cap="none" strike="noStrike">
                    <a:solidFill>
                      <a:schemeClr val="lt1"/>
                    </a:solidFill>
                  </a:rPr>
                  <a:t>22.7%</a:t>
                </a:r>
                <a:endParaRPr i="0" sz="1100" u="none" cap="none" strike="noStrike">
                  <a:solidFill>
                    <a:schemeClr val="lt1"/>
                  </a:solidFill>
                </a:endParaRPr>
              </a:p>
            </p:txBody>
          </p:sp>
        </p:grpSp>
      </p:grpSp>
      <p:sp>
        <p:nvSpPr>
          <p:cNvPr id="247" name="Google Shape;247;p12"/>
          <p:cNvSpPr/>
          <p:nvPr/>
        </p:nvSpPr>
        <p:spPr>
          <a:xfrm>
            <a:off x="518424" y="2844164"/>
            <a:ext cx="1238100" cy="1911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Arial"/>
              <a:buNone/>
            </a:pPr>
            <a:r>
              <a:rPr i="0" lang="en-US" sz="1100" u="none" cap="none" strike="noStrike">
                <a:solidFill>
                  <a:srgbClr val="F0F0F0"/>
                </a:solidFill>
              </a:rPr>
              <a:t>Creative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grpSp>
        <p:nvGrpSpPr>
          <p:cNvPr id="248" name="Google Shape;248;p12"/>
          <p:cNvGrpSpPr/>
          <p:nvPr/>
        </p:nvGrpSpPr>
        <p:grpSpPr>
          <a:xfrm>
            <a:off x="1867801" y="2757813"/>
            <a:ext cx="3239030" cy="331954"/>
            <a:chOff x="1867801" y="2757813"/>
            <a:chExt cx="3239030" cy="331954"/>
          </a:xfrm>
        </p:grpSpPr>
        <p:grpSp>
          <p:nvGrpSpPr>
            <p:cNvPr id="249" name="Google Shape;249;p12"/>
            <p:cNvGrpSpPr/>
            <p:nvPr/>
          </p:nvGrpSpPr>
          <p:grpSpPr>
            <a:xfrm>
              <a:off x="1867801" y="2757813"/>
              <a:ext cx="3097793" cy="140487"/>
              <a:chOff x="1867801" y="2757813"/>
              <a:chExt cx="3097793" cy="140487"/>
            </a:xfrm>
          </p:grpSpPr>
          <p:sp>
            <p:nvSpPr>
              <p:cNvPr id="250" name="Google Shape;250;p12"/>
              <p:cNvSpPr/>
              <p:nvPr/>
            </p:nvSpPr>
            <p:spPr>
              <a:xfrm>
                <a:off x="1867801" y="2757813"/>
                <a:ext cx="2353200" cy="133234"/>
              </a:xfrm>
              <a:prstGeom prst="rect">
                <a:avLst/>
              </a:prstGeom>
              <a:solidFill>
                <a:srgbClr val="2398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2"/>
              <p:cNvSpPr/>
              <p:nvPr/>
            </p:nvSpPr>
            <p:spPr>
              <a:xfrm>
                <a:off x="4319693" y="2765065"/>
                <a:ext cx="645900" cy="1332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E80590"/>
                  </a:buClr>
                  <a:buSzPts val="1100"/>
                  <a:buFont typeface="Arial Black"/>
                  <a:buNone/>
                </a:pPr>
                <a:r>
                  <a:rPr i="0" lang="en-US" sz="1100" u="none" cap="none" strike="noStrike">
                    <a:solidFill>
                      <a:schemeClr val="lt1"/>
                    </a:solidFill>
                  </a:rPr>
                  <a:t>15%</a:t>
                </a:r>
                <a:endParaRPr i="0" sz="1100" u="none" cap="none" strike="noStrike">
                  <a:solidFill>
                    <a:schemeClr val="lt1"/>
                  </a:solidFill>
                </a:endParaRPr>
              </a:p>
            </p:txBody>
          </p:sp>
        </p:grpSp>
        <p:grpSp>
          <p:nvGrpSpPr>
            <p:cNvPr id="252" name="Google Shape;252;p12"/>
            <p:cNvGrpSpPr/>
            <p:nvPr/>
          </p:nvGrpSpPr>
          <p:grpSpPr>
            <a:xfrm>
              <a:off x="1867801" y="2948069"/>
              <a:ext cx="3239030" cy="141697"/>
              <a:chOff x="1867801" y="2948069"/>
              <a:chExt cx="3239030" cy="141697"/>
            </a:xfrm>
          </p:grpSpPr>
          <p:sp>
            <p:nvSpPr>
              <p:cNvPr id="253" name="Google Shape;253;p12"/>
              <p:cNvSpPr/>
              <p:nvPr/>
            </p:nvSpPr>
            <p:spPr>
              <a:xfrm>
                <a:off x="1867801" y="2948069"/>
                <a:ext cx="2510100" cy="133234"/>
              </a:xfrm>
              <a:prstGeom prst="rect">
                <a:avLst/>
              </a:prstGeom>
              <a:solidFill>
                <a:srgbClr val="F8059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" name="Google Shape;254;p12"/>
              <p:cNvSpPr/>
              <p:nvPr/>
            </p:nvSpPr>
            <p:spPr>
              <a:xfrm>
                <a:off x="4460931" y="2956532"/>
                <a:ext cx="645900" cy="1332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ECFE5"/>
                  </a:buClr>
                  <a:buSzPts val="1100"/>
                  <a:buFont typeface="Arial Black"/>
                  <a:buNone/>
                </a:pPr>
                <a:r>
                  <a:rPr i="0" lang="en-US" sz="1100" u="none" cap="none" strike="noStrike">
                    <a:solidFill>
                      <a:schemeClr val="lt1"/>
                    </a:solidFill>
                  </a:rPr>
                  <a:t>16%</a:t>
                </a:r>
                <a:endParaRPr i="0" sz="1100" u="none" cap="none" strike="noStrike">
                  <a:solidFill>
                    <a:schemeClr val="lt1"/>
                  </a:solidFill>
                </a:endParaRPr>
              </a:p>
            </p:txBody>
          </p:sp>
        </p:grpSp>
      </p:grpSp>
      <p:sp>
        <p:nvSpPr>
          <p:cNvPr id="255" name="Google Shape;255;p12"/>
          <p:cNvSpPr/>
          <p:nvPr/>
        </p:nvSpPr>
        <p:spPr>
          <a:xfrm>
            <a:off x="518424" y="3311881"/>
            <a:ext cx="1238100" cy="1911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Arial"/>
              <a:buNone/>
            </a:pPr>
            <a:r>
              <a:rPr i="0" lang="en-US" sz="1100" u="none" cap="none" strike="noStrike">
                <a:solidFill>
                  <a:srgbClr val="F0F0F0"/>
                </a:solidFill>
              </a:rPr>
              <a:t>Inspections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grpSp>
        <p:nvGrpSpPr>
          <p:cNvPr id="256" name="Google Shape;256;p12"/>
          <p:cNvGrpSpPr/>
          <p:nvPr/>
        </p:nvGrpSpPr>
        <p:grpSpPr>
          <a:xfrm>
            <a:off x="1867801" y="3230315"/>
            <a:ext cx="2207720" cy="336704"/>
            <a:chOff x="1867801" y="3230315"/>
            <a:chExt cx="2207720" cy="336704"/>
          </a:xfrm>
        </p:grpSpPr>
        <p:grpSp>
          <p:nvGrpSpPr>
            <p:cNvPr id="257" name="Google Shape;257;p12"/>
            <p:cNvGrpSpPr/>
            <p:nvPr/>
          </p:nvGrpSpPr>
          <p:grpSpPr>
            <a:xfrm>
              <a:off x="1867801" y="3230315"/>
              <a:ext cx="2207720" cy="142909"/>
              <a:chOff x="1867801" y="3230315"/>
              <a:chExt cx="2207720" cy="142909"/>
            </a:xfrm>
          </p:grpSpPr>
          <p:sp>
            <p:nvSpPr>
              <p:cNvPr id="258" name="Google Shape;258;p12"/>
              <p:cNvSpPr/>
              <p:nvPr/>
            </p:nvSpPr>
            <p:spPr>
              <a:xfrm>
                <a:off x="1867801" y="3230315"/>
                <a:ext cx="1569000" cy="133234"/>
              </a:xfrm>
              <a:prstGeom prst="rect">
                <a:avLst/>
              </a:prstGeom>
              <a:solidFill>
                <a:srgbClr val="2398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p12"/>
              <p:cNvSpPr/>
              <p:nvPr/>
            </p:nvSpPr>
            <p:spPr>
              <a:xfrm>
                <a:off x="3543621" y="3239990"/>
                <a:ext cx="531900" cy="1332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E80590"/>
                  </a:buClr>
                  <a:buSzPts val="1100"/>
                  <a:buFont typeface="Arial Black"/>
                  <a:buNone/>
                </a:pPr>
                <a:r>
                  <a:rPr i="0" lang="en-US" sz="1100" u="none" cap="none" strike="noStrike">
                    <a:solidFill>
                      <a:schemeClr val="lt1"/>
                    </a:solidFill>
                  </a:rPr>
                  <a:t>10%</a:t>
                </a:r>
                <a:endParaRPr i="0" sz="1100" u="none" cap="none" strike="noStrike">
                  <a:solidFill>
                    <a:schemeClr val="lt1"/>
                  </a:solidFill>
                </a:endParaRPr>
              </a:p>
            </p:txBody>
          </p:sp>
        </p:grpSp>
        <p:grpSp>
          <p:nvGrpSpPr>
            <p:cNvPr id="260" name="Google Shape;260;p12"/>
            <p:cNvGrpSpPr/>
            <p:nvPr/>
          </p:nvGrpSpPr>
          <p:grpSpPr>
            <a:xfrm>
              <a:off x="1867801" y="3422994"/>
              <a:ext cx="2207720" cy="144026"/>
              <a:chOff x="1867801" y="3422994"/>
              <a:chExt cx="2207720" cy="144026"/>
            </a:xfrm>
          </p:grpSpPr>
          <p:sp>
            <p:nvSpPr>
              <p:cNvPr id="261" name="Google Shape;261;p12"/>
              <p:cNvSpPr/>
              <p:nvPr/>
            </p:nvSpPr>
            <p:spPr>
              <a:xfrm>
                <a:off x="1867801" y="3422994"/>
                <a:ext cx="1569000" cy="133234"/>
              </a:xfrm>
              <a:prstGeom prst="rect">
                <a:avLst/>
              </a:prstGeom>
              <a:solidFill>
                <a:srgbClr val="F8059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2"/>
              <p:cNvSpPr/>
              <p:nvPr/>
            </p:nvSpPr>
            <p:spPr>
              <a:xfrm>
                <a:off x="3543621" y="3433786"/>
                <a:ext cx="531900" cy="1332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ECFE5"/>
                  </a:buClr>
                  <a:buSzPts val="1100"/>
                  <a:buFont typeface="Arial Black"/>
                  <a:buNone/>
                </a:pPr>
                <a:r>
                  <a:rPr i="0" lang="en-US" sz="1100" u="none" cap="none" strike="noStrike">
                    <a:solidFill>
                      <a:schemeClr val="lt1"/>
                    </a:solidFill>
                  </a:rPr>
                  <a:t>10%</a:t>
                </a:r>
                <a:endParaRPr i="0" sz="1100" u="none" cap="none" strike="noStrike">
                  <a:solidFill>
                    <a:schemeClr val="lt1"/>
                  </a:solidFill>
                </a:endParaRPr>
              </a:p>
            </p:txBody>
          </p:sp>
        </p:grpSp>
      </p:grpSp>
      <p:sp>
        <p:nvSpPr>
          <p:cNvPr id="263" name="Google Shape;263;p12"/>
          <p:cNvSpPr/>
          <p:nvPr/>
        </p:nvSpPr>
        <p:spPr>
          <a:xfrm>
            <a:off x="518424" y="3779598"/>
            <a:ext cx="1238100" cy="1911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Arial"/>
              <a:buNone/>
            </a:pPr>
            <a:r>
              <a:rPr i="0" lang="en-US" sz="1100" u="none" cap="none" strike="noStrike">
                <a:solidFill>
                  <a:srgbClr val="F0F0F0"/>
                </a:solidFill>
              </a:rPr>
              <a:t>Agriculture</a:t>
            </a:r>
            <a:endParaRPr i="0" sz="1100" u="none" cap="none" strike="noStrike">
              <a:solidFill>
                <a:schemeClr val="dk1"/>
              </a:solidFill>
            </a:endParaRPr>
          </a:p>
        </p:txBody>
      </p:sp>
      <p:grpSp>
        <p:nvGrpSpPr>
          <p:cNvPr id="264" name="Google Shape;264;p12"/>
          <p:cNvGrpSpPr/>
          <p:nvPr/>
        </p:nvGrpSpPr>
        <p:grpSpPr>
          <a:xfrm>
            <a:off x="1867801" y="3707569"/>
            <a:ext cx="1511662" cy="341360"/>
            <a:chOff x="1867801" y="3707569"/>
            <a:chExt cx="1511662" cy="341360"/>
          </a:xfrm>
        </p:grpSpPr>
        <p:grpSp>
          <p:nvGrpSpPr>
            <p:cNvPr id="265" name="Google Shape;265;p12"/>
            <p:cNvGrpSpPr/>
            <p:nvPr/>
          </p:nvGrpSpPr>
          <p:grpSpPr>
            <a:xfrm>
              <a:off x="1867801" y="3707569"/>
              <a:ext cx="1511662" cy="145232"/>
              <a:chOff x="1867801" y="3707569"/>
              <a:chExt cx="1511662" cy="145232"/>
            </a:xfrm>
          </p:grpSpPr>
          <p:sp>
            <p:nvSpPr>
              <p:cNvPr id="266" name="Google Shape;266;p12"/>
              <p:cNvSpPr/>
              <p:nvPr/>
            </p:nvSpPr>
            <p:spPr>
              <a:xfrm>
                <a:off x="1867801" y="3707569"/>
                <a:ext cx="784200" cy="133234"/>
              </a:xfrm>
              <a:prstGeom prst="rect">
                <a:avLst/>
              </a:prstGeom>
              <a:solidFill>
                <a:srgbClr val="2398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2"/>
              <p:cNvSpPr/>
              <p:nvPr/>
            </p:nvSpPr>
            <p:spPr>
              <a:xfrm>
                <a:off x="2770763" y="3719566"/>
                <a:ext cx="608700" cy="1332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E80590"/>
                  </a:buClr>
                  <a:buSzPts val="1100"/>
                  <a:buFont typeface="Arial Black"/>
                  <a:buNone/>
                </a:pPr>
                <a:r>
                  <a:rPr i="0" lang="en-US" sz="1100" u="none" cap="none" strike="noStrike">
                    <a:solidFill>
                      <a:schemeClr val="lt1"/>
                    </a:solidFill>
                  </a:rPr>
                  <a:t>5%</a:t>
                </a:r>
                <a:endParaRPr i="0" sz="1100" u="none" cap="none" strike="noStrike">
                  <a:solidFill>
                    <a:schemeClr val="lt1"/>
                  </a:solidFill>
                </a:endParaRPr>
              </a:p>
            </p:txBody>
          </p:sp>
        </p:grpSp>
        <p:grpSp>
          <p:nvGrpSpPr>
            <p:cNvPr id="268" name="Google Shape;268;p12"/>
            <p:cNvGrpSpPr/>
            <p:nvPr/>
          </p:nvGrpSpPr>
          <p:grpSpPr>
            <a:xfrm>
              <a:off x="1867801" y="3902571"/>
              <a:ext cx="1511662" cy="146358"/>
              <a:chOff x="1867801" y="3902571"/>
              <a:chExt cx="1511662" cy="146358"/>
            </a:xfrm>
          </p:grpSpPr>
          <p:sp>
            <p:nvSpPr>
              <p:cNvPr id="269" name="Google Shape;269;p12"/>
              <p:cNvSpPr/>
              <p:nvPr/>
            </p:nvSpPr>
            <p:spPr>
              <a:xfrm>
                <a:off x="1867801" y="3902571"/>
                <a:ext cx="815700" cy="133234"/>
              </a:xfrm>
              <a:prstGeom prst="rect">
                <a:avLst/>
              </a:prstGeom>
              <a:solidFill>
                <a:srgbClr val="F8059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12"/>
              <p:cNvSpPr/>
              <p:nvPr/>
            </p:nvSpPr>
            <p:spPr>
              <a:xfrm>
                <a:off x="2770763" y="3915694"/>
                <a:ext cx="608700" cy="1332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ECFE5"/>
                  </a:buClr>
                  <a:buSzPts val="1100"/>
                  <a:buFont typeface="Arial Black"/>
                  <a:buNone/>
                </a:pPr>
                <a:r>
                  <a:rPr i="0" lang="en-US" sz="1100" u="none" cap="none" strike="noStrike">
                    <a:solidFill>
                      <a:schemeClr val="lt1"/>
                    </a:solidFill>
                  </a:rPr>
                  <a:t>5.2%</a:t>
                </a:r>
                <a:endParaRPr i="0" sz="1100" u="none" cap="none" strike="noStrike">
                  <a:solidFill>
                    <a:schemeClr val="lt1"/>
                  </a:solidFill>
                </a:endParaRPr>
              </a:p>
            </p:txBody>
          </p:sp>
        </p:grpSp>
      </p:grpSp>
      <p:sp>
        <p:nvSpPr>
          <p:cNvPr id="271" name="Google Shape;271;p12"/>
          <p:cNvSpPr/>
          <p:nvPr/>
        </p:nvSpPr>
        <p:spPr>
          <a:xfrm>
            <a:off x="575875" y="4381533"/>
            <a:ext cx="7996500" cy="402000"/>
          </a:xfrm>
          <a:prstGeom prst="rect">
            <a:avLst/>
          </a:prstGeom>
          <a:solidFill>
            <a:srgbClr val="21235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CFE5"/>
              </a:buClr>
              <a:buSzPts val="1600"/>
              <a:buFont typeface="Arial"/>
              <a:buNone/>
            </a:pPr>
            <a:r>
              <a:rPr i="0" lang="en-US" sz="1500" u="none" cap="none" strike="noStrike">
                <a:solidFill>
                  <a:srgbClr val="81D1F4"/>
                </a:solidFill>
              </a:rPr>
              <a:t>High earners avoid real estate and focus on construction &amp; mapping.</a:t>
            </a:r>
            <a:endParaRPr i="0" sz="1500" u="none" cap="none" strike="noStrike">
              <a:solidFill>
                <a:srgbClr val="81D1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33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E805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3"/>
          <p:cNvSpPr/>
          <p:nvPr/>
        </p:nvSpPr>
        <p:spPr>
          <a:xfrm>
            <a:off x="470608" y="299078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0590"/>
              </a:buClr>
              <a:buSzPts val="3200"/>
              <a:buFont typeface="Arial Black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What </a:t>
            </a:r>
            <a:r>
              <a:rPr b="1" lang="en-US" sz="36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Doesn’t</a:t>
            </a:r>
            <a:r>
              <a:rPr b="1" i="0" lang="en-US" sz="36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 Work</a:t>
            </a:r>
            <a:endParaRPr b="0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470072" y="802534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Arial"/>
              <a:buNone/>
            </a:pPr>
            <a:r>
              <a:rPr b="0" i="0" lang="en-US" sz="1500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Pilots told us what wasted their time and money:</a:t>
            </a:r>
            <a:endParaRPr b="0" i="0" sz="1500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3"/>
          <p:cNvSpPr/>
          <p:nvPr/>
        </p:nvSpPr>
        <p:spPr>
          <a:xfrm>
            <a:off x="571500" y="4120102"/>
            <a:ext cx="8001000" cy="457200"/>
          </a:xfrm>
          <a:prstGeom prst="rect">
            <a:avLst/>
          </a:prstGeom>
          <a:solidFill>
            <a:srgbClr val="2123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CFE5"/>
              </a:buClr>
              <a:buSzPts val="1600"/>
              <a:buFont typeface="Arial"/>
              <a:buNone/>
            </a:pPr>
            <a:r>
              <a:rPr b="0" lang="en-US" sz="1500" u="none" cap="none" strike="noStrike">
                <a:solidFill>
                  <a:srgbClr val="81D1F4"/>
                </a:solidFill>
                <a:latin typeface="Arial"/>
                <a:ea typeface="Arial"/>
                <a:cs typeface="Arial"/>
                <a:sym typeface="Arial"/>
              </a:rPr>
              <a:t>"Everyone sends emails — do something different."</a:t>
            </a:r>
            <a:endParaRPr b="0" sz="1500" u="none" cap="none" strike="noStrike">
              <a:solidFill>
                <a:srgbClr val="81D1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1" name="Google Shape;281;p13"/>
          <p:cNvGrpSpPr/>
          <p:nvPr/>
        </p:nvGrpSpPr>
        <p:grpSpPr>
          <a:xfrm>
            <a:off x="579837" y="1339104"/>
            <a:ext cx="8032425" cy="475501"/>
            <a:chOff x="540150" y="1438323"/>
            <a:chExt cx="8032425" cy="475501"/>
          </a:xfrm>
        </p:grpSpPr>
        <p:sp>
          <p:nvSpPr>
            <p:cNvPr id="282" name="Google Shape;282;p13"/>
            <p:cNvSpPr/>
            <p:nvPr/>
          </p:nvSpPr>
          <p:spPr>
            <a:xfrm>
              <a:off x="921015" y="1438324"/>
              <a:ext cx="2743200" cy="47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0F0F0"/>
                </a:buClr>
                <a:buSzPts val="15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F0F0F0"/>
                  </a:solidFill>
                  <a:latin typeface="Arial"/>
                  <a:ea typeface="Arial"/>
                  <a:cs typeface="Arial"/>
                  <a:sym typeface="Arial"/>
                </a:rPr>
                <a:t>Email outreach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13"/>
            <p:cNvSpPr/>
            <p:nvPr/>
          </p:nvSpPr>
          <p:spPr>
            <a:xfrm>
              <a:off x="3861075" y="1438323"/>
              <a:ext cx="4711500" cy="47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13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CCCCCC"/>
                  </a:solidFill>
                  <a:latin typeface="Arial"/>
                  <a:ea typeface="Arial"/>
                  <a:cs typeface="Arial"/>
                  <a:sym typeface="Arial"/>
                </a:rPr>
                <a:t>Low response rates. Cold calls and in-person </a:t>
              </a:r>
              <a:r>
                <a:rPr lang="en-US" sz="1200">
                  <a:solidFill>
                    <a:srgbClr val="CCCCCC"/>
                  </a:solidFill>
                </a:rPr>
                <a:t>outreach is</a:t>
              </a:r>
              <a:r>
                <a:rPr b="0" i="0" lang="en-US" sz="1200" u="none" cap="none" strike="noStrike">
                  <a:solidFill>
                    <a:srgbClr val="CCCCCC"/>
                  </a:solidFill>
                  <a:latin typeface="Arial"/>
                  <a:ea typeface="Arial"/>
                  <a:cs typeface="Arial"/>
                  <a:sym typeface="Arial"/>
                </a:rPr>
                <a:t> better.</a:t>
              </a:r>
              <a:endParaRPr b="0" i="0" sz="12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84" name="Google Shape;284;p13" title="Cross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40150" y="1533823"/>
              <a:ext cx="283244" cy="28450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5" name="Google Shape;285;p13"/>
          <p:cNvGrpSpPr/>
          <p:nvPr/>
        </p:nvGrpSpPr>
        <p:grpSpPr>
          <a:xfrm>
            <a:off x="579837" y="1825394"/>
            <a:ext cx="8032425" cy="475502"/>
            <a:chOff x="540150" y="1892802"/>
            <a:chExt cx="8032425" cy="475502"/>
          </a:xfrm>
        </p:grpSpPr>
        <p:sp>
          <p:nvSpPr>
            <p:cNvPr id="286" name="Google Shape;286;p13"/>
            <p:cNvSpPr/>
            <p:nvPr/>
          </p:nvSpPr>
          <p:spPr>
            <a:xfrm>
              <a:off x="921015" y="1892804"/>
              <a:ext cx="2743200" cy="47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0F0F0"/>
                </a:buClr>
                <a:buSzPts val="15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F0F0F0"/>
                  </a:solidFill>
                  <a:latin typeface="Arial"/>
                  <a:ea typeface="Arial"/>
                  <a:cs typeface="Arial"/>
                  <a:sym typeface="Arial"/>
                </a:rPr>
                <a:t>Lead generation platforms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287;p13"/>
            <p:cNvSpPr/>
            <p:nvPr/>
          </p:nvSpPr>
          <p:spPr>
            <a:xfrm>
              <a:off x="3861075" y="1892802"/>
              <a:ext cx="4711500" cy="47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13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CCCCCC"/>
                  </a:solidFill>
                  <a:latin typeface="Arial"/>
                  <a:ea typeface="Arial"/>
                  <a:cs typeface="Arial"/>
                  <a:sym typeface="Arial"/>
                </a:rPr>
                <a:t>Low pay, few leads, little support. Use to learn, not to earn.</a:t>
              </a:r>
              <a:endParaRPr b="0" i="0" sz="12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88" name="Google Shape;288;p13" title="Cross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40150" y="1988303"/>
              <a:ext cx="283244" cy="28450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9" name="Google Shape;289;p13"/>
          <p:cNvGrpSpPr/>
          <p:nvPr/>
        </p:nvGrpSpPr>
        <p:grpSpPr>
          <a:xfrm>
            <a:off x="579837" y="2311685"/>
            <a:ext cx="8032425" cy="475503"/>
            <a:chOff x="540150" y="2459721"/>
            <a:chExt cx="8032425" cy="475503"/>
          </a:xfrm>
        </p:grpSpPr>
        <p:sp>
          <p:nvSpPr>
            <p:cNvPr id="290" name="Google Shape;290;p13"/>
            <p:cNvSpPr/>
            <p:nvPr/>
          </p:nvSpPr>
          <p:spPr>
            <a:xfrm>
              <a:off x="921026" y="2459724"/>
              <a:ext cx="3070200" cy="47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0F0F0"/>
                </a:buClr>
                <a:buSzPts val="1500"/>
                <a:buFont typeface="Arial"/>
                <a:buNone/>
              </a:pPr>
              <a:r>
                <a:rPr b="1" lang="en-US" sz="1200">
                  <a:solidFill>
                    <a:srgbClr val="F0F0F0"/>
                  </a:solidFill>
                </a:rPr>
                <a:t>A lot of f</a:t>
              </a:r>
              <a:r>
                <a:rPr b="1" i="0" lang="en-US" sz="1200" u="none" cap="none" strike="noStrike">
                  <a:solidFill>
                    <a:srgbClr val="F0F0F0"/>
                  </a:solidFill>
                  <a:latin typeface="Arial"/>
                  <a:ea typeface="Arial"/>
                  <a:cs typeface="Arial"/>
                  <a:sym typeface="Arial"/>
                </a:rPr>
                <a:t>ree work to "build portfolio"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" name="Google Shape;291;p13"/>
            <p:cNvSpPr/>
            <p:nvPr/>
          </p:nvSpPr>
          <p:spPr>
            <a:xfrm>
              <a:off x="3861075" y="2459721"/>
              <a:ext cx="4711500" cy="47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1300"/>
                <a:buFont typeface="Arial"/>
                <a:buNone/>
              </a:pPr>
              <a:r>
                <a:rPr lang="en-US" sz="1200">
                  <a:solidFill>
                    <a:srgbClr val="CCCCCC"/>
                  </a:solidFill>
                </a:rPr>
                <a:t>Too much free work b</a:t>
              </a:r>
              <a:r>
                <a:rPr b="0" i="0" lang="en-US" sz="1200" u="none" cap="none" strike="noStrike">
                  <a:solidFill>
                    <a:srgbClr val="CCCCCC"/>
                  </a:solidFill>
                  <a:latin typeface="Arial"/>
                  <a:ea typeface="Arial"/>
                  <a:cs typeface="Arial"/>
                  <a:sym typeface="Arial"/>
                </a:rPr>
                <a:t>ackfires on credibility. Clients don't value what's free.</a:t>
              </a:r>
              <a:endParaRPr b="0" i="0" sz="12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92" name="Google Shape;292;p13" title="Cross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40150" y="2555223"/>
              <a:ext cx="283244" cy="28450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3" name="Google Shape;293;p13"/>
          <p:cNvGrpSpPr/>
          <p:nvPr/>
        </p:nvGrpSpPr>
        <p:grpSpPr>
          <a:xfrm>
            <a:off x="579837" y="2797977"/>
            <a:ext cx="8032425" cy="475503"/>
            <a:chOff x="540150" y="3026654"/>
            <a:chExt cx="8032425" cy="475503"/>
          </a:xfrm>
        </p:grpSpPr>
        <p:sp>
          <p:nvSpPr>
            <p:cNvPr id="294" name="Google Shape;294;p13"/>
            <p:cNvSpPr/>
            <p:nvPr/>
          </p:nvSpPr>
          <p:spPr>
            <a:xfrm>
              <a:off x="921015" y="3026658"/>
              <a:ext cx="2743200" cy="47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0F0F0"/>
                </a:buClr>
                <a:buSzPts val="15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F0F0F0"/>
                  </a:solidFill>
                  <a:latin typeface="Arial"/>
                  <a:ea typeface="Arial"/>
                  <a:cs typeface="Arial"/>
                  <a:sym typeface="Arial"/>
                </a:rPr>
                <a:t>Waiting to feel "ready"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13"/>
            <p:cNvSpPr/>
            <p:nvPr/>
          </p:nvSpPr>
          <p:spPr>
            <a:xfrm>
              <a:off x="3861075" y="3026654"/>
              <a:ext cx="4711500" cy="47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13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CCCCCC"/>
                  </a:solidFill>
                  <a:latin typeface="Arial"/>
                  <a:ea typeface="Arial"/>
                  <a:cs typeface="Arial"/>
                  <a:sym typeface="Arial"/>
                </a:rPr>
                <a:t>You'll never feel ready. Action creates confidence.</a:t>
              </a:r>
              <a:endParaRPr b="0" i="0" sz="12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96" name="Google Shape;296;p13" title="Cross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40150" y="3122157"/>
              <a:ext cx="283244" cy="28450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7" name="Google Shape;297;p13"/>
          <p:cNvGrpSpPr/>
          <p:nvPr/>
        </p:nvGrpSpPr>
        <p:grpSpPr>
          <a:xfrm>
            <a:off x="579837" y="3284269"/>
            <a:ext cx="8032425" cy="475504"/>
            <a:chOff x="540150" y="3502550"/>
            <a:chExt cx="8032425" cy="475504"/>
          </a:xfrm>
        </p:grpSpPr>
        <p:sp>
          <p:nvSpPr>
            <p:cNvPr id="298" name="Google Shape;298;p13"/>
            <p:cNvSpPr/>
            <p:nvPr/>
          </p:nvSpPr>
          <p:spPr>
            <a:xfrm>
              <a:off x="921025" y="3502554"/>
              <a:ext cx="2743200" cy="47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0F0F0"/>
                </a:buClr>
                <a:buSzPts val="1500"/>
                <a:buFont typeface="Arial"/>
                <a:buNone/>
              </a:pPr>
              <a:r>
                <a:rPr b="1" i="0" lang="en-US" sz="1200" u="none" cap="none" strike="noStrike">
                  <a:solidFill>
                    <a:srgbClr val="F0F0F0"/>
                  </a:solidFill>
                  <a:latin typeface="Arial"/>
                  <a:ea typeface="Arial"/>
                  <a:cs typeface="Arial"/>
                  <a:sym typeface="Arial"/>
                </a:rPr>
                <a:t>Over-investing in business setup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299;p13"/>
            <p:cNvSpPr/>
            <p:nvPr/>
          </p:nvSpPr>
          <p:spPr>
            <a:xfrm>
              <a:off x="3861075" y="3502550"/>
              <a:ext cx="4711500" cy="47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13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CCCCCC"/>
                  </a:solidFill>
                  <a:latin typeface="Arial"/>
                  <a:ea typeface="Arial"/>
                  <a:cs typeface="Arial"/>
                  <a:sym typeface="Arial"/>
                </a:rPr>
                <a:t>Logos, LLCs, </a:t>
              </a:r>
              <a:r>
                <a:rPr lang="en-US" sz="1200">
                  <a:solidFill>
                    <a:srgbClr val="CCCCCC"/>
                  </a:solidFill>
                </a:rPr>
                <a:t>equipment, </a:t>
              </a:r>
              <a:r>
                <a:rPr b="0" i="0" lang="en-US" sz="1200" u="none" cap="none" strike="noStrike">
                  <a:solidFill>
                    <a:srgbClr val="CCCCCC"/>
                  </a:solidFill>
                  <a:latin typeface="Arial"/>
                  <a:ea typeface="Arial"/>
                  <a:cs typeface="Arial"/>
                  <a:sym typeface="Arial"/>
                </a:rPr>
                <a:t>and websites before clients = procrastination.</a:t>
              </a:r>
              <a:endParaRPr b="0" i="0" sz="12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00" name="Google Shape;300;p13" title="Cross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40150" y="3598053"/>
              <a:ext cx="283244" cy="28450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33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0"/>
          <p:cNvSpPr/>
          <p:nvPr/>
        </p:nvSpPr>
        <p:spPr>
          <a:xfrm>
            <a:off x="560173" y="301402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E33"/>
              </a:buClr>
              <a:buSzPts val="3200"/>
              <a:buFont typeface="Arial Black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The Pricing Paradox</a:t>
            </a:r>
            <a:endParaRPr b="0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0"/>
          <p:cNvSpPr/>
          <p:nvPr/>
        </p:nvSpPr>
        <p:spPr>
          <a:xfrm>
            <a:off x="560173" y="804322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Arial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What pilots learned about pricing the hard way:</a:t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0"/>
          <p:cNvSpPr/>
          <p:nvPr/>
        </p:nvSpPr>
        <p:spPr>
          <a:xfrm>
            <a:off x="571500" y="1459374"/>
            <a:ext cx="3853200" cy="1313100"/>
          </a:xfrm>
          <a:prstGeom prst="rect">
            <a:avLst/>
          </a:prstGeom>
          <a:solidFill>
            <a:srgbClr val="212353"/>
          </a:solidFill>
          <a:ln>
            <a:noFill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0590"/>
              </a:buClr>
              <a:buSzPts val="1400"/>
              <a:buFont typeface="Arial"/>
              <a:buNone/>
            </a:pPr>
            <a:r>
              <a:rPr b="1" lang="en-US" sz="1500">
                <a:solidFill>
                  <a:srgbClr val="81D1F4"/>
                </a:solidFill>
              </a:rPr>
              <a:t>The Trap</a:t>
            </a:r>
            <a:br>
              <a:rPr b="1" i="0" lang="en-US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"Start cheap to get experience"</a:t>
            </a:r>
            <a:br>
              <a:rPr b="0" i="1" lang="en-US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Underpricing hurts YOU (hard to raise rates later) and the INDUSTRY (race to the bottom)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9" name="Google Shape;309;p20"/>
          <p:cNvGrpSpPr/>
          <p:nvPr/>
        </p:nvGrpSpPr>
        <p:grpSpPr>
          <a:xfrm>
            <a:off x="4598600" y="2623549"/>
            <a:ext cx="3973575" cy="1723800"/>
            <a:chOff x="4598600" y="2623549"/>
            <a:chExt cx="3973575" cy="1723800"/>
          </a:xfrm>
        </p:grpSpPr>
        <p:sp>
          <p:nvSpPr>
            <p:cNvPr id="310" name="Google Shape;310;p20"/>
            <p:cNvSpPr/>
            <p:nvPr/>
          </p:nvSpPr>
          <p:spPr>
            <a:xfrm>
              <a:off x="4718975" y="3011477"/>
              <a:ext cx="3853200" cy="1126200"/>
            </a:xfrm>
            <a:prstGeom prst="rect">
              <a:avLst/>
            </a:prstGeom>
            <a:solidFill>
              <a:srgbClr val="21235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0" lIns="91425" spcFirstLastPara="1" rIns="91425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ECFE5"/>
                </a:buClr>
                <a:buSzPts val="1400"/>
                <a:buFont typeface="Arial"/>
                <a:buNone/>
              </a:pPr>
              <a:r>
                <a:t/>
              </a:r>
              <a:endParaRPr b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20"/>
            <p:cNvSpPr txBox="1"/>
            <p:nvPr/>
          </p:nvSpPr>
          <p:spPr>
            <a:xfrm>
              <a:off x="4598600" y="2623549"/>
              <a:ext cx="369900" cy="17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0">
                  <a:solidFill>
                    <a:srgbClr val="004E92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“</a:t>
              </a:r>
              <a:endParaRPr sz="10000">
                <a:solidFill>
                  <a:srgbClr val="004E92"/>
                </a:solidFill>
              </a:endParaRPr>
            </a:p>
          </p:txBody>
        </p:sp>
        <p:sp>
          <p:nvSpPr>
            <p:cNvPr id="312" name="Google Shape;312;p20"/>
            <p:cNvSpPr/>
            <p:nvPr/>
          </p:nvSpPr>
          <p:spPr>
            <a:xfrm>
              <a:off x="4999725" y="3133802"/>
              <a:ext cx="3282600" cy="87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BE33"/>
                </a:buClr>
                <a:buSzPts val="1800"/>
                <a:buFont typeface="Arial"/>
                <a:buNone/>
              </a:pPr>
              <a:r>
                <a:rPr b="0" lang="en-US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"If you give it away, credibility is diminished. Don't undermine the industry."</a:t>
              </a:r>
              <a:endParaRPr b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3" name="Google Shape;313;p20"/>
          <p:cNvGrpSpPr/>
          <p:nvPr/>
        </p:nvGrpSpPr>
        <p:grpSpPr>
          <a:xfrm>
            <a:off x="560175" y="2968504"/>
            <a:ext cx="3853200" cy="1096763"/>
            <a:chOff x="4714425" y="1338547"/>
            <a:chExt cx="3853200" cy="1096763"/>
          </a:xfrm>
        </p:grpSpPr>
        <p:sp>
          <p:nvSpPr>
            <p:cNvPr id="314" name="Google Shape;314;p20"/>
            <p:cNvSpPr/>
            <p:nvPr/>
          </p:nvSpPr>
          <p:spPr>
            <a:xfrm>
              <a:off x="4714425" y="1338547"/>
              <a:ext cx="38532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398FF"/>
                </a:buClr>
                <a:buSzPts val="1300"/>
                <a:buFont typeface="Arial"/>
                <a:buNone/>
              </a:pPr>
              <a:r>
                <a:rPr b="1" i="0" lang="en-US" sz="1500" u="none" cap="none" strike="noStrike">
                  <a:solidFill>
                    <a:srgbClr val="81D1F4"/>
                  </a:solidFill>
                  <a:latin typeface="Arial"/>
                  <a:ea typeface="Arial"/>
                  <a:cs typeface="Arial"/>
                  <a:sym typeface="Arial"/>
                </a:rPr>
                <a:t>How successful pilots price:</a:t>
              </a:r>
              <a:endParaRPr b="0" i="0" sz="1500" u="none" cap="none" strike="noStrike">
                <a:solidFill>
                  <a:srgbClr val="81D1F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20"/>
            <p:cNvSpPr/>
            <p:nvPr/>
          </p:nvSpPr>
          <p:spPr>
            <a:xfrm>
              <a:off x="4714425" y="1672410"/>
              <a:ext cx="3853200" cy="76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1200"/>
                <a:buFont typeface="Arial"/>
                <a:buNone/>
              </a:pPr>
              <a:r>
                <a:rPr lang="en-US" sz="1200">
                  <a:solidFill>
                    <a:schemeClr val="lt1"/>
                  </a:solidFill>
                </a:rPr>
                <a:t>•  </a:t>
              </a:r>
              <a:r>
                <a:rPr b="0" i="0" lang="en-US" sz="1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Research competitors (29.6%)</a:t>
              </a:r>
              <a:endParaRPr sz="1200">
                <a:solidFill>
                  <a:schemeClr val="lt1"/>
                </a:solidFill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•  </a:t>
              </a:r>
              <a:r>
                <a:rPr b="0" i="0" lang="en-US" sz="1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Calculate costs + 40-60% margin (27%)</a:t>
              </a:r>
              <a:endParaRPr sz="1200">
                <a:solidFill>
                  <a:schemeClr val="lt1"/>
                </a:solidFill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•  </a:t>
              </a:r>
              <a:r>
                <a:rPr b="0" i="0" lang="en-US" sz="1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Charge by acre for mapping</a:t>
              </a:r>
              <a:endParaRPr sz="1200">
                <a:solidFill>
                  <a:schemeClr val="lt1"/>
                </a:solidFill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•  </a:t>
              </a:r>
              <a:r>
                <a:rPr b="0" i="0" lang="en-US" sz="12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Hourly + mileage</a:t>
              </a:r>
              <a:endPara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6" name="Google Shape;316;p20"/>
          <p:cNvSpPr/>
          <p:nvPr/>
        </p:nvSpPr>
        <p:spPr>
          <a:xfrm>
            <a:off x="4718975" y="1485126"/>
            <a:ext cx="3853200" cy="1287300"/>
          </a:xfrm>
          <a:prstGeom prst="rect">
            <a:avLst/>
          </a:prstGeom>
          <a:solidFill>
            <a:srgbClr val="212353"/>
          </a:solidFill>
          <a:ln>
            <a:noFill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ECFE5"/>
              </a:buClr>
              <a:buSzPts val="1400"/>
              <a:buFont typeface="Arial"/>
              <a:buNone/>
            </a:pPr>
            <a:r>
              <a:rPr b="1" lang="en-US" sz="1500">
                <a:solidFill>
                  <a:srgbClr val="F80590"/>
                </a:solidFill>
              </a:rPr>
              <a:t>The Solution</a:t>
            </a:r>
            <a:br>
              <a:rPr b="1" lang="en-US" sz="1300">
                <a:solidFill>
                  <a:schemeClr val="lt1"/>
                </a:solidFill>
              </a:rPr>
            </a:br>
            <a:r>
              <a:rPr lang="en-US" sz="1300">
                <a:solidFill>
                  <a:schemeClr val="lt1"/>
                </a:solidFill>
              </a:rPr>
              <a:t>Price fairly from day one. Add EXTRA VALUE instead. Faster delivery, bonus shots, professional communication — not discounts.</a:t>
            </a:r>
            <a:endParaRPr b="1" sz="13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33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4"/>
          <p:cNvSpPr/>
          <p:nvPr/>
        </p:nvSpPr>
        <p:spPr>
          <a:xfrm>
            <a:off x="457200" y="294164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3000"/>
              <a:buFont typeface="Arial Black"/>
              <a:buNone/>
            </a:pPr>
            <a:r>
              <a:rPr b="1" i="0" lang="en-US" sz="3600" u="none" cap="none" strike="noStrike">
                <a:solidFill>
                  <a:srgbClr val="F0F0F0"/>
                </a:solidFill>
                <a:latin typeface="Arial Black"/>
                <a:ea typeface="Arial Black"/>
                <a:cs typeface="Arial Black"/>
                <a:sym typeface="Arial Black"/>
              </a:rPr>
              <a:t>Real Stories From Real Pilots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571500" y="1020243"/>
            <a:ext cx="3856500" cy="1182900"/>
          </a:xfrm>
          <a:prstGeom prst="rect">
            <a:avLst/>
          </a:prstGeom>
          <a:solidFill>
            <a:srgbClr val="212353"/>
          </a:solidFill>
          <a:ln>
            <a:noFill/>
          </a:ln>
        </p:spPr>
        <p:txBody>
          <a:bodyPr anchorCtr="0" anchor="ctr" bIns="137150" lIns="182875" spcFirstLastPara="1" rIns="182875" wrap="square" tIns="13715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BE33"/>
              </a:buClr>
              <a:buSzPts val="1600"/>
              <a:buFont typeface="Arial"/>
              <a:buNone/>
            </a:pPr>
            <a:r>
              <a:rPr b="1" lang="en-US" sz="1800">
                <a:solidFill>
                  <a:srgbClr val="81D1F4"/>
                </a:solidFill>
              </a:rPr>
              <a:t>The Alpaca Farm</a:t>
            </a:r>
            <a:endParaRPr b="1" sz="1600">
              <a:solidFill>
                <a:srgbClr val="81D1F4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FFBE33"/>
              </a:buClr>
              <a:buSzPts val="1600"/>
              <a:buFont typeface="Arial"/>
              <a:buNone/>
            </a:pPr>
            <a:r>
              <a:rPr lang="en-US" sz="1200">
                <a:solidFill>
                  <a:schemeClr val="lt1"/>
                </a:solidFill>
              </a:rPr>
              <a:t>Said hello to neighbors after a flight. Offered a flyover in exchange for a testimonial. First client from a casual conversation.</a:t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457200" y="3918241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i="0" lang="en-US" sz="1500" u="none" cap="none" strike="noStrike">
                <a:solidFill>
                  <a:schemeClr val="lt1"/>
                </a:solidFill>
              </a:rPr>
              <a:t>The common thread? They all started before they felt ready.</a:t>
            </a:r>
            <a:endParaRPr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4"/>
          <p:cNvSpPr/>
          <p:nvPr/>
        </p:nvSpPr>
        <p:spPr>
          <a:xfrm>
            <a:off x="1371600" y="4388662"/>
            <a:ext cx="6400800" cy="369000"/>
          </a:xfrm>
          <a:prstGeom prst="rect">
            <a:avLst/>
          </a:prstGeom>
          <a:solidFill>
            <a:srgbClr val="2123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E33"/>
              </a:buClr>
              <a:buSzPts val="1800"/>
              <a:buFont typeface="Arial"/>
              <a:buNone/>
            </a:pPr>
            <a:r>
              <a:rPr b="0" lang="en-US" sz="1500" u="none" cap="none" strike="noStrike">
                <a:solidFill>
                  <a:srgbClr val="81D1F4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r>
              <a:rPr lang="en-US" sz="1500">
                <a:solidFill>
                  <a:srgbClr val="81D1F4"/>
                </a:solidFill>
              </a:rPr>
              <a:t>Your next client could be a conversation away.</a:t>
            </a:r>
            <a:r>
              <a:rPr b="0" lang="en-US" sz="1500" u="none" cap="none" strike="noStrike">
                <a:solidFill>
                  <a:srgbClr val="81D1F4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endParaRPr b="0" sz="1500" u="none" cap="none" strike="noStrike">
              <a:solidFill>
                <a:srgbClr val="81D1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4"/>
          <p:cNvSpPr/>
          <p:nvPr/>
        </p:nvSpPr>
        <p:spPr>
          <a:xfrm>
            <a:off x="4714425" y="1020243"/>
            <a:ext cx="3856500" cy="1182900"/>
          </a:xfrm>
          <a:prstGeom prst="rect">
            <a:avLst/>
          </a:prstGeom>
          <a:solidFill>
            <a:srgbClr val="212353"/>
          </a:solidFill>
          <a:ln>
            <a:noFill/>
          </a:ln>
        </p:spPr>
        <p:txBody>
          <a:bodyPr anchorCtr="0" anchor="ctr" bIns="137150" lIns="182875" spcFirstLastPara="1" rIns="182875" wrap="square" tIns="137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BE33"/>
              </a:buClr>
              <a:buSzPts val="1600"/>
              <a:buFont typeface="Arial"/>
              <a:buNone/>
            </a:pPr>
            <a:r>
              <a:rPr b="1" lang="en-US" sz="1800">
                <a:solidFill>
                  <a:srgbClr val="81D1F4"/>
                </a:solidFill>
              </a:rPr>
              <a:t>The Social Media Post</a:t>
            </a:r>
            <a:endParaRPr b="1" sz="1600">
              <a:solidFill>
                <a:srgbClr val="81D1F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FFBE33"/>
              </a:buClr>
              <a:buSzPts val="1600"/>
              <a:buFont typeface="Arial"/>
              <a:buNone/>
            </a:pPr>
            <a:r>
              <a:rPr lang="en-US" sz="1200">
                <a:solidFill>
                  <a:schemeClr val="lt1"/>
                </a:solidFill>
              </a:rPr>
              <a:t>Posted on Facebook that she was starting a drone business. A friend's coworker reached out the same week. First client.</a:t>
            </a:r>
            <a:endParaRPr b="1" sz="1500">
              <a:solidFill>
                <a:schemeClr val="lt1"/>
              </a:solidFill>
            </a:endParaRPr>
          </a:p>
        </p:txBody>
      </p:sp>
      <p:sp>
        <p:nvSpPr>
          <p:cNvPr id="327" name="Google Shape;327;p14"/>
          <p:cNvSpPr/>
          <p:nvPr/>
        </p:nvSpPr>
        <p:spPr>
          <a:xfrm>
            <a:off x="2643750" y="2415028"/>
            <a:ext cx="3856500" cy="1355400"/>
          </a:xfrm>
          <a:prstGeom prst="rect">
            <a:avLst/>
          </a:prstGeom>
          <a:solidFill>
            <a:srgbClr val="212353"/>
          </a:solidFill>
          <a:ln>
            <a:noFill/>
          </a:ln>
        </p:spPr>
        <p:txBody>
          <a:bodyPr anchorCtr="0" anchor="ctr" bIns="137150" lIns="182875" spcFirstLastPara="1" rIns="182875" wrap="square" tIns="1371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BE33"/>
              </a:buClr>
              <a:buSzPts val="1600"/>
              <a:buFont typeface="Arial"/>
              <a:buNone/>
            </a:pPr>
            <a:r>
              <a:rPr b="1" lang="en-US" sz="1800">
                <a:solidFill>
                  <a:srgbClr val="81D1F4"/>
                </a:solidFill>
              </a:rPr>
              <a:t>The Theme Park Gig</a:t>
            </a:r>
            <a:endParaRPr b="1" sz="1600">
              <a:solidFill>
                <a:srgbClr val="81D1F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1500"/>
              </a:spcAft>
              <a:buClr>
                <a:srgbClr val="FFBE33"/>
              </a:buClr>
              <a:buSzPts val="1600"/>
              <a:buFont typeface="Arial"/>
              <a:buNone/>
            </a:pPr>
            <a:r>
              <a:rPr lang="en-US" sz="1200">
                <a:solidFill>
                  <a:schemeClr val="lt1"/>
                </a:solidFill>
              </a:rPr>
              <a:t>Got hired for animatronic drone work right after renewing certification. Dream job found him because he put himself out there.</a:t>
            </a:r>
            <a:endParaRPr b="1" sz="15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33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5"/>
          <p:cNvSpPr/>
          <p:nvPr/>
        </p:nvSpPr>
        <p:spPr>
          <a:xfrm>
            <a:off x="539321" y="769368"/>
            <a:ext cx="3379200" cy="14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2800"/>
              <a:buFont typeface="Arial Black"/>
              <a:buNone/>
            </a:pPr>
            <a:r>
              <a:rPr b="1" i="0" lang="en-US" sz="3600" u="none" cap="none" strike="noStrike">
                <a:solidFill>
                  <a:srgbClr val="F0F0F0"/>
                </a:solidFill>
                <a:latin typeface="Arial Black"/>
                <a:ea typeface="Arial Black"/>
                <a:cs typeface="Arial Black"/>
                <a:sym typeface="Arial Black"/>
              </a:rPr>
              <a:t>What Pilots Wish They Knew Sooner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5"/>
          <p:cNvSpPr/>
          <p:nvPr/>
        </p:nvSpPr>
        <p:spPr>
          <a:xfrm>
            <a:off x="4227521" y="843471"/>
            <a:ext cx="3276300" cy="1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Ranked by how often pilots mentioned it:</a:t>
            </a:r>
            <a:endParaRPr b="0" i="0" sz="1400" u="none" cap="none" strike="noStrik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5" name="Google Shape;335;p15"/>
          <p:cNvGrpSpPr/>
          <p:nvPr/>
        </p:nvGrpSpPr>
        <p:grpSpPr>
          <a:xfrm>
            <a:off x="4227530" y="1224105"/>
            <a:ext cx="4389991" cy="347400"/>
            <a:chOff x="4227530" y="1224105"/>
            <a:chExt cx="4389991" cy="347400"/>
          </a:xfrm>
        </p:grpSpPr>
        <p:sp>
          <p:nvSpPr>
            <p:cNvPr id="336" name="Google Shape;336;p15"/>
            <p:cNvSpPr/>
            <p:nvPr/>
          </p:nvSpPr>
          <p:spPr>
            <a:xfrm>
              <a:off x="4227530" y="1246148"/>
              <a:ext cx="319500" cy="303300"/>
            </a:xfrm>
            <a:prstGeom prst="rect">
              <a:avLst/>
            </a:prstGeom>
            <a:solidFill>
              <a:srgbClr val="2398FF"/>
            </a:solidFill>
            <a:ln>
              <a:noFill/>
            </a:ln>
          </p:spPr>
          <p:txBody>
            <a:bodyPr anchorCtr="0" anchor="ctr" bIns="39925" lIns="79850" spcFirstLastPara="1" rIns="79850" wrap="square" tIns="399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33"/>
                </a:buClr>
                <a:buSzPts val="1223"/>
                <a:buFont typeface="Arial Black"/>
                <a:buNone/>
              </a:pPr>
              <a:r>
                <a:rPr b="1" i="0" lang="en-US" sz="1222" u="none" cap="none" strike="noStrike">
                  <a:solidFill>
                    <a:srgbClr val="F0F0F0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</a:t>
              </a:r>
              <a:endParaRPr b="0" i="0" sz="1222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15"/>
            <p:cNvSpPr/>
            <p:nvPr/>
          </p:nvSpPr>
          <p:spPr>
            <a:xfrm>
              <a:off x="5505621" y="1224105"/>
              <a:ext cx="3111900" cy="34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0F0F0"/>
                </a:buClr>
                <a:buSzPts val="1400"/>
                <a:buFont typeface="Arial"/>
                <a:buNone/>
              </a:pPr>
              <a:r>
                <a:rPr b="0" i="0" lang="en-US" sz="1500" u="none" cap="none" strike="noStrike">
                  <a:solidFill>
                    <a:srgbClr val="F0F0F0"/>
                  </a:solidFill>
                  <a:latin typeface="Arial"/>
                  <a:ea typeface="Arial"/>
                  <a:cs typeface="Arial"/>
                  <a:sym typeface="Arial"/>
                </a:rPr>
                <a:t>Get Part 107 certification sooner</a:t>
              </a:r>
              <a:endPara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15"/>
            <p:cNvSpPr/>
            <p:nvPr/>
          </p:nvSpPr>
          <p:spPr>
            <a:xfrm>
              <a:off x="4699322" y="1238198"/>
              <a:ext cx="654000" cy="3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BE33"/>
                </a:buClr>
                <a:buSzPts val="1400"/>
                <a:buFont typeface="Arial Black"/>
                <a:buNone/>
              </a:pPr>
              <a:r>
                <a:rPr b="1" i="0" lang="en-US" sz="1700" u="none" cap="none" strike="noStrike">
                  <a:solidFill>
                    <a:srgbClr val="81D1F4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15%</a:t>
              </a:r>
              <a:endParaRPr i="0" sz="1700" u="none" cap="none" strike="noStrike">
                <a:solidFill>
                  <a:srgbClr val="81D1F4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</p:grpSp>
      <p:grpSp>
        <p:nvGrpSpPr>
          <p:cNvPr id="339" name="Google Shape;339;p15"/>
          <p:cNvGrpSpPr/>
          <p:nvPr/>
        </p:nvGrpSpPr>
        <p:grpSpPr>
          <a:xfrm>
            <a:off x="4227530" y="1615475"/>
            <a:ext cx="4389991" cy="347400"/>
            <a:chOff x="4227530" y="1615475"/>
            <a:chExt cx="4389991" cy="347400"/>
          </a:xfrm>
        </p:grpSpPr>
        <p:sp>
          <p:nvSpPr>
            <p:cNvPr id="340" name="Google Shape;340;p15"/>
            <p:cNvSpPr/>
            <p:nvPr/>
          </p:nvSpPr>
          <p:spPr>
            <a:xfrm>
              <a:off x="4227530" y="1637519"/>
              <a:ext cx="319500" cy="303300"/>
            </a:xfrm>
            <a:prstGeom prst="rect">
              <a:avLst/>
            </a:prstGeom>
            <a:solidFill>
              <a:srgbClr val="2398FF"/>
            </a:solidFill>
            <a:ln>
              <a:noFill/>
            </a:ln>
          </p:spPr>
          <p:txBody>
            <a:bodyPr anchorCtr="0" anchor="ctr" bIns="39925" lIns="79850" spcFirstLastPara="1" rIns="79850" wrap="square" tIns="399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33"/>
                </a:buClr>
                <a:buSzPts val="1223"/>
                <a:buFont typeface="Arial Black"/>
                <a:buNone/>
              </a:pPr>
              <a:r>
                <a:rPr b="1" i="0" lang="en-US" sz="1222" u="none" cap="none" strike="noStrike">
                  <a:solidFill>
                    <a:srgbClr val="F0F0F0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2</a:t>
              </a:r>
              <a:endParaRPr b="0" i="0" sz="1222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15"/>
            <p:cNvSpPr/>
            <p:nvPr/>
          </p:nvSpPr>
          <p:spPr>
            <a:xfrm>
              <a:off x="5505621" y="1615475"/>
              <a:ext cx="3111900" cy="34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0F0F0"/>
                </a:buClr>
                <a:buSzPts val="1400"/>
                <a:buFont typeface="Arial"/>
                <a:buNone/>
              </a:pPr>
              <a:r>
                <a:rPr b="0" i="0" lang="en-US" sz="1500" u="none" cap="none" strike="noStrike">
                  <a:solidFill>
                    <a:srgbClr val="F0F0F0"/>
                  </a:solidFill>
                  <a:latin typeface="Arial"/>
                  <a:ea typeface="Arial"/>
                  <a:cs typeface="Arial"/>
                  <a:sym typeface="Arial"/>
                </a:rPr>
                <a:t>Network more / Network earlier</a:t>
              </a:r>
              <a:endPara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15"/>
            <p:cNvSpPr/>
            <p:nvPr/>
          </p:nvSpPr>
          <p:spPr>
            <a:xfrm>
              <a:off x="4699322" y="1629569"/>
              <a:ext cx="654000" cy="3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BE33"/>
                </a:buClr>
                <a:buSzPts val="1400"/>
                <a:buFont typeface="Arial Black"/>
                <a:buNone/>
              </a:pPr>
              <a:r>
                <a:rPr b="1" i="0" lang="en-US" sz="1700" u="none" cap="none" strike="noStrike">
                  <a:solidFill>
                    <a:srgbClr val="81D1F4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13%</a:t>
              </a:r>
              <a:endParaRPr i="0" sz="1700" u="none" cap="none" strike="noStrike">
                <a:solidFill>
                  <a:srgbClr val="81D1F4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</p:grpSp>
      <p:grpSp>
        <p:nvGrpSpPr>
          <p:cNvPr id="343" name="Google Shape;343;p15"/>
          <p:cNvGrpSpPr/>
          <p:nvPr/>
        </p:nvGrpSpPr>
        <p:grpSpPr>
          <a:xfrm>
            <a:off x="4227530" y="2006845"/>
            <a:ext cx="4389991" cy="347400"/>
            <a:chOff x="4227530" y="2006845"/>
            <a:chExt cx="4389991" cy="347400"/>
          </a:xfrm>
        </p:grpSpPr>
        <p:sp>
          <p:nvSpPr>
            <p:cNvPr id="344" name="Google Shape;344;p15"/>
            <p:cNvSpPr/>
            <p:nvPr/>
          </p:nvSpPr>
          <p:spPr>
            <a:xfrm>
              <a:off x="4227530" y="2028890"/>
              <a:ext cx="319500" cy="303300"/>
            </a:xfrm>
            <a:prstGeom prst="rect">
              <a:avLst/>
            </a:prstGeom>
            <a:solidFill>
              <a:srgbClr val="2398FF"/>
            </a:solidFill>
            <a:ln>
              <a:noFill/>
            </a:ln>
          </p:spPr>
          <p:txBody>
            <a:bodyPr anchorCtr="0" anchor="ctr" bIns="39925" lIns="79850" spcFirstLastPara="1" rIns="79850" wrap="square" tIns="399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33"/>
                </a:buClr>
                <a:buSzPts val="1223"/>
                <a:buFont typeface="Arial Black"/>
                <a:buNone/>
              </a:pPr>
              <a:r>
                <a:rPr b="1" i="0" lang="en-US" sz="1222" u="none" cap="none" strike="noStrike">
                  <a:solidFill>
                    <a:srgbClr val="F0F0F0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3</a:t>
              </a:r>
              <a:endParaRPr b="0" i="0" sz="1222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15"/>
            <p:cNvSpPr/>
            <p:nvPr/>
          </p:nvSpPr>
          <p:spPr>
            <a:xfrm>
              <a:off x="5505621" y="2006845"/>
              <a:ext cx="3111900" cy="34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0F0F0"/>
                </a:buClr>
                <a:buSzPts val="1400"/>
                <a:buFont typeface="Arial"/>
                <a:buNone/>
              </a:pPr>
              <a:r>
                <a:rPr b="0" i="0" lang="en-US" sz="1500" u="none" cap="none" strike="noStrike">
                  <a:solidFill>
                    <a:srgbClr val="F0F0F0"/>
                  </a:solidFill>
                  <a:latin typeface="Arial"/>
                  <a:ea typeface="Arial"/>
                  <a:cs typeface="Arial"/>
                  <a:sym typeface="Arial"/>
                </a:rPr>
                <a:t>Don't underprice / Know your worth</a:t>
              </a:r>
              <a:endPara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15"/>
            <p:cNvSpPr/>
            <p:nvPr/>
          </p:nvSpPr>
          <p:spPr>
            <a:xfrm>
              <a:off x="4699322" y="2020940"/>
              <a:ext cx="654000" cy="3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BE33"/>
                </a:buClr>
                <a:buSzPts val="1400"/>
                <a:buFont typeface="Arial Black"/>
                <a:buNone/>
              </a:pPr>
              <a:r>
                <a:rPr b="1" i="0" lang="en-US" sz="1700" u="none" cap="none" strike="noStrike">
                  <a:solidFill>
                    <a:srgbClr val="81D1F4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12%</a:t>
              </a:r>
              <a:endParaRPr i="0" sz="1700" u="none" cap="none" strike="noStrike">
                <a:solidFill>
                  <a:srgbClr val="81D1F4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</p:grpSp>
      <p:grpSp>
        <p:nvGrpSpPr>
          <p:cNvPr id="347" name="Google Shape;347;p15"/>
          <p:cNvGrpSpPr/>
          <p:nvPr/>
        </p:nvGrpSpPr>
        <p:grpSpPr>
          <a:xfrm>
            <a:off x="4227530" y="2398215"/>
            <a:ext cx="4389991" cy="347400"/>
            <a:chOff x="4227530" y="2398215"/>
            <a:chExt cx="4389991" cy="347400"/>
          </a:xfrm>
        </p:grpSpPr>
        <p:sp>
          <p:nvSpPr>
            <p:cNvPr id="348" name="Google Shape;348;p15"/>
            <p:cNvSpPr/>
            <p:nvPr/>
          </p:nvSpPr>
          <p:spPr>
            <a:xfrm>
              <a:off x="4227530" y="2420261"/>
              <a:ext cx="319500" cy="303300"/>
            </a:xfrm>
            <a:prstGeom prst="rect">
              <a:avLst/>
            </a:prstGeom>
            <a:solidFill>
              <a:srgbClr val="212353"/>
            </a:solidFill>
            <a:ln>
              <a:noFill/>
            </a:ln>
          </p:spPr>
          <p:txBody>
            <a:bodyPr anchorCtr="0" anchor="ctr" bIns="39925" lIns="79850" spcFirstLastPara="1" rIns="79850" wrap="square" tIns="399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0F0F0"/>
                </a:buClr>
                <a:buSzPts val="1223"/>
                <a:buFont typeface="Arial Black"/>
                <a:buNone/>
              </a:pPr>
              <a:r>
                <a:rPr b="1" i="0" lang="en-US" sz="1222" u="none" cap="none" strike="noStrike">
                  <a:solidFill>
                    <a:srgbClr val="F0F0F0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4</a:t>
              </a:r>
              <a:endParaRPr b="0" i="0" sz="122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15"/>
            <p:cNvSpPr/>
            <p:nvPr/>
          </p:nvSpPr>
          <p:spPr>
            <a:xfrm>
              <a:off x="5505621" y="2398215"/>
              <a:ext cx="3111900" cy="34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0F0F0"/>
                </a:buClr>
                <a:buSzPts val="1400"/>
                <a:buFont typeface="Arial"/>
                <a:buNone/>
              </a:pPr>
              <a:r>
                <a:rPr b="0" i="0" lang="en-US" sz="1500" u="none" cap="none" strike="noStrike">
                  <a:solidFill>
                    <a:srgbClr val="F0F0F0"/>
                  </a:solidFill>
                  <a:latin typeface="Arial"/>
                  <a:ea typeface="Arial"/>
                  <a:cs typeface="Arial"/>
                  <a:sym typeface="Arial"/>
                </a:rPr>
                <a:t>Build portfolio before seeking clients</a:t>
              </a:r>
              <a:endPara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15"/>
            <p:cNvSpPr/>
            <p:nvPr/>
          </p:nvSpPr>
          <p:spPr>
            <a:xfrm>
              <a:off x="4699322" y="2412311"/>
              <a:ext cx="654000" cy="3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1400"/>
                <a:buFont typeface="Arial Black"/>
                <a:buNone/>
              </a:pPr>
              <a:r>
                <a:rPr b="1" i="0" lang="en-US" sz="1700" u="none" cap="none" strike="noStrike">
                  <a:solidFill>
                    <a:srgbClr val="94A3B8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11%</a:t>
              </a:r>
              <a:endParaRPr i="0" sz="17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</p:grpSp>
      <p:grpSp>
        <p:nvGrpSpPr>
          <p:cNvPr id="351" name="Google Shape;351;p15"/>
          <p:cNvGrpSpPr/>
          <p:nvPr/>
        </p:nvGrpSpPr>
        <p:grpSpPr>
          <a:xfrm>
            <a:off x="4227530" y="2789585"/>
            <a:ext cx="4389991" cy="347400"/>
            <a:chOff x="4227530" y="2789585"/>
            <a:chExt cx="4389991" cy="347400"/>
          </a:xfrm>
        </p:grpSpPr>
        <p:sp>
          <p:nvSpPr>
            <p:cNvPr id="352" name="Google Shape;352;p15"/>
            <p:cNvSpPr/>
            <p:nvPr/>
          </p:nvSpPr>
          <p:spPr>
            <a:xfrm>
              <a:off x="4227530" y="2811632"/>
              <a:ext cx="319500" cy="303300"/>
            </a:xfrm>
            <a:prstGeom prst="rect">
              <a:avLst/>
            </a:prstGeom>
            <a:solidFill>
              <a:srgbClr val="212353"/>
            </a:solidFill>
            <a:ln>
              <a:noFill/>
            </a:ln>
          </p:spPr>
          <p:txBody>
            <a:bodyPr anchorCtr="0" anchor="ctr" bIns="39925" lIns="79850" spcFirstLastPara="1" rIns="79850" wrap="square" tIns="399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0F0F0"/>
                </a:buClr>
                <a:buSzPts val="1223"/>
                <a:buFont typeface="Arial Black"/>
                <a:buNone/>
              </a:pPr>
              <a:r>
                <a:rPr b="1" i="0" lang="en-US" sz="1222" u="none" cap="none" strike="noStrike">
                  <a:solidFill>
                    <a:srgbClr val="F0F0F0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5</a:t>
              </a:r>
              <a:endParaRPr b="0" i="0" sz="122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15"/>
            <p:cNvSpPr/>
            <p:nvPr/>
          </p:nvSpPr>
          <p:spPr>
            <a:xfrm>
              <a:off x="5505621" y="2789585"/>
              <a:ext cx="3111900" cy="34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0F0F0"/>
                </a:buClr>
                <a:buSzPts val="1400"/>
                <a:buFont typeface="Arial"/>
                <a:buNone/>
              </a:pPr>
              <a:r>
                <a:rPr b="0" i="0" lang="en-US" sz="1500" u="none" cap="none" strike="noStrike">
                  <a:solidFill>
                    <a:srgbClr val="F0F0F0"/>
                  </a:solidFill>
                  <a:latin typeface="Arial"/>
                  <a:ea typeface="Arial"/>
                  <a:cs typeface="Arial"/>
                  <a:sym typeface="Arial"/>
                </a:rPr>
                <a:t>More outreach / Cold calling</a:t>
              </a:r>
              <a:endPara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15"/>
            <p:cNvSpPr/>
            <p:nvPr/>
          </p:nvSpPr>
          <p:spPr>
            <a:xfrm>
              <a:off x="4699322" y="2803682"/>
              <a:ext cx="654000" cy="3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1400"/>
                <a:buFont typeface="Arial Black"/>
                <a:buNone/>
              </a:pPr>
              <a:r>
                <a:rPr b="1" i="0" lang="en-US" sz="1700" u="none" cap="none" strike="noStrike">
                  <a:solidFill>
                    <a:srgbClr val="94A3B8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10%</a:t>
              </a:r>
              <a:endParaRPr i="0" sz="17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</p:grpSp>
      <p:grpSp>
        <p:nvGrpSpPr>
          <p:cNvPr id="355" name="Google Shape;355;p15"/>
          <p:cNvGrpSpPr/>
          <p:nvPr/>
        </p:nvGrpSpPr>
        <p:grpSpPr>
          <a:xfrm>
            <a:off x="4227530" y="3180955"/>
            <a:ext cx="4389991" cy="347400"/>
            <a:chOff x="4227530" y="3180955"/>
            <a:chExt cx="4389991" cy="347400"/>
          </a:xfrm>
        </p:grpSpPr>
        <p:sp>
          <p:nvSpPr>
            <p:cNvPr id="356" name="Google Shape;356;p15"/>
            <p:cNvSpPr/>
            <p:nvPr/>
          </p:nvSpPr>
          <p:spPr>
            <a:xfrm>
              <a:off x="4227530" y="3203003"/>
              <a:ext cx="319500" cy="303300"/>
            </a:xfrm>
            <a:prstGeom prst="rect">
              <a:avLst/>
            </a:prstGeom>
            <a:solidFill>
              <a:srgbClr val="212353"/>
            </a:solidFill>
            <a:ln>
              <a:noFill/>
            </a:ln>
          </p:spPr>
          <p:txBody>
            <a:bodyPr anchorCtr="0" anchor="ctr" bIns="39925" lIns="79850" spcFirstLastPara="1" rIns="79850" wrap="square" tIns="399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0F0F0"/>
                </a:buClr>
                <a:buSzPts val="1223"/>
                <a:buFont typeface="Arial Black"/>
                <a:buNone/>
              </a:pPr>
              <a:r>
                <a:rPr b="1" i="0" lang="en-US" sz="1222" u="none" cap="none" strike="noStrike">
                  <a:solidFill>
                    <a:srgbClr val="F0F0F0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6</a:t>
              </a:r>
              <a:endParaRPr b="0" i="0" sz="122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15"/>
            <p:cNvSpPr/>
            <p:nvPr/>
          </p:nvSpPr>
          <p:spPr>
            <a:xfrm>
              <a:off x="5505621" y="3180955"/>
              <a:ext cx="3111900" cy="34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0F0F0"/>
                </a:buClr>
                <a:buSzPts val="1400"/>
                <a:buFont typeface="Arial"/>
                <a:buNone/>
              </a:pPr>
              <a:r>
                <a:rPr b="0" i="0" lang="en-US" sz="1500" u="none" cap="none" strike="noStrike">
                  <a:solidFill>
                    <a:srgbClr val="F0F0F0"/>
                  </a:solidFill>
                  <a:latin typeface="Arial"/>
                  <a:ea typeface="Arial"/>
                  <a:cs typeface="Arial"/>
                  <a:sym typeface="Arial"/>
                </a:rPr>
                <a:t>Practice, practice, practice</a:t>
              </a:r>
              <a:endPara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Google Shape;358;p15"/>
            <p:cNvSpPr/>
            <p:nvPr/>
          </p:nvSpPr>
          <p:spPr>
            <a:xfrm>
              <a:off x="4699322" y="3195053"/>
              <a:ext cx="654000" cy="3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1400"/>
                <a:buFont typeface="Arial Black"/>
                <a:buNone/>
              </a:pPr>
              <a:r>
                <a:rPr b="1" i="0" lang="en-US" sz="1700" u="none" cap="none" strike="noStrike">
                  <a:solidFill>
                    <a:srgbClr val="94A3B8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8%</a:t>
              </a:r>
              <a:endParaRPr i="0" sz="17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</p:grpSp>
      <p:grpSp>
        <p:nvGrpSpPr>
          <p:cNvPr id="359" name="Google Shape;359;p15"/>
          <p:cNvGrpSpPr/>
          <p:nvPr/>
        </p:nvGrpSpPr>
        <p:grpSpPr>
          <a:xfrm>
            <a:off x="4227530" y="3572325"/>
            <a:ext cx="4389991" cy="347400"/>
            <a:chOff x="4227530" y="3572325"/>
            <a:chExt cx="4389991" cy="347400"/>
          </a:xfrm>
        </p:grpSpPr>
        <p:sp>
          <p:nvSpPr>
            <p:cNvPr id="360" name="Google Shape;360;p15"/>
            <p:cNvSpPr/>
            <p:nvPr/>
          </p:nvSpPr>
          <p:spPr>
            <a:xfrm>
              <a:off x="4227530" y="3594374"/>
              <a:ext cx="319500" cy="303300"/>
            </a:xfrm>
            <a:prstGeom prst="rect">
              <a:avLst/>
            </a:prstGeom>
            <a:solidFill>
              <a:srgbClr val="212353"/>
            </a:solidFill>
            <a:ln>
              <a:noFill/>
            </a:ln>
          </p:spPr>
          <p:txBody>
            <a:bodyPr anchorCtr="0" anchor="ctr" bIns="39925" lIns="79850" spcFirstLastPara="1" rIns="79850" wrap="square" tIns="399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0F0F0"/>
                </a:buClr>
                <a:buSzPts val="1223"/>
                <a:buFont typeface="Arial Black"/>
                <a:buNone/>
              </a:pPr>
              <a:r>
                <a:rPr b="1" i="0" lang="en-US" sz="1222" u="none" cap="none" strike="noStrike">
                  <a:solidFill>
                    <a:srgbClr val="F0F0F0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7</a:t>
              </a:r>
              <a:endParaRPr b="0" i="0" sz="122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p15"/>
            <p:cNvSpPr/>
            <p:nvPr/>
          </p:nvSpPr>
          <p:spPr>
            <a:xfrm>
              <a:off x="5505621" y="3572325"/>
              <a:ext cx="3111900" cy="34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0F0F0"/>
                </a:buClr>
                <a:buSzPts val="1400"/>
                <a:buFont typeface="Arial"/>
                <a:buNone/>
              </a:pPr>
              <a:r>
                <a:rPr b="0" i="0" lang="en-US" sz="1500" u="none" cap="none" strike="noStrike">
                  <a:solidFill>
                    <a:srgbClr val="F0F0F0"/>
                  </a:solidFill>
                  <a:latin typeface="Arial"/>
                  <a:ea typeface="Arial"/>
                  <a:cs typeface="Arial"/>
                  <a:sym typeface="Arial"/>
                </a:rPr>
                <a:t>Better marketing / Social media</a:t>
              </a:r>
              <a:endPara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362;p15"/>
            <p:cNvSpPr/>
            <p:nvPr/>
          </p:nvSpPr>
          <p:spPr>
            <a:xfrm>
              <a:off x="4699322" y="3586424"/>
              <a:ext cx="654000" cy="3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1400"/>
                <a:buFont typeface="Arial Black"/>
                <a:buNone/>
              </a:pPr>
              <a:r>
                <a:rPr b="1" i="0" lang="en-US" sz="1700" u="none" cap="none" strike="noStrike">
                  <a:solidFill>
                    <a:srgbClr val="94A3B8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8%</a:t>
              </a:r>
              <a:endParaRPr i="0" sz="17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</p:grpSp>
      <p:grpSp>
        <p:nvGrpSpPr>
          <p:cNvPr id="363" name="Google Shape;363;p15"/>
          <p:cNvGrpSpPr/>
          <p:nvPr/>
        </p:nvGrpSpPr>
        <p:grpSpPr>
          <a:xfrm>
            <a:off x="4227530" y="3963695"/>
            <a:ext cx="4389991" cy="347400"/>
            <a:chOff x="4227530" y="3963695"/>
            <a:chExt cx="4389991" cy="347400"/>
          </a:xfrm>
        </p:grpSpPr>
        <p:sp>
          <p:nvSpPr>
            <p:cNvPr id="364" name="Google Shape;364;p15"/>
            <p:cNvSpPr/>
            <p:nvPr/>
          </p:nvSpPr>
          <p:spPr>
            <a:xfrm>
              <a:off x="4227530" y="3985745"/>
              <a:ext cx="319500" cy="303300"/>
            </a:xfrm>
            <a:prstGeom prst="rect">
              <a:avLst/>
            </a:prstGeom>
            <a:solidFill>
              <a:srgbClr val="212353"/>
            </a:solidFill>
            <a:ln>
              <a:noFill/>
            </a:ln>
          </p:spPr>
          <p:txBody>
            <a:bodyPr anchorCtr="0" anchor="ctr" bIns="39925" lIns="79850" spcFirstLastPara="1" rIns="79850" wrap="square" tIns="399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0F0F0"/>
                </a:buClr>
                <a:buSzPts val="1223"/>
                <a:buFont typeface="Arial Black"/>
                <a:buNone/>
              </a:pPr>
              <a:r>
                <a:rPr b="1" i="0" lang="en-US" sz="1222" u="none" cap="none" strike="noStrike">
                  <a:solidFill>
                    <a:srgbClr val="F0F0F0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8</a:t>
              </a:r>
              <a:endParaRPr b="0" i="0" sz="122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15"/>
            <p:cNvSpPr/>
            <p:nvPr/>
          </p:nvSpPr>
          <p:spPr>
            <a:xfrm>
              <a:off x="5505621" y="3963695"/>
              <a:ext cx="3111900" cy="34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0F0F0"/>
                </a:buClr>
                <a:buSzPts val="1400"/>
                <a:buFont typeface="Arial"/>
                <a:buNone/>
              </a:pPr>
              <a:r>
                <a:rPr b="0" i="0" lang="en-US" sz="1500" u="none" cap="none" strike="noStrike">
                  <a:solidFill>
                    <a:srgbClr val="F0F0F0"/>
                  </a:solidFill>
                  <a:latin typeface="Arial"/>
                  <a:ea typeface="Arial"/>
                  <a:cs typeface="Arial"/>
                  <a:sym typeface="Arial"/>
                </a:rPr>
                <a:t>Be confident / Stop hesitating</a:t>
              </a:r>
              <a:endPara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15"/>
            <p:cNvSpPr/>
            <p:nvPr/>
          </p:nvSpPr>
          <p:spPr>
            <a:xfrm>
              <a:off x="4699322" y="3977795"/>
              <a:ext cx="654000" cy="3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1400"/>
                <a:buFont typeface="Arial Black"/>
                <a:buNone/>
              </a:pPr>
              <a:r>
                <a:rPr b="1" i="0" lang="en-US" sz="1700" u="none" cap="none" strike="noStrike">
                  <a:solidFill>
                    <a:srgbClr val="94A3B8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6%</a:t>
              </a:r>
              <a:endParaRPr i="0" sz="17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</p:grpSp>
      <p:sp>
        <p:nvSpPr>
          <p:cNvPr id="367" name="Google Shape;367;p15"/>
          <p:cNvSpPr/>
          <p:nvPr/>
        </p:nvSpPr>
        <p:spPr>
          <a:xfrm>
            <a:off x="577936" y="2626176"/>
            <a:ext cx="3012300" cy="1665600"/>
          </a:xfrm>
          <a:prstGeom prst="rect">
            <a:avLst/>
          </a:prstGeom>
          <a:solidFill>
            <a:srgbClr val="212353"/>
          </a:solidFill>
          <a:ln>
            <a:noFill/>
          </a:ln>
        </p:spPr>
        <p:txBody>
          <a:bodyPr anchorCtr="0" anchor="ctr" bIns="45700" lIns="274300" spcFirstLastPara="1" rIns="2743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98FF"/>
              </a:buClr>
              <a:buSzPts val="1500"/>
              <a:buFont typeface="Arial"/>
              <a:buNone/>
            </a:pPr>
            <a:r>
              <a:rPr b="0" lang="en-US" sz="1800" u="none" cap="none" strike="noStrike">
                <a:solidFill>
                  <a:srgbClr val="81D1F4"/>
                </a:solidFill>
                <a:latin typeface="Arial"/>
                <a:ea typeface="Arial"/>
                <a:cs typeface="Arial"/>
                <a:sym typeface="Arial"/>
              </a:rPr>
              <a:t>"I should have gotten Part 107 sooner" — mentioned more than any other advice.</a:t>
            </a:r>
            <a:endParaRPr b="0" sz="1800" u="none" cap="none" strike="noStrike">
              <a:solidFill>
                <a:srgbClr val="81D1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33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6"/>
          <p:cNvSpPr/>
          <p:nvPr/>
        </p:nvSpPr>
        <p:spPr>
          <a:xfrm>
            <a:off x="566609" y="300063"/>
            <a:ext cx="8229600" cy="502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3200"/>
              <a:buFont typeface="Arial Black"/>
              <a:buNone/>
            </a:pPr>
            <a:r>
              <a:rPr b="1" i="0" lang="en-US" sz="3600" u="none" cap="none" strike="noStrike">
                <a:solidFill>
                  <a:srgbClr val="F0F0F0"/>
                </a:solidFill>
                <a:latin typeface="Arial Black"/>
                <a:ea typeface="Arial Black"/>
                <a:cs typeface="Arial Black"/>
                <a:sym typeface="Arial Black"/>
              </a:rPr>
              <a:t>You Don't Need Fancy Gear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6"/>
          <p:cNvSpPr/>
          <p:nvPr/>
        </p:nvSpPr>
        <p:spPr>
          <a:xfrm>
            <a:off x="566609" y="790112"/>
            <a:ext cx="8229600" cy="320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Arial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What equipment are pilots actually using on their first job?</a:t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6"/>
          <p:cNvSpPr/>
          <p:nvPr/>
        </p:nvSpPr>
        <p:spPr>
          <a:xfrm>
            <a:off x="579459" y="1509032"/>
            <a:ext cx="1839000" cy="186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98FF"/>
              </a:buClr>
              <a:buSzPts val="1400"/>
              <a:buFont typeface="Arial"/>
              <a:buNone/>
            </a:pPr>
            <a:r>
              <a:rPr b="1" i="0" lang="en-US" sz="1500" u="none" cap="none" strike="noStrike">
                <a:solidFill>
                  <a:srgbClr val="81D1F4"/>
                </a:solidFill>
                <a:latin typeface="Arial"/>
                <a:ea typeface="Arial"/>
                <a:cs typeface="Arial"/>
                <a:sym typeface="Arial"/>
              </a:rPr>
              <a:t>Standard Prosumer</a:t>
            </a:r>
            <a:endParaRPr b="0" i="0" sz="1500" u="none" cap="none" strike="noStrike">
              <a:solidFill>
                <a:srgbClr val="81D1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6"/>
          <p:cNvSpPr/>
          <p:nvPr/>
        </p:nvSpPr>
        <p:spPr>
          <a:xfrm>
            <a:off x="579459" y="1742150"/>
            <a:ext cx="1839000" cy="159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Mavic, Phantom, Autel Evo</a:t>
            </a:r>
            <a:endParaRPr b="0" i="0" sz="1100" u="none" cap="none" strike="noStrik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7" name="Google Shape;377;p16"/>
          <p:cNvGrpSpPr/>
          <p:nvPr/>
        </p:nvGrpSpPr>
        <p:grpSpPr>
          <a:xfrm>
            <a:off x="2510825" y="1476800"/>
            <a:ext cx="3513701" cy="457200"/>
            <a:chOff x="2510825" y="1476800"/>
            <a:chExt cx="3513701" cy="457200"/>
          </a:xfrm>
        </p:grpSpPr>
        <p:sp>
          <p:nvSpPr>
            <p:cNvPr id="378" name="Google Shape;378;p16"/>
            <p:cNvSpPr/>
            <p:nvPr/>
          </p:nvSpPr>
          <p:spPr>
            <a:xfrm>
              <a:off x="2510825" y="1476800"/>
              <a:ext cx="3415200" cy="457200"/>
            </a:xfrm>
            <a:prstGeom prst="rect">
              <a:avLst/>
            </a:prstGeom>
            <a:solidFill>
              <a:srgbClr val="2398F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16"/>
            <p:cNvSpPr/>
            <p:nvPr/>
          </p:nvSpPr>
          <p:spPr>
            <a:xfrm>
              <a:off x="4913326" y="1476800"/>
              <a:ext cx="1111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398FF"/>
                </a:buClr>
                <a:buSzPts val="1600"/>
                <a:buFont typeface="Arial Black"/>
                <a:buNone/>
              </a:pPr>
              <a:r>
                <a:rPr i="0" lang="en-US" sz="2400" u="none" cap="none" strike="noStrike">
                  <a:solidFill>
                    <a:schemeClr val="lt1"/>
                  </a:solidFill>
                </a:rPr>
                <a:t>55.5%</a:t>
              </a:r>
              <a:endParaRPr i="0" sz="2400" u="none" cap="none" strike="noStrike">
                <a:solidFill>
                  <a:schemeClr val="lt1"/>
                </a:solidFill>
              </a:endParaRPr>
            </a:p>
          </p:txBody>
        </p:sp>
      </p:grpSp>
      <p:sp>
        <p:nvSpPr>
          <p:cNvPr id="380" name="Google Shape;380;p16"/>
          <p:cNvSpPr/>
          <p:nvPr/>
        </p:nvSpPr>
        <p:spPr>
          <a:xfrm>
            <a:off x="579459" y="2098175"/>
            <a:ext cx="1839000" cy="186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400"/>
              <a:buFont typeface="Arial"/>
              <a:buNone/>
            </a:pPr>
            <a:r>
              <a:rPr b="1" i="0" lang="en-US" sz="15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Mini Series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6"/>
          <p:cNvSpPr/>
          <p:nvPr/>
        </p:nvSpPr>
        <p:spPr>
          <a:xfrm>
            <a:off x="579459" y="2331293"/>
            <a:ext cx="1839000" cy="159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DJI Mini 2/3/4, Autel Nano</a:t>
            </a:r>
            <a:endParaRPr b="0" i="0" sz="1100" u="none" cap="none" strike="noStrik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2" name="Google Shape;382;p16"/>
          <p:cNvGrpSpPr/>
          <p:nvPr/>
        </p:nvGrpSpPr>
        <p:grpSpPr>
          <a:xfrm>
            <a:off x="2510825" y="2152600"/>
            <a:ext cx="1971297" cy="457211"/>
            <a:chOff x="2510825" y="2152600"/>
            <a:chExt cx="1971297" cy="457211"/>
          </a:xfrm>
        </p:grpSpPr>
        <p:sp>
          <p:nvSpPr>
            <p:cNvPr id="383" name="Google Shape;383;p16"/>
            <p:cNvSpPr/>
            <p:nvPr/>
          </p:nvSpPr>
          <p:spPr>
            <a:xfrm>
              <a:off x="2510825" y="2152611"/>
              <a:ext cx="1785000" cy="457200"/>
            </a:xfrm>
            <a:prstGeom prst="rect">
              <a:avLst/>
            </a:prstGeom>
            <a:solidFill>
              <a:srgbClr val="1D3B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16"/>
            <p:cNvSpPr/>
            <p:nvPr/>
          </p:nvSpPr>
          <p:spPr>
            <a:xfrm>
              <a:off x="3309722" y="2152600"/>
              <a:ext cx="11724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1600"/>
                <a:buFont typeface="Arial Black"/>
                <a:buNone/>
              </a:pPr>
              <a:r>
                <a:rPr i="0" lang="en-US" sz="2400" u="none" cap="none" strike="noStrike">
                  <a:solidFill>
                    <a:schemeClr val="lt1"/>
                  </a:solidFill>
                </a:rPr>
                <a:t>29.0%</a:t>
              </a:r>
              <a:endParaRPr i="0" sz="2400" u="none" cap="none" strike="noStrike">
                <a:solidFill>
                  <a:schemeClr val="lt1"/>
                </a:solidFill>
              </a:endParaRPr>
            </a:p>
          </p:txBody>
        </p:sp>
      </p:grpSp>
      <p:sp>
        <p:nvSpPr>
          <p:cNvPr id="385" name="Google Shape;385;p16"/>
          <p:cNvSpPr/>
          <p:nvPr/>
        </p:nvSpPr>
        <p:spPr>
          <a:xfrm>
            <a:off x="579459" y="2762855"/>
            <a:ext cx="1839000" cy="186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400"/>
              <a:buFont typeface="Arial"/>
              <a:buNone/>
            </a:pPr>
            <a:r>
              <a:rPr b="1" i="0" lang="en-US" sz="15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Enterprise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6"/>
          <p:cNvSpPr/>
          <p:nvPr/>
        </p:nvSpPr>
        <p:spPr>
          <a:xfrm>
            <a:off x="579459" y="2995973"/>
            <a:ext cx="1839000" cy="159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Matrice, Mavic 3E/3T</a:t>
            </a:r>
            <a:endParaRPr b="0" i="0" sz="1100" u="none" cap="none" strike="noStrik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7" name="Google Shape;387;p16"/>
          <p:cNvGrpSpPr/>
          <p:nvPr/>
        </p:nvGrpSpPr>
        <p:grpSpPr>
          <a:xfrm>
            <a:off x="2510825" y="2792691"/>
            <a:ext cx="1990558" cy="457209"/>
            <a:chOff x="2510825" y="2792691"/>
            <a:chExt cx="1990558" cy="457209"/>
          </a:xfrm>
        </p:grpSpPr>
        <p:sp>
          <p:nvSpPr>
            <p:cNvPr id="388" name="Google Shape;388;p16"/>
            <p:cNvSpPr/>
            <p:nvPr/>
          </p:nvSpPr>
          <p:spPr>
            <a:xfrm>
              <a:off x="2510825" y="2792691"/>
              <a:ext cx="627300" cy="457200"/>
            </a:xfrm>
            <a:prstGeom prst="rect">
              <a:avLst/>
            </a:prstGeom>
            <a:solidFill>
              <a:srgbClr val="1D3B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16"/>
            <p:cNvSpPr/>
            <p:nvPr/>
          </p:nvSpPr>
          <p:spPr>
            <a:xfrm>
              <a:off x="3237183" y="2792700"/>
              <a:ext cx="1264200" cy="4572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1600"/>
                <a:buFont typeface="Arial Black"/>
                <a:buNone/>
              </a:pPr>
              <a:r>
                <a:rPr i="0" lang="en-US" sz="2400" u="none" cap="none" strike="noStrike">
                  <a:solidFill>
                    <a:srgbClr val="94A3B8"/>
                  </a:solidFill>
                </a:rPr>
                <a:t>10.2%</a:t>
              </a:r>
              <a:endParaRPr i="0" sz="2400" u="none" cap="none" strike="noStrike">
                <a:solidFill>
                  <a:schemeClr val="dk1"/>
                </a:solidFill>
              </a:endParaRPr>
            </a:p>
          </p:txBody>
        </p:sp>
      </p:grpSp>
      <p:sp>
        <p:nvSpPr>
          <p:cNvPr id="390" name="Google Shape;390;p16"/>
          <p:cNvSpPr/>
          <p:nvPr/>
        </p:nvSpPr>
        <p:spPr>
          <a:xfrm>
            <a:off x="579459" y="3427535"/>
            <a:ext cx="1839000" cy="186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400"/>
              <a:buFont typeface="Arial"/>
              <a:buNone/>
            </a:pPr>
            <a:r>
              <a:rPr b="1" i="0" lang="en-US" sz="15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Pro / Cinema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6"/>
          <p:cNvSpPr/>
          <p:nvPr/>
        </p:nvSpPr>
        <p:spPr>
          <a:xfrm>
            <a:off x="579459" y="3660653"/>
            <a:ext cx="1839000" cy="159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Inspire, Alta, heavy lifters</a:t>
            </a:r>
            <a:endParaRPr b="0" i="0" sz="1100" u="none" cap="none" strike="noStrik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2" name="Google Shape;392;p16"/>
          <p:cNvGrpSpPr/>
          <p:nvPr/>
        </p:nvGrpSpPr>
        <p:grpSpPr>
          <a:xfrm>
            <a:off x="2510825" y="3432770"/>
            <a:ext cx="1139696" cy="457200"/>
            <a:chOff x="2510825" y="3432770"/>
            <a:chExt cx="1139696" cy="457200"/>
          </a:xfrm>
        </p:grpSpPr>
        <p:sp>
          <p:nvSpPr>
            <p:cNvPr id="393" name="Google Shape;393;p16"/>
            <p:cNvSpPr/>
            <p:nvPr/>
          </p:nvSpPr>
          <p:spPr>
            <a:xfrm>
              <a:off x="2510825" y="3432770"/>
              <a:ext cx="165900" cy="457200"/>
            </a:xfrm>
            <a:prstGeom prst="rect">
              <a:avLst/>
            </a:prstGeom>
            <a:solidFill>
              <a:srgbClr val="1D3B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16"/>
            <p:cNvSpPr/>
            <p:nvPr/>
          </p:nvSpPr>
          <p:spPr>
            <a:xfrm>
              <a:off x="2807521" y="3432770"/>
              <a:ext cx="843000" cy="4572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1600"/>
                <a:buFont typeface="Arial Black"/>
                <a:buNone/>
              </a:pPr>
              <a:r>
                <a:rPr i="0" lang="en-US" sz="2400" u="none" cap="none" strike="noStrike">
                  <a:solidFill>
                    <a:srgbClr val="94A3B8"/>
                  </a:solidFill>
                </a:rPr>
                <a:t>2.7%</a:t>
              </a:r>
              <a:endParaRPr i="0" sz="2400" u="none" cap="none" strike="noStrike">
                <a:solidFill>
                  <a:schemeClr val="dk1"/>
                </a:solidFill>
              </a:endParaRPr>
            </a:p>
          </p:txBody>
        </p:sp>
      </p:grpSp>
      <p:sp>
        <p:nvSpPr>
          <p:cNvPr id="395" name="Google Shape;395;p16"/>
          <p:cNvSpPr/>
          <p:nvPr/>
        </p:nvSpPr>
        <p:spPr>
          <a:xfrm>
            <a:off x="579459" y="4092215"/>
            <a:ext cx="1839000" cy="186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400"/>
              <a:buFont typeface="Arial"/>
              <a:buNone/>
            </a:pPr>
            <a:r>
              <a:rPr b="1" i="0" lang="en-US" sz="15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FPV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6"/>
          <p:cNvSpPr/>
          <p:nvPr/>
        </p:nvSpPr>
        <p:spPr>
          <a:xfrm>
            <a:off x="579459" y="4325333"/>
            <a:ext cx="1839000" cy="159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Avata, custom builds</a:t>
            </a:r>
            <a:endParaRPr b="0" i="0" sz="1100" u="none" cap="none" strike="noStrik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7" name="Google Shape;397;p16"/>
          <p:cNvGrpSpPr/>
          <p:nvPr/>
        </p:nvGrpSpPr>
        <p:grpSpPr>
          <a:xfrm>
            <a:off x="2510825" y="4072850"/>
            <a:ext cx="1139696" cy="457200"/>
            <a:chOff x="2510825" y="4072850"/>
            <a:chExt cx="1139696" cy="457200"/>
          </a:xfrm>
        </p:grpSpPr>
        <p:sp>
          <p:nvSpPr>
            <p:cNvPr id="398" name="Google Shape;398;p16"/>
            <p:cNvSpPr/>
            <p:nvPr/>
          </p:nvSpPr>
          <p:spPr>
            <a:xfrm>
              <a:off x="2510825" y="4072850"/>
              <a:ext cx="165900" cy="457200"/>
            </a:xfrm>
            <a:prstGeom prst="rect">
              <a:avLst/>
            </a:prstGeom>
            <a:solidFill>
              <a:srgbClr val="1D3B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16"/>
            <p:cNvSpPr/>
            <p:nvPr/>
          </p:nvSpPr>
          <p:spPr>
            <a:xfrm>
              <a:off x="2807521" y="4072850"/>
              <a:ext cx="843000" cy="4572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1600"/>
                <a:buFont typeface="Arial Black"/>
                <a:buNone/>
              </a:pPr>
              <a:r>
                <a:rPr i="0" lang="en-US" sz="2400" u="none" cap="none" strike="noStrike">
                  <a:solidFill>
                    <a:srgbClr val="94A3B8"/>
                  </a:solidFill>
                </a:rPr>
                <a:t>2.7%</a:t>
              </a:r>
              <a:endParaRPr i="0" sz="2400" u="none" cap="none" strike="noStrike">
                <a:solidFill>
                  <a:schemeClr val="dk1"/>
                </a:solidFill>
              </a:endParaRPr>
            </a:p>
          </p:txBody>
        </p:sp>
      </p:grpSp>
      <p:sp>
        <p:nvSpPr>
          <p:cNvPr id="400" name="Google Shape;400;p16"/>
          <p:cNvSpPr/>
          <p:nvPr/>
        </p:nvSpPr>
        <p:spPr>
          <a:xfrm>
            <a:off x="6103900" y="1476779"/>
            <a:ext cx="2468700" cy="1219500"/>
          </a:xfrm>
          <a:prstGeom prst="rect">
            <a:avLst/>
          </a:prstGeom>
          <a:solidFill>
            <a:srgbClr val="212353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98FF"/>
              </a:buClr>
              <a:buSzPts val="3600"/>
              <a:buFont typeface="Arial"/>
              <a:buNone/>
            </a:pPr>
            <a:r>
              <a:rPr b="1" i="0" lang="en-US" sz="4200" u="none" cap="none" strike="noStrike">
                <a:solidFill>
                  <a:srgbClr val="2398FF"/>
                </a:solidFill>
                <a:latin typeface="Arial Black"/>
                <a:ea typeface="Arial Black"/>
                <a:cs typeface="Arial Black"/>
                <a:sym typeface="Arial Black"/>
              </a:rPr>
              <a:t>84.5%</a:t>
            </a:r>
            <a:endParaRPr sz="2400">
              <a:solidFill>
                <a:srgbClr val="F0F0F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98FF"/>
              </a:buClr>
              <a:buSzPts val="3600"/>
              <a:buFont typeface="Arial"/>
              <a:buNone/>
            </a:pPr>
            <a:r>
              <a:rPr b="0" i="0" lang="en-US" sz="12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of working pilots use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800"/>
              <a:buFont typeface="Arial"/>
              <a:buNone/>
            </a:pPr>
            <a:r>
              <a:rPr b="0" i="0" lang="en-US" sz="12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consumer-grade drones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6"/>
          <p:cNvSpPr/>
          <p:nvPr/>
        </p:nvSpPr>
        <p:spPr>
          <a:xfrm>
            <a:off x="6103900" y="2807980"/>
            <a:ext cx="2468700" cy="696900"/>
          </a:xfrm>
          <a:prstGeom prst="rect">
            <a:avLst/>
          </a:prstGeom>
          <a:solidFill>
            <a:srgbClr val="212353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E33"/>
              </a:buClr>
              <a:buSzPts val="1600"/>
              <a:buFont typeface="Arial"/>
              <a:buNone/>
            </a:pPr>
            <a:r>
              <a:rPr i="0" lang="en-US" sz="1200" u="none" cap="none" strike="noStrike">
                <a:solidFill>
                  <a:schemeClr val="lt1"/>
                </a:solidFill>
              </a:rPr>
              <a:t>You don't need a $15k rig.</a:t>
            </a:r>
            <a:endParaRPr i="0" sz="1200" u="none" cap="none" strike="noStrike">
              <a:solidFill>
                <a:schemeClr val="lt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E33"/>
              </a:buClr>
              <a:buSzPts val="1600"/>
              <a:buFont typeface="Arial"/>
              <a:buNone/>
            </a:pPr>
            <a:r>
              <a:rPr i="0" lang="en-US" sz="1200" u="none" cap="none" strike="noStrike">
                <a:solidFill>
                  <a:schemeClr val="lt1"/>
                </a:solidFill>
              </a:rPr>
              <a:t>You need clients.</a:t>
            </a:r>
            <a:endParaRPr i="0" sz="1200" u="none" cap="none" strike="noStrike">
              <a:solidFill>
                <a:schemeClr val="lt1"/>
              </a:solidFill>
            </a:endParaRPr>
          </a:p>
        </p:txBody>
      </p:sp>
      <p:sp>
        <p:nvSpPr>
          <p:cNvPr id="402" name="Google Shape;402;p16"/>
          <p:cNvSpPr txBox="1"/>
          <p:nvPr/>
        </p:nvSpPr>
        <p:spPr>
          <a:xfrm>
            <a:off x="5983256" y="3223745"/>
            <a:ext cx="3699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0">
              <a:solidFill>
                <a:srgbClr val="004E92"/>
              </a:solidFill>
            </a:endParaRPr>
          </a:p>
        </p:txBody>
      </p:sp>
      <p:grpSp>
        <p:nvGrpSpPr>
          <p:cNvPr id="403" name="Google Shape;403;p16"/>
          <p:cNvGrpSpPr/>
          <p:nvPr/>
        </p:nvGrpSpPr>
        <p:grpSpPr>
          <a:xfrm>
            <a:off x="6103900" y="3616564"/>
            <a:ext cx="2468700" cy="918900"/>
            <a:chOff x="6103900" y="3616564"/>
            <a:chExt cx="2468700" cy="918900"/>
          </a:xfrm>
        </p:grpSpPr>
        <p:sp>
          <p:nvSpPr>
            <p:cNvPr id="404" name="Google Shape;404;p16"/>
            <p:cNvSpPr/>
            <p:nvPr/>
          </p:nvSpPr>
          <p:spPr>
            <a:xfrm>
              <a:off x="6103900" y="3616564"/>
              <a:ext cx="2468700" cy="918900"/>
            </a:xfrm>
            <a:prstGeom prst="rect">
              <a:avLst/>
            </a:prstGeom>
            <a:solidFill>
              <a:srgbClr val="21235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0" lIns="91425" spcFirstLastPara="1" rIns="91425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ECFE5"/>
                </a:buClr>
                <a:buSzPts val="1400"/>
                <a:buFont typeface="Arial"/>
                <a:buNone/>
              </a:pPr>
              <a:r>
                <a:t/>
              </a:r>
              <a:endParaRPr b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p16"/>
            <p:cNvSpPr txBox="1"/>
            <p:nvPr/>
          </p:nvSpPr>
          <p:spPr>
            <a:xfrm>
              <a:off x="6392500" y="3701025"/>
              <a:ext cx="18915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lt1"/>
                  </a:solidFill>
                </a:rPr>
                <a:t>"It's about differentiation through expertise, not equipment price tags."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33"/>
        </a:solid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7"/>
          <p:cNvSpPr/>
          <p:nvPr/>
        </p:nvSpPr>
        <p:spPr>
          <a:xfrm>
            <a:off x="540866" y="300063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3000"/>
              <a:buFont typeface="Arial Black"/>
              <a:buNone/>
            </a:pPr>
            <a:r>
              <a:rPr b="1" i="0" lang="en-US" sz="3600" u="none" cap="none" strike="noStrike">
                <a:solidFill>
                  <a:srgbClr val="F0F0F0"/>
                </a:solidFill>
                <a:latin typeface="Arial Black"/>
                <a:ea typeface="Arial Black"/>
                <a:cs typeface="Arial Black"/>
                <a:sym typeface="Arial Black"/>
              </a:rPr>
              <a:t>How They Actually Got Clients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7"/>
          <p:cNvSpPr/>
          <p:nvPr/>
        </p:nvSpPr>
        <p:spPr>
          <a:xfrm>
            <a:off x="573045" y="822291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Arial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Acquisition channel breakdown (296 responses):</a:t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3" name="Google Shape;413;p17"/>
          <p:cNvGrpSpPr/>
          <p:nvPr/>
        </p:nvGrpSpPr>
        <p:grpSpPr>
          <a:xfrm>
            <a:off x="2614501" y="1350263"/>
            <a:ext cx="5958128" cy="369517"/>
            <a:chOff x="2743200" y="1215073"/>
            <a:chExt cx="5829300" cy="335102"/>
          </a:xfrm>
        </p:grpSpPr>
        <p:sp>
          <p:nvSpPr>
            <p:cNvPr id="414" name="Google Shape;414;p17"/>
            <p:cNvSpPr/>
            <p:nvPr/>
          </p:nvSpPr>
          <p:spPr>
            <a:xfrm>
              <a:off x="2743200" y="1215075"/>
              <a:ext cx="5829300" cy="335100"/>
            </a:xfrm>
            <a:prstGeom prst="rect">
              <a:avLst/>
            </a:prstGeom>
            <a:solidFill>
              <a:srgbClr val="2398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17"/>
            <p:cNvSpPr/>
            <p:nvPr/>
          </p:nvSpPr>
          <p:spPr>
            <a:xfrm>
              <a:off x="7430074" y="1215073"/>
              <a:ext cx="1047000" cy="33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FFBE33"/>
                </a:buClr>
                <a:buSzPts val="1300"/>
                <a:buFont typeface="Arial Black"/>
                <a:buNone/>
              </a:pPr>
              <a:r>
                <a:rPr i="0" lang="en-US" sz="1700" u="none" cap="none" strike="noStrike">
                  <a:solidFill>
                    <a:schemeClr val="lt1"/>
                  </a:solidFill>
                </a:rPr>
                <a:t>58.1%         </a:t>
              </a:r>
              <a:endParaRPr i="0" sz="1700" u="none" cap="none" strike="noStrike">
                <a:solidFill>
                  <a:schemeClr val="lt1"/>
                </a:solidFill>
              </a:endParaRPr>
            </a:p>
          </p:txBody>
        </p:sp>
      </p:grpSp>
      <p:grpSp>
        <p:nvGrpSpPr>
          <p:cNvPr id="416" name="Google Shape;416;p17"/>
          <p:cNvGrpSpPr/>
          <p:nvPr/>
        </p:nvGrpSpPr>
        <p:grpSpPr>
          <a:xfrm>
            <a:off x="2614501" y="1855007"/>
            <a:ext cx="1179299" cy="369526"/>
            <a:chOff x="2743200" y="1768645"/>
            <a:chExt cx="1153800" cy="335110"/>
          </a:xfrm>
        </p:grpSpPr>
        <p:sp>
          <p:nvSpPr>
            <p:cNvPr id="417" name="Google Shape;417;p17"/>
            <p:cNvSpPr/>
            <p:nvPr/>
          </p:nvSpPr>
          <p:spPr>
            <a:xfrm>
              <a:off x="2743200" y="1768655"/>
              <a:ext cx="1153800" cy="335100"/>
            </a:xfrm>
            <a:prstGeom prst="rect">
              <a:avLst/>
            </a:prstGeom>
            <a:solidFill>
              <a:srgbClr val="1D3B6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17"/>
            <p:cNvSpPr/>
            <p:nvPr/>
          </p:nvSpPr>
          <p:spPr>
            <a:xfrm>
              <a:off x="2808209" y="1768645"/>
              <a:ext cx="999000" cy="33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1300"/>
                <a:buFont typeface="Arial Black"/>
                <a:buNone/>
              </a:pPr>
              <a:r>
                <a:rPr i="0" lang="en-US" sz="1700" u="none" cap="none" strike="noStrike">
                  <a:solidFill>
                    <a:schemeClr val="lt1"/>
                  </a:solidFill>
                </a:rPr>
                <a:t>11.5%</a:t>
              </a:r>
              <a:endParaRPr i="0" sz="1700" u="none" cap="none" strike="noStrike">
                <a:solidFill>
                  <a:schemeClr val="lt1"/>
                </a:solidFill>
              </a:endParaRPr>
            </a:p>
          </p:txBody>
        </p:sp>
      </p:grpSp>
      <p:grpSp>
        <p:nvGrpSpPr>
          <p:cNvPr id="419" name="Google Shape;419;p17"/>
          <p:cNvGrpSpPr/>
          <p:nvPr/>
        </p:nvGrpSpPr>
        <p:grpSpPr>
          <a:xfrm>
            <a:off x="2614501" y="2359757"/>
            <a:ext cx="1107548" cy="369523"/>
            <a:chOff x="2743200" y="2204428"/>
            <a:chExt cx="1083600" cy="335107"/>
          </a:xfrm>
        </p:grpSpPr>
        <p:sp>
          <p:nvSpPr>
            <p:cNvPr id="420" name="Google Shape;420;p17"/>
            <p:cNvSpPr/>
            <p:nvPr/>
          </p:nvSpPr>
          <p:spPr>
            <a:xfrm>
              <a:off x="2743200" y="2204435"/>
              <a:ext cx="1083600" cy="335100"/>
            </a:xfrm>
            <a:prstGeom prst="rect">
              <a:avLst/>
            </a:prstGeom>
            <a:solidFill>
              <a:srgbClr val="1D3B6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17"/>
            <p:cNvSpPr/>
            <p:nvPr/>
          </p:nvSpPr>
          <p:spPr>
            <a:xfrm>
              <a:off x="2766572" y="2204428"/>
              <a:ext cx="999000" cy="33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1300"/>
                <a:buFont typeface="Arial Black"/>
                <a:buNone/>
              </a:pPr>
              <a:r>
                <a:rPr i="0" lang="en-US" sz="1700" u="none" cap="none" strike="noStrike">
                  <a:solidFill>
                    <a:schemeClr val="lt1"/>
                  </a:solidFill>
                </a:rPr>
                <a:t>10.8%</a:t>
              </a:r>
              <a:endParaRPr i="0" sz="1700" u="none" cap="none" strike="noStrike">
                <a:solidFill>
                  <a:schemeClr val="lt1"/>
                </a:solidFill>
              </a:endParaRPr>
            </a:p>
          </p:txBody>
        </p:sp>
      </p:grpSp>
      <p:grpSp>
        <p:nvGrpSpPr>
          <p:cNvPr id="422" name="Google Shape;422;p17"/>
          <p:cNvGrpSpPr/>
          <p:nvPr/>
        </p:nvGrpSpPr>
        <p:grpSpPr>
          <a:xfrm>
            <a:off x="2614501" y="2864504"/>
            <a:ext cx="933075" cy="369516"/>
            <a:chOff x="2743200" y="2640215"/>
            <a:chExt cx="912900" cy="335101"/>
          </a:xfrm>
        </p:grpSpPr>
        <p:sp>
          <p:nvSpPr>
            <p:cNvPr id="423" name="Google Shape;423;p17"/>
            <p:cNvSpPr/>
            <p:nvPr/>
          </p:nvSpPr>
          <p:spPr>
            <a:xfrm>
              <a:off x="2743200" y="2640216"/>
              <a:ext cx="912900" cy="335100"/>
            </a:xfrm>
            <a:prstGeom prst="rect">
              <a:avLst/>
            </a:prstGeom>
            <a:solidFill>
              <a:srgbClr val="1D3B6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17"/>
            <p:cNvSpPr/>
            <p:nvPr/>
          </p:nvSpPr>
          <p:spPr>
            <a:xfrm>
              <a:off x="2835527" y="2640215"/>
              <a:ext cx="731400" cy="33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1300"/>
                <a:buFont typeface="Arial Black"/>
                <a:buNone/>
              </a:pPr>
              <a:r>
                <a:rPr i="0" lang="en-US" sz="1700" u="none" cap="none" strike="noStrike">
                  <a:solidFill>
                    <a:schemeClr val="lt1"/>
                  </a:solidFill>
                </a:rPr>
                <a:t>9.1%</a:t>
              </a:r>
              <a:endParaRPr i="0" sz="1700" u="none" cap="none" strike="noStrike">
                <a:solidFill>
                  <a:schemeClr val="lt1"/>
                </a:solidFill>
              </a:endParaRPr>
            </a:p>
          </p:txBody>
        </p:sp>
      </p:grpSp>
      <p:grpSp>
        <p:nvGrpSpPr>
          <p:cNvPr id="425" name="Google Shape;425;p17"/>
          <p:cNvGrpSpPr/>
          <p:nvPr/>
        </p:nvGrpSpPr>
        <p:grpSpPr>
          <a:xfrm>
            <a:off x="2614501" y="3369244"/>
            <a:ext cx="902412" cy="369515"/>
            <a:chOff x="2743200" y="3075996"/>
            <a:chExt cx="882900" cy="335101"/>
          </a:xfrm>
        </p:grpSpPr>
        <p:sp>
          <p:nvSpPr>
            <p:cNvPr id="426" name="Google Shape;426;p17"/>
            <p:cNvSpPr/>
            <p:nvPr/>
          </p:nvSpPr>
          <p:spPr>
            <a:xfrm>
              <a:off x="2743200" y="3075996"/>
              <a:ext cx="882900" cy="335100"/>
            </a:xfrm>
            <a:prstGeom prst="rect">
              <a:avLst/>
            </a:prstGeom>
            <a:solidFill>
              <a:srgbClr val="1D3B6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17"/>
            <p:cNvSpPr/>
            <p:nvPr/>
          </p:nvSpPr>
          <p:spPr>
            <a:xfrm>
              <a:off x="2820440" y="3075997"/>
              <a:ext cx="731400" cy="33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1300"/>
                <a:buFont typeface="Arial Black"/>
                <a:buNone/>
              </a:pPr>
              <a:r>
                <a:rPr i="0" lang="en-US" sz="1700" u="none" cap="none" strike="noStrike">
                  <a:solidFill>
                    <a:schemeClr val="lt1"/>
                  </a:solidFill>
                </a:rPr>
                <a:t>8.8%</a:t>
              </a:r>
              <a:endParaRPr i="0" sz="1700" u="none" cap="none" strike="noStrike">
                <a:solidFill>
                  <a:schemeClr val="lt1"/>
                </a:solidFill>
              </a:endParaRPr>
            </a:p>
          </p:txBody>
        </p:sp>
      </p:grpSp>
      <p:grpSp>
        <p:nvGrpSpPr>
          <p:cNvPr id="428" name="Google Shape;428;p17"/>
          <p:cNvGrpSpPr/>
          <p:nvPr/>
        </p:nvGrpSpPr>
        <p:grpSpPr>
          <a:xfrm>
            <a:off x="2614501" y="3873983"/>
            <a:ext cx="945053" cy="369517"/>
            <a:chOff x="2743200" y="3511776"/>
            <a:chExt cx="924618" cy="335102"/>
          </a:xfrm>
        </p:grpSpPr>
        <p:sp>
          <p:nvSpPr>
            <p:cNvPr id="429" name="Google Shape;429;p17"/>
            <p:cNvSpPr/>
            <p:nvPr/>
          </p:nvSpPr>
          <p:spPr>
            <a:xfrm>
              <a:off x="2743200" y="3511776"/>
              <a:ext cx="100200" cy="335100"/>
            </a:xfrm>
            <a:prstGeom prst="rect">
              <a:avLst/>
            </a:prstGeom>
            <a:solidFill>
              <a:srgbClr val="1D3B6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17"/>
            <p:cNvSpPr/>
            <p:nvPr/>
          </p:nvSpPr>
          <p:spPr>
            <a:xfrm>
              <a:off x="2936418" y="3511779"/>
              <a:ext cx="731400" cy="33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1300"/>
                <a:buFont typeface="Arial Black"/>
                <a:buNone/>
              </a:pPr>
              <a:r>
                <a:rPr i="0" lang="en-US" sz="1700" u="none" cap="none" strike="noStrike">
                  <a:solidFill>
                    <a:schemeClr val="lt1"/>
                  </a:solidFill>
                </a:rPr>
                <a:t>1.0%</a:t>
              </a:r>
              <a:endParaRPr i="0" sz="1700" u="none" cap="none" strike="noStrike">
                <a:solidFill>
                  <a:schemeClr val="lt1"/>
                </a:solidFill>
              </a:endParaRPr>
            </a:p>
          </p:txBody>
        </p:sp>
      </p:grpSp>
      <p:grpSp>
        <p:nvGrpSpPr>
          <p:cNvPr id="431" name="Google Shape;431;p17"/>
          <p:cNvGrpSpPr/>
          <p:nvPr/>
        </p:nvGrpSpPr>
        <p:grpSpPr>
          <a:xfrm>
            <a:off x="482943" y="1318185"/>
            <a:ext cx="1937700" cy="412054"/>
            <a:chOff x="482943" y="1215212"/>
            <a:chExt cx="1937700" cy="412054"/>
          </a:xfrm>
        </p:grpSpPr>
        <p:sp>
          <p:nvSpPr>
            <p:cNvPr id="432" name="Google Shape;432;p17"/>
            <p:cNvSpPr/>
            <p:nvPr/>
          </p:nvSpPr>
          <p:spPr>
            <a:xfrm>
              <a:off x="482943" y="1215212"/>
              <a:ext cx="19377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FFBE33"/>
                </a:buClr>
                <a:buSzPts val="1200"/>
                <a:buFont typeface="Arial"/>
                <a:buNone/>
              </a:pPr>
              <a:r>
                <a:rPr b="1" i="0" lang="en-US" sz="1300" u="none" cap="none" strike="noStrike">
                  <a:solidFill>
                    <a:srgbClr val="2398FF"/>
                  </a:solidFill>
                </a:rPr>
                <a:t>Personal Network</a:t>
              </a:r>
              <a:endParaRPr b="1" i="0" sz="1300" u="none" cap="none" strike="noStrike">
                <a:solidFill>
                  <a:srgbClr val="2398FF"/>
                </a:solidFill>
              </a:endParaRPr>
            </a:p>
          </p:txBody>
        </p:sp>
        <p:sp>
          <p:nvSpPr>
            <p:cNvPr id="433" name="Google Shape;433;p17"/>
            <p:cNvSpPr/>
            <p:nvPr/>
          </p:nvSpPr>
          <p:spPr>
            <a:xfrm>
              <a:off x="482943" y="1425967"/>
              <a:ext cx="1937700" cy="20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900"/>
                <a:buFont typeface="Arial"/>
                <a:buNone/>
              </a:pPr>
              <a:r>
                <a:rPr b="0" i="0" lang="en-US" sz="900" u="none" cap="none" strike="noStrike">
                  <a:solidFill>
                    <a:srgbClr val="CCCCCC"/>
                  </a:solidFill>
                  <a:latin typeface="Arial"/>
                  <a:ea typeface="Arial"/>
                  <a:cs typeface="Arial"/>
                  <a:sym typeface="Arial"/>
                </a:rPr>
                <a:t>Friends, family, referrals</a:t>
              </a:r>
              <a:endParaRPr b="0" i="0" sz="9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4" name="Google Shape;434;p17"/>
          <p:cNvGrpSpPr/>
          <p:nvPr/>
        </p:nvGrpSpPr>
        <p:grpSpPr>
          <a:xfrm>
            <a:off x="482943" y="1824730"/>
            <a:ext cx="1937700" cy="412054"/>
            <a:chOff x="482943" y="1672946"/>
            <a:chExt cx="1937700" cy="412054"/>
          </a:xfrm>
        </p:grpSpPr>
        <p:sp>
          <p:nvSpPr>
            <p:cNvPr id="435" name="Google Shape;435;p17"/>
            <p:cNvSpPr/>
            <p:nvPr/>
          </p:nvSpPr>
          <p:spPr>
            <a:xfrm>
              <a:off x="482943" y="1672946"/>
              <a:ext cx="19377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F0F0F0"/>
                </a:buClr>
                <a:buSzPts val="1200"/>
                <a:buFont typeface="Arial"/>
                <a:buNone/>
              </a:pPr>
              <a:r>
                <a:rPr b="1" i="0" lang="en-US" sz="1300" u="none" cap="none" strike="noStrike">
                  <a:solidFill>
                    <a:schemeClr val="lt1"/>
                  </a:solidFill>
                </a:rPr>
                <a:t>Gig Platforms</a:t>
              </a:r>
              <a:endParaRPr b="1" i="0" sz="1300" u="none" cap="none" strike="noStrike">
                <a:solidFill>
                  <a:schemeClr val="lt1"/>
                </a:solidFill>
              </a:endParaRPr>
            </a:p>
          </p:txBody>
        </p:sp>
        <p:sp>
          <p:nvSpPr>
            <p:cNvPr id="436" name="Google Shape;436;p17"/>
            <p:cNvSpPr/>
            <p:nvPr/>
          </p:nvSpPr>
          <p:spPr>
            <a:xfrm>
              <a:off x="482943" y="1883701"/>
              <a:ext cx="1937700" cy="20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900"/>
                <a:buFont typeface="Arial"/>
                <a:buNone/>
              </a:pPr>
              <a:r>
                <a:rPr b="0" i="0" lang="en-US" sz="900" u="none" cap="none" strike="noStrike">
                  <a:solidFill>
                    <a:srgbClr val="CCCCCC"/>
                  </a:solidFill>
                  <a:latin typeface="Arial"/>
                  <a:ea typeface="Arial"/>
                  <a:cs typeface="Arial"/>
                  <a:sym typeface="Arial"/>
                </a:rPr>
                <a:t>Freelance job sites</a:t>
              </a:r>
              <a:endParaRPr b="0" i="0" sz="9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7" name="Google Shape;437;p17"/>
          <p:cNvGrpSpPr/>
          <p:nvPr/>
        </p:nvGrpSpPr>
        <p:grpSpPr>
          <a:xfrm>
            <a:off x="482943" y="2331274"/>
            <a:ext cx="1937700" cy="412054"/>
            <a:chOff x="482943" y="2130680"/>
            <a:chExt cx="1937700" cy="412054"/>
          </a:xfrm>
        </p:grpSpPr>
        <p:sp>
          <p:nvSpPr>
            <p:cNvPr id="438" name="Google Shape;438;p17"/>
            <p:cNvSpPr/>
            <p:nvPr/>
          </p:nvSpPr>
          <p:spPr>
            <a:xfrm>
              <a:off x="482943" y="2130680"/>
              <a:ext cx="19377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F0F0F0"/>
                </a:buClr>
                <a:buSzPts val="1200"/>
                <a:buFont typeface="Arial"/>
                <a:buNone/>
              </a:pPr>
              <a:r>
                <a:rPr b="1" i="0" lang="en-US" sz="1300" u="none" cap="none" strike="noStrike">
                  <a:solidFill>
                    <a:schemeClr val="lt1"/>
                  </a:solidFill>
                </a:rPr>
                <a:t>Cold Outreach</a:t>
              </a:r>
              <a:endParaRPr b="1" i="0" sz="1300" u="none" cap="none" strike="noStrike">
                <a:solidFill>
                  <a:schemeClr val="lt1"/>
                </a:solidFill>
              </a:endParaRPr>
            </a:p>
          </p:txBody>
        </p:sp>
        <p:sp>
          <p:nvSpPr>
            <p:cNvPr id="439" name="Google Shape;439;p17"/>
            <p:cNvSpPr/>
            <p:nvPr/>
          </p:nvSpPr>
          <p:spPr>
            <a:xfrm>
              <a:off x="482943" y="2341435"/>
              <a:ext cx="1937700" cy="20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900"/>
                <a:buFont typeface="Arial"/>
                <a:buNone/>
              </a:pPr>
              <a:r>
                <a:rPr b="0" i="0" lang="en-US" sz="900" u="none" cap="none" strike="noStrike">
                  <a:solidFill>
                    <a:srgbClr val="CCCCCC"/>
                  </a:solidFill>
                  <a:latin typeface="Arial"/>
                  <a:ea typeface="Arial"/>
                  <a:cs typeface="Arial"/>
                  <a:sym typeface="Arial"/>
                </a:rPr>
                <a:t>Email, phone, walk-ins</a:t>
              </a:r>
              <a:endParaRPr b="0" i="0" sz="9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0" name="Google Shape;440;p17"/>
          <p:cNvGrpSpPr/>
          <p:nvPr/>
        </p:nvGrpSpPr>
        <p:grpSpPr>
          <a:xfrm>
            <a:off x="482943" y="2837819"/>
            <a:ext cx="1937700" cy="412054"/>
            <a:chOff x="482943" y="2588414"/>
            <a:chExt cx="1937700" cy="412054"/>
          </a:xfrm>
        </p:grpSpPr>
        <p:sp>
          <p:nvSpPr>
            <p:cNvPr id="441" name="Google Shape;441;p17"/>
            <p:cNvSpPr/>
            <p:nvPr/>
          </p:nvSpPr>
          <p:spPr>
            <a:xfrm>
              <a:off x="482943" y="2588414"/>
              <a:ext cx="19377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F0F0F0"/>
                </a:buClr>
                <a:buSzPts val="1200"/>
                <a:buFont typeface="Arial"/>
                <a:buNone/>
              </a:pPr>
              <a:r>
                <a:rPr b="1" i="0" lang="en-US" sz="1300" u="none" cap="none" strike="noStrike">
                  <a:solidFill>
                    <a:schemeClr val="lt1"/>
                  </a:solidFill>
                </a:rPr>
                <a:t>Inbound / SEO</a:t>
              </a:r>
              <a:endParaRPr b="1" i="0" sz="1300" u="none" cap="none" strike="noStrike">
                <a:solidFill>
                  <a:schemeClr val="lt1"/>
                </a:solidFill>
              </a:endParaRPr>
            </a:p>
          </p:txBody>
        </p:sp>
        <p:sp>
          <p:nvSpPr>
            <p:cNvPr id="442" name="Google Shape;442;p17"/>
            <p:cNvSpPr/>
            <p:nvPr/>
          </p:nvSpPr>
          <p:spPr>
            <a:xfrm>
              <a:off x="482943" y="2799169"/>
              <a:ext cx="1937700" cy="20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900"/>
                <a:buFont typeface="Arial"/>
                <a:buNone/>
              </a:pPr>
              <a:r>
                <a:rPr b="0" i="0" lang="en-US" sz="900" u="none" cap="none" strike="noStrike">
                  <a:solidFill>
                    <a:srgbClr val="CCCCCC"/>
                  </a:solidFill>
                  <a:latin typeface="Arial"/>
                  <a:ea typeface="Arial"/>
                  <a:cs typeface="Arial"/>
                  <a:sym typeface="Arial"/>
                </a:rPr>
                <a:t>Website, Google Business</a:t>
              </a:r>
              <a:endParaRPr b="0" i="0" sz="9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3" name="Google Shape;443;p17"/>
          <p:cNvGrpSpPr/>
          <p:nvPr/>
        </p:nvGrpSpPr>
        <p:grpSpPr>
          <a:xfrm>
            <a:off x="482943" y="3344363"/>
            <a:ext cx="1937700" cy="412054"/>
            <a:chOff x="482943" y="3046148"/>
            <a:chExt cx="1937700" cy="412054"/>
          </a:xfrm>
        </p:grpSpPr>
        <p:sp>
          <p:nvSpPr>
            <p:cNvPr id="444" name="Google Shape;444;p17"/>
            <p:cNvSpPr/>
            <p:nvPr/>
          </p:nvSpPr>
          <p:spPr>
            <a:xfrm>
              <a:off x="482943" y="3046148"/>
              <a:ext cx="19377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F0F0F0"/>
                </a:buClr>
                <a:buSzPts val="1200"/>
                <a:buFont typeface="Arial"/>
                <a:buNone/>
              </a:pPr>
              <a:r>
                <a:rPr b="1" i="0" lang="en-US" sz="1300" u="none" cap="none" strike="noStrike">
                  <a:solidFill>
                    <a:schemeClr val="lt1"/>
                  </a:solidFill>
                </a:rPr>
                <a:t>Social Media</a:t>
              </a:r>
              <a:endParaRPr b="1" i="0" sz="1300" u="none" cap="none" strike="noStrike">
                <a:solidFill>
                  <a:schemeClr val="lt1"/>
                </a:solidFill>
              </a:endParaRPr>
            </a:p>
          </p:txBody>
        </p:sp>
        <p:sp>
          <p:nvSpPr>
            <p:cNvPr id="445" name="Google Shape;445;p17"/>
            <p:cNvSpPr/>
            <p:nvPr/>
          </p:nvSpPr>
          <p:spPr>
            <a:xfrm>
              <a:off x="482943" y="3256903"/>
              <a:ext cx="1937700" cy="20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900"/>
                <a:buFont typeface="Arial"/>
                <a:buNone/>
              </a:pPr>
              <a:r>
                <a:rPr b="0" i="0" lang="en-US" sz="900" u="none" cap="none" strike="noStrike">
                  <a:solidFill>
                    <a:srgbClr val="CCCCCC"/>
                  </a:solidFill>
                  <a:latin typeface="Arial"/>
                  <a:ea typeface="Arial"/>
                  <a:cs typeface="Arial"/>
                  <a:sym typeface="Arial"/>
                </a:rPr>
                <a:t>Organic posts, DMs</a:t>
              </a:r>
              <a:endParaRPr b="0" i="0" sz="9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6" name="Google Shape;446;p17"/>
          <p:cNvGrpSpPr/>
          <p:nvPr/>
        </p:nvGrpSpPr>
        <p:grpSpPr>
          <a:xfrm>
            <a:off x="482943" y="3850908"/>
            <a:ext cx="1937700" cy="412054"/>
            <a:chOff x="482943" y="3503883"/>
            <a:chExt cx="1937700" cy="412054"/>
          </a:xfrm>
        </p:grpSpPr>
        <p:sp>
          <p:nvSpPr>
            <p:cNvPr id="447" name="Google Shape;447;p17"/>
            <p:cNvSpPr/>
            <p:nvPr/>
          </p:nvSpPr>
          <p:spPr>
            <a:xfrm>
              <a:off x="482943" y="3503883"/>
              <a:ext cx="19377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F0F0F0"/>
                </a:buClr>
                <a:buSzPts val="1200"/>
                <a:buFont typeface="Arial"/>
                <a:buNone/>
              </a:pPr>
              <a:r>
                <a:rPr b="1" i="0" lang="en-US" sz="1300" u="none" cap="none" strike="noStrike">
                  <a:solidFill>
                    <a:schemeClr val="lt1"/>
                  </a:solidFill>
                </a:rPr>
                <a:t>Paid Ads</a:t>
              </a:r>
              <a:endParaRPr b="1" i="0" sz="1300" u="none" cap="none" strike="noStrike">
                <a:solidFill>
                  <a:schemeClr val="lt1"/>
                </a:solidFill>
              </a:endParaRPr>
            </a:p>
          </p:txBody>
        </p:sp>
        <p:sp>
          <p:nvSpPr>
            <p:cNvPr id="448" name="Google Shape;448;p17"/>
            <p:cNvSpPr/>
            <p:nvPr/>
          </p:nvSpPr>
          <p:spPr>
            <a:xfrm>
              <a:off x="482943" y="3714637"/>
              <a:ext cx="1937700" cy="20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900"/>
                <a:buFont typeface="Arial"/>
                <a:buNone/>
              </a:pPr>
              <a:r>
                <a:rPr b="0" i="0" lang="en-US" sz="900" u="none" cap="none" strike="noStrike">
                  <a:solidFill>
                    <a:srgbClr val="CCCCCC"/>
                  </a:solidFill>
                  <a:latin typeface="Arial"/>
                  <a:ea typeface="Arial"/>
                  <a:cs typeface="Arial"/>
                  <a:sym typeface="Arial"/>
                </a:rPr>
                <a:t>Facebook, Instagram, Google</a:t>
              </a:r>
              <a:endParaRPr b="0" i="0" sz="9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9" name="Google Shape;449;p17"/>
          <p:cNvGrpSpPr/>
          <p:nvPr/>
        </p:nvGrpSpPr>
        <p:grpSpPr>
          <a:xfrm>
            <a:off x="482943" y="4357452"/>
            <a:ext cx="1937700" cy="412054"/>
            <a:chOff x="482943" y="3961617"/>
            <a:chExt cx="1937700" cy="412054"/>
          </a:xfrm>
        </p:grpSpPr>
        <p:sp>
          <p:nvSpPr>
            <p:cNvPr id="450" name="Google Shape;450;p17"/>
            <p:cNvSpPr/>
            <p:nvPr/>
          </p:nvSpPr>
          <p:spPr>
            <a:xfrm>
              <a:off x="482943" y="3961617"/>
              <a:ext cx="19377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F0F0F0"/>
                </a:buClr>
                <a:buSzPts val="1200"/>
                <a:buFont typeface="Arial"/>
                <a:buNone/>
              </a:pPr>
              <a:r>
                <a:rPr b="1" i="0" lang="en-US" sz="1300" u="none" cap="none" strike="noStrike">
                  <a:solidFill>
                    <a:schemeClr val="lt1"/>
                  </a:solidFill>
                </a:rPr>
                <a:t>Classifieds</a:t>
              </a:r>
              <a:endParaRPr b="1" i="0" sz="1300" u="none" cap="none" strike="noStrike">
                <a:solidFill>
                  <a:schemeClr val="lt1"/>
                </a:solidFill>
              </a:endParaRPr>
            </a:p>
          </p:txBody>
        </p:sp>
        <p:sp>
          <p:nvSpPr>
            <p:cNvPr id="451" name="Google Shape;451;p17"/>
            <p:cNvSpPr/>
            <p:nvPr/>
          </p:nvSpPr>
          <p:spPr>
            <a:xfrm>
              <a:off x="482943" y="4172371"/>
              <a:ext cx="1937700" cy="20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900"/>
                <a:buFont typeface="Arial"/>
                <a:buNone/>
              </a:pPr>
              <a:r>
                <a:rPr b="0" i="0" lang="en-US" sz="900" u="none" cap="none" strike="noStrike">
                  <a:solidFill>
                    <a:srgbClr val="CCCCCC"/>
                  </a:solidFill>
                  <a:latin typeface="Arial"/>
                  <a:ea typeface="Arial"/>
                  <a:cs typeface="Arial"/>
                  <a:sym typeface="Arial"/>
                </a:rPr>
                <a:t>Craigslist, FB Marketplace, Nextdoor</a:t>
              </a:r>
              <a:endParaRPr b="0" i="0" sz="9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2" name="Google Shape;452;p17"/>
          <p:cNvGrpSpPr/>
          <p:nvPr/>
        </p:nvGrpSpPr>
        <p:grpSpPr>
          <a:xfrm>
            <a:off x="2614501" y="4378725"/>
            <a:ext cx="929631" cy="369515"/>
            <a:chOff x="2743200" y="3961479"/>
            <a:chExt cx="909530" cy="335100"/>
          </a:xfrm>
        </p:grpSpPr>
        <p:sp>
          <p:nvSpPr>
            <p:cNvPr id="453" name="Google Shape;453;p17"/>
            <p:cNvSpPr/>
            <p:nvPr/>
          </p:nvSpPr>
          <p:spPr>
            <a:xfrm>
              <a:off x="2743200" y="3961479"/>
              <a:ext cx="70200" cy="335100"/>
            </a:xfrm>
            <a:prstGeom prst="rect">
              <a:avLst/>
            </a:prstGeom>
            <a:solidFill>
              <a:srgbClr val="1D3B6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17"/>
            <p:cNvSpPr/>
            <p:nvPr/>
          </p:nvSpPr>
          <p:spPr>
            <a:xfrm>
              <a:off x="2921330" y="3961479"/>
              <a:ext cx="731400" cy="33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1300"/>
                <a:buFont typeface="Arial Black"/>
                <a:buNone/>
              </a:pPr>
              <a:r>
                <a:rPr i="0" lang="en-US" sz="1700" u="none" cap="none" strike="noStrike">
                  <a:solidFill>
                    <a:schemeClr val="lt1"/>
                  </a:solidFill>
                </a:rPr>
                <a:t>0.7%</a:t>
              </a:r>
              <a:endParaRPr i="0" sz="1700" u="none" cap="none" strike="noStrike">
                <a:solidFill>
                  <a:schemeClr val="lt1"/>
                </a:solidFill>
              </a:endParaRPr>
            </a:p>
          </p:txBody>
        </p:sp>
      </p:grpSp>
      <p:sp>
        <p:nvSpPr>
          <p:cNvPr id="455" name="Google Shape;455;p17"/>
          <p:cNvSpPr/>
          <p:nvPr/>
        </p:nvSpPr>
        <p:spPr>
          <a:xfrm>
            <a:off x="5773504" y="3293848"/>
            <a:ext cx="2799000" cy="1454400"/>
          </a:xfrm>
          <a:prstGeom prst="rect">
            <a:avLst/>
          </a:prstGeom>
          <a:solidFill>
            <a:srgbClr val="212353"/>
          </a:solidFill>
          <a:ln>
            <a:noFill/>
          </a:ln>
        </p:spPr>
        <p:txBody>
          <a:bodyPr anchorCtr="0" anchor="ctr" bIns="0" lIns="274300" spcFirstLastPara="1" rIns="27430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800"/>
              <a:buFont typeface="Arial"/>
              <a:buNone/>
            </a:pPr>
            <a:r>
              <a:rPr i="0" lang="en-US" sz="2000" u="none" cap="none" strike="noStrike">
                <a:solidFill>
                  <a:srgbClr val="F0F0F0"/>
                </a:solidFill>
              </a:rPr>
              <a:t>Your first client is probably </a:t>
            </a:r>
            <a:r>
              <a:rPr i="0" lang="en-US" sz="2000" u="none" cap="none" strike="noStrike">
                <a:solidFill>
                  <a:srgbClr val="81D1F4"/>
                </a:solidFill>
              </a:rPr>
              <a:t>someone you already know.</a:t>
            </a:r>
            <a:endParaRPr i="0" sz="2000" u="none" cap="none" strike="noStrike">
              <a:solidFill>
                <a:srgbClr val="81D1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33"/>
        </a:solid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9"/>
          <p:cNvSpPr/>
          <p:nvPr/>
        </p:nvSpPr>
        <p:spPr>
          <a:xfrm>
            <a:off x="540858" y="383725"/>
            <a:ext cx="4965000" cy="8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3000"/>
              <a:buFont typeface="Arial Black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What High Earners Do Differently</a:t>
            </a:r>
            <a:endParaRPr b="0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2" name="Google Shape;462;p19"/>
          <p:cNvGrpSpPr/>
          <p:nvPr/>
        </p:nvGrpSpPr>
        <p:grpSpPr>
          <a:xfrm>
            <a:off x="571500" y="1620285"/>
            <a:ext cx="2753425" cy="2006400"/>
            <a:chOff x="571500" y="1620285"/>
            <a:chExt cx="2753425" cy="2006400"/>
          </a:xfrm>
        </p:grpSpPr>
        <p:sp>
          <p:nvSpPr>
            <p:cNvPr id="463" name="Google Shape;463;p19"/>
            <p:cNvSpPr/>
            <p:nvPr/>
          </p:nvSpPr>
          <p:spPr>
            <a:xfrm>
              <a:off x="571500" y="1620285"/>
              <a:ext cx="2494200" cy="2006400"/>
            </a:xfrm>
            <a:prstGeom prst="rect">
              <a:avLst/>
            </a:prstGeom>
            <a:solidFill>
              <a:srgbClr val="21235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0" lIns="91425" spcFirstLastPara="1" rIns="91425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ECFE5"/>
                </a:buClr>
                <a:buSzPts val="1400"/>
                <a:buFont typeface="Arial"/>
                <a:buNone/>
              </a:pPr>
              <a:r>
                <a:t/>
              </a:r>
              <a:endParaRPr b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" name="Google Shape;464;p19"/>
            <p:cNvSpPr/>
            <p:nvPr/>
          </p:nvSpPr>
          <p:spPr>
            <a:xfrm>
              <a:off x="735925" y="1764311"/>
              <a:ext cx="16935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ECFE5"/>
                </a:buClr>
                <a:buSzPts val="1000"/>
                <a:buFont typeface="Arial Black"/>
                <a:buNone/>
              </a:pPr>
              <a:r>
                <a:rPr b="1" i="0" lang="en-US" sz="1000" u="none" cap="none" strike="noStrike">
                  <a:solidFill>
                    <a:srgbClr val="81D1F4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PRICING</a:t>
              </a:r>
              <a:endParaRPr b="0" i="0" sz="1000" u="none" cap="none" strike="noStrike">
                <a:solidFill>
                  <a:srgbClr val="81D1F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" name="Google Shape;465;p19"/>
            <p:cNvSpPr/>
            <p:nvPr/>
          </p:nvSpPr>
          <p:spPr>
            <a:xfrm>
              <a:off x="735925" y="2156926"/>
              <a:ext cx="2589000" cy="41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0F0F0"/>
                </a:buClr>
                <a:buSzPts val="2000"/>
                <a:buFont typeface="Arial Black"/>
                <a:buNone/>
              </a:pPr>
              <a:r>
                <a:rPr b="1" i="0" lang="en-US" sz="5000" u="none" cap="none" strike="noStrike">
                  <a:solidFill>
                    <a:srgbClr val="2398FF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26.7%</a:t>
              </a:r>
              <a:endParaRPr b="0" i="0" sz="5000" u="none" cap="none" strike="noStrike">
                <a:solidFill>
                  <a:srgbClr val="2398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" name="Google Shape;466;p19"/>
            <p:cNvSpPr/>
            <p:nvPr/>
          </p:nvSpPr>
          <p:spPr>
            <a:xfrm>
              <a:off x="735925" y="2765685"/>
              <a:ext cx="2019300" cy="72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charged full price from day one</a:t>
              </a:r>
              <a:r>
                <a:rPr lang="en-US" sz="13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1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vs 13.9%</a:t>
              </a:r>
              <a:endPara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7" name="Google Shape;467;p19"/>
          <p:cNvGrpSpPr/>
          <p:nvPr/>
        </p:nvGrpSpPr>
        <p:grpSpPr>
          <a:xfrm>
            <a:off x="3324900" y="1620285"/>
            <a:ext cx="3005223" cy="2006400"/>
            <a:chOff x="3324900" y="1620285"/>
            <a:chExt cx="3005223" cy="2006400"/>
          </a:xfrm>
        </p:grpSpPr>
        <p:sp>
          <p:nvSpPr>
            <p:cNvPr id="468" name="Google Shape;468;p19"/>
            <p:cNvSpPr/>
            <p:nvPr/>
          </p:nvSpPr>
          <p:spPr>
            <a:xfrm>
              <a:off x="3324900" y="1620285"/>
              <a:ext cx="2494200" cy="2006400"/>
            </a:xfrm>
            <a:prstGeom prst="rect">
              <a:avLst/>
            </a:prstGeom>
            <a:solidFill>
              <a:srgbClr val="21235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0" lIns="91425" spcFirstLastPara="1" rIns="91425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ECFE5"/>
                </a:buClr>
                <a:buSzPts val="1400"/>
                <a:buFont typeface="Arial"/>
                <a:buNone/>
              </a:pPr>
              <a:r>
                <a:t/>
              </a:r>
              <a:endParaRPr b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" name="Google Shape;469;p19"/>
            <p:cNvSpPr/>
            <p:nvPr/>
          </p:nvSpPr>
          <p:spPr>
            <a:xfrm>
              <a:off x="3498420" y="1764348"/>
              <a:ext cx="16935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ECFE5"/>
                </a:buClr>
                <a:buSzPts val="1000"/>
                <a:buFont typeface="Arial Black"/>
                <a:buNone/>
              </a:pPr>
              <a:r>
                <a:rPr b="1" i="0" lang="en-US" sz="1000" u="none" cap="none" strike="noStrike">
                  <a:solidFill>
                    <a:srgbClr val="81D1F4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SPEED</a:t>
              </a:r>
              <a:endParaRPr b="0" i="0" sz="1000" u="none" cap="none" strike="noStrike">
                <a:solidFill>
                  <a:srgbClr val="81D1F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" name="Google Shape;470;p19"/>
            <p:cNvSpPr/>
            <p:nvPr/>
          </p:nvSpPr>
          <p:spPr>
            <a:xfrm>
              <a:off x="3498423" y="2156951"/>
              <a:ext cx="2831700" cy="41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0F0F0"/>
                </a:buClr>
                <a:buSzPts val="2000"/>
                <a:buFont typeface="Arial Black"/>
                <a:buNone/>
              </a:pPr>
              <a:r>
                <a:rPr b="1" i="0" lang="en-US" sz="5000" u="none" cap="none" strike="noStrike">
                  <a:solidFill>
                    <a:srgbClr val="2398FF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28.6%</a:t>
              </a:r>
              <a:endParaRPr b="0" i="0" sz="5000" u="none" cap="none" strike="noStrike">
                <a:solidFill>
                  <a:srgbClr val="2398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1" name="Google Shape;471;p19"/>
            <p:cNvSpPr/>
            <p:nvPr/>
          </p:nvSpPr>
          <p:spPr>
            <a:xfrm>
              <a:off x="3498429" y="2765735"/>
              <a:ext cx="2019300" cy="72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had clients line</a:t>
              </a:r>
              <a:r>
                <a:rPr lang="en-US" sz="1300">
                  <a:solidFill>
                    <a:schemeClr val="lt1"/>
                  </a:solidFill>
                </a:rPr>
                <a:t>d up </a:t>
              </a:r>
              <a:r>
                <a:rPr b="0" i="0" lang="en-US" sz="1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BEFORE certification</a:t>
              </a:r>
              <a:endPara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vs 21.2%</a:t>
              </a:r>
              <a:endPara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2" name="Google Shape;472;p19"/>
          <p:cNvGrpSpPr/>
          <p:nvPr/>
        </p:nvGrpSpPr>
        <p:grpSpPr>
          <a:xfrm>
            <a:off x="6078300" y="1620285"/>
            <a:ext cx="2494200" cy="2006400"/>
            <a:chOff x="6078300" y="1620285"/>
            <a:chExt cx="2494200" cy="2006400"/>
          </a:xfrm>
        </p:grpSpPr>
        <p:sp>
          <p:nvSpPr>
            <p:cNvPr id="473" name="Google Shape;473;p19"/>
            <p:cNvSpPr/>
            <p:nvPr/>
          </p:nvSpPr>
          <p:spPr>
            <a:xfrm>
              <a:off x="6078300" y="1620285"/>
              <a:ext cx="2494200" cy="2006400"/>
            </a:xfrm>
            <a:prstGeom prst="rect">
              <a:avLst/>
            </a:prstGeom>
            <a:solidFill>
              <a:srgbClr val="21235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0" lIns="91425" spcFirstLastPara="1" rIns="91425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ECFE5"/>
                </a:buClr>
                <a:buSzPts val="1400"/>
                <a:buFont typeface="Arial"/>
                <a:buNone/>
              </a:pPr>
              <a:r>
                <a:t/>
              </a:r>
              <a:endParaRPr b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" name="Google Shape;474;p19"/>
            <p:cNvSpPr/>
            <p:nvPr/>
          </p:nvSpPr>
          <p:spPr>
            <a:xfrm>
              <a:off x="6267002" y="1764348"/>
              <a:ext cx="16935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ECFE5"/>
                </a:buClr>
                <a:buSzPts val="1000"/>
                <a:buFont typeface="Arial Black"/>
                <a:buNone/>
              </a:pPr>
              <a:r>
                <a:rPr b="1" i="0" lang="en-US" sz="1000" u="none" cap="none" strike="noStrike">
                  <a:solidFill>
                    <a:srgbClr val="81D1F4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DELIVERABLES</a:t>
              </a:r>
              <a:endParaRPr b="0" i="0" sz="1000" u="none" cap="none" strike="noStrike">
                <a:solidFill>
                  <a:srgbClr val="81D1F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" name="Google Shape;475;p19"/>
            <p:cNvSpPr/>
            <p:nvPr/>
          </p:nvSpPr>
          <p:spPr>
            <a:xfrm>
              <a:off x="6267013" y="2156956"/>
              <a:ext cx="1943100" cy="41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0F0F0"/>
                </a:buClr>
                <a:buSzPts val="2000"/>
                <a:buFont typeface="Arial Black"/>
                <a:buNone/>
              </a:pPr>
              <a:r>
                <a:rPr b="1" i="0" lang="en-US" sz="5000" u="none" cap="none" strike="noStrike">
                  <a:solidFill>
                    <a:srgbClr val="2398FF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44%</a:t>
              </a:r>
              <a:endParaRPr b="0" i="0" sz="5000" u="none" cap="none" strike="noStrike">
                <a:solidFill>
                  <a:srgbClr val="2398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" name="Google Shape;476;p19"/>
            <p:cNvSpPr/>
            <p:nvPr/>
          </p:nvSpPr>
          <p:spPr>
            <a:xfrm>
              <a:off x="6267013" y="2765735"/>
              <a:ext cx="2019300" cy="72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provide full production work (editing</a:t>
              </a:r>
              <a:r>
                <a:rPr lang="en-US" sz="1300">
                  <a:solidFill>
                    <a:schemeClr val="lt1"/>
                  </a:solidFill>
                </a:rPr>
                <a:t> instead of raw files)</a:t>
              </a:r>
              <a:r>
                <a:rPr lang="en-US" sz="13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1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vs 30%</a:t>
              </a:r>
              <a:endPara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7" name="Google Shape;477;p19"/>
          <p:cNvSpPr/>
          <p:nvPr/>
        </p:nvSpPr>
        <p:spPr>
          <a:xfrm>
            <a:off x="1338600" y="3861279"/>
            <a:ext cx="6466800" cy="72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98FF"/>
              </a:buClr>
              <a:buSzPts val="1400"/>
              <a:buFont typeface="Arial"/>
              <a:buNone/>
            </a:pPr>
            <a:r>
              <a:rPr i="0" lang="en-US" sz="1800" u="none" cap="none" strike="noStrike">
                <a:solidFill>
                  <a:schemeClr val="lt1"/>
                </a:solidFill>
              </a:rPr>
              <a:t>The pattern is clear: High earners charge more, move faster, and </a:t>
            </a:r>
            <a:r>
              <a:rPr lang="en-US" sz="1800">
                <a:solidFill>
                  <a:schemeClr val="lt1"/>
                </a:solidFill>
              </a:rPr>
              <a:t>provide more value.</a:t>
            </a:r>
            <a:endParaRPr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33"/>
        </a:solidFill>
      </p:bgPr>
    </p:bg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1"/>
          <p:cNvSpPr/>
          <p:nvPr/>
        </p:nvSpPr>
        <p:spPr>
          <a:xfrm>
            <a:off x="457200" y="275659"/>
            <a:ext cx="8229600" cy="548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3600"/>
              <a:buFont typeface="Arial Black"/>
              <a:buNone/>
            </a:pPr>
            <a:r>
              <a:rPr b="1" i="0" lang="en-US" sz="3600" u="none" cap="none" strike="noStrike">
                <a:solidFill>
                  <a:srgbClr val="F0F0F0"/>
                </a:solidFill>
                <a:latin typeface="Arial Black"/>
                <a:ea typeface="Arial Black"/>
                <a:cs typeface="Arial Black"/>
                <a:sym typeface="Arial Black"/>
              </a:rPr>
              <a:t>The 3-Part Playbook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1"/>
          <p:cNvSpPr/>
          <p:nvPr/>
        </p:nvSpPr>
        <p:spPr>
          <a:xfrm>
            <a:off x="457200" y="812854"/>
            <a:ext cx="8229600" cy="365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Your step-by-step system to land a client in 7 days</a:t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1"/>
          <p:cNvSpPr/>
          <p:nvPr/>
        </p:nvSpPr>
        <p:spPr>
          <a:xfrm>
            <a:off x="1874500" y="1456819"/>
            <a:ext cx="548700" cy="548700"/>
          </a:xfrm>
          <a:prstGeom prst="ellipse">
            <a:avLst/>
          </a:prstGeom>
          <a:solidFill>
            <a:srgbClr val="2398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2400"/>
              <a:buFont typeface="Arial Black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1"/>
          <p:cNvSpPr/>
          <p:nvPr/>
        </p:nvSpPr>
        <p:spPr>
          <a:xfrm>
            <a:off x="1262650" y="2183086"/>
            <a:ext cx="1772400" cy="548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98FF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2398FF"/>
                </a:solidFill>
                <a:latin typeface="Arial Black"/>
                <a:ea typeface="Arial Black"/>
                <a:cs typeface="Arial Black"/>
                <a:sym typeface="Arial Black"/>
              </a:rPr>
              <a:t>The Client Map</a:t>
            </a:r>
            <a:endParaRPr b="0" i="0" sz="1800" u="none" cap="none" strike="noStrike">
              <a:solidFill>
                <a:srgbClr val="2398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1"/>
          <p:cNvSpPr/>
          <p:nvPr/>
        </p:nvSpPr>
        <p:spPr>
          <a:xfrm>
            <a:off x="1005850" y="2867217"/>
            <a:ext cx="2286000" cy="365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Who to contact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how to reach them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1"/>
          <p:cNvSpPr/>
          <p:nvPr/>
        </p:nvSpPr>
        <p:spPr>
          <a:xfrm>
            <a:off x="4297660" y="1456819"/>
            <a:ext cx="548700" cy="548700"/>
          </a:xfrm>
          <a:prstGeom prst="ellipse">
            <a:avLst/>
          </a:prstGeom>
          <a:solidFill>
            <a:srgbClr val="2398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2400"/>
              <a:buFont typeface="Arial Black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1"/>
          <p:cNvSpPr/>
          <p:nvPr/>
        </p:nvSpPr>
        <p:spPr>
          <a:xfrm>
            <a:off x="3429000" y="2185285"/>
            <a:ext cx="2286000" cy="5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E33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2398FF"/>
                </a:solidFill>
                <a:latin typeface="Arial Black"/>
                <a:ea typeface="Arial Black"/>
                <a:cs typeface="Arial Black"/>
                <a:sym typeface="Arial Black"/>
              </a:rPr>
              <a:t>The Marketing Roadmap</a:t>
            </a:r>
            <a:endParaRPr b="0" i="0" sz="1800" u="none" cap="none" strike="noStrike">
              <a:solidFill>
                <a:srgbClr val="2398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1"/>
          <p:cNvSpPr/>
          <p:nvPr/>
        </p:nvSpPr>
        <p:spPr>
          <a:xfrm>
            <a:off x="3429000" y="2867217"/>
            <a:ext cx="2286000" cy="365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Your pitch, offer,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pricing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1"/>
          <p:cNvSpPr/>
          <p:nvPr/>
        </p:nvSpPr>
        <p:spPr>
          <a:xfrm>
            <a:off x="6720801" y="1456819"/>
            <a:ext cx="548700" cy="548700"/>
          </a:xfrm>
          <a:prstGeom prst="ellipse">
            <a:avLst/>
          </a:prstGeom>
          <a:solidFill>
            <a:srgbClr val="2398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2400"/>
              <a:buFont typeface="Arial Black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1"/>
          <p:cNvSpPr/>
          <p:nvPr/>
        </p:nvSpPr>
        <p:spPr>
          <a:xfrm>
            <a:off x="5852151" y="2183085"/>
            <a:ext cx="2286000" cy="5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CFE5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2398FF"/>
                </a:solidFill>
                <a:latin typeface="Arial Black"/>
                <a:ea typeface="Arial Black"/>
                <a:cs typeface="Arial Black"/>
                <a:sym typeface="Arial Black"/>
              </a:rPr>
              <a:t>The Portfolio Playbook</a:t>
            </a:r>
            <a:endParaRPr b="0" i="0" sz="1800" u="none" cap="none" strike="noStrike">
              <a:solidFill>
                <a:srgbClr val="2398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1"/>
          <p:cNvSpPr/>
          <p:nvPr/>
        </p:nvSpPr>
        <p:spPr>
          <a:xfrm>
            <a:off x="5852151" y="2867217"/>
            <a:ext cx="2286000" cy="365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Get </a:t>
            </a:r>
            <a:r>
              <a:rPr lang="en-US" sz="1300">
                <a:solidFill>
                  <a:schemeClr val="lt1"/>
                </a:solidFill>
              </a:rPr>
              <a:t>footage</a:t>
            </a:r>
            <a:r>
              <a:rPr b="0" i="0" lang="en-US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fast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with a mock job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1"/>
          <p:cNvSpPr/>
          <p:nvPr/>
        </p:nvSpPr>
        <p:spPr>
          <a:xfrm>
            <a:off x="571500" y="3594452"/>
            <a:ext cx="8001000" cy="457200"/>
          </a:xfrm>
          <a:prstGeom prst="rect">
            <a:avLst/>
          </a:prstGeom>
          <a:solidFill>
            <a:srgbClr val="212353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E3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81D1F4"/>
                </a:solidFill>
                <a:latin typeface="Arial"/>
                <a:ea typeface="Arial"/>
                <a:cs typeface="Arial"/>
                <a:sym typeface="Arial"/>
              </a:rPr>
              <a:t>+ A 7-Day Action Checklist</a:t>
            </a:r>
            <a:endParaRPr b="0" i="0" sz="1800" u="none" cap="none" strike="noStrike">
              <a:solidFill>
                <a:srgbClr val="81D1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1"/>
          <p:cNvSpPr/>
          <p:nvPr/>
        </p:nvSpPr>
        <p:spPr>
          <a:xfrm>
            <a:off x="457200" y="4269243"/>
            <a:ext cx="8229600" cy="548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600"/>
              <a:buFont typeface="Arial"/>
              <a:buNone/>
            </a:pPr>
            <a:r>
              <a:rPr b="0" i="0" lang="en-US" sz="15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I'm going to walk you through each part right now.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600"/>
              <a:buFont typeface="Arial"/>
              <a:buNone/>
            </a:pPr>
            <a:r>
              <a:rPr b="0" i="0" lang="en-US" sz="15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Then you'll get the full playbook PDF at the end.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1"/>
          <p:cNvSpPr/>
          <p:nvPr/>
        </p:nvSpPr>
        <p:spPr>
          <a:xfrm>
            <a:off x="0" y="0"/>
            <a:ext cx="109800" cy="5148000"/>
          </a:xfrm>
          <a:prstGeom prst="rect">
            <a:avLst/>
          </a:prstGeom>
          <a:solidFill>
            <a:srgbClr val="239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33"/>
        </a:solidFill>
      </p:bgPr>
    </p:bg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22"/>
          <p:cNvSpPr/>
          <p:nvPr/>
        </p:nvSpPr>
        <p:spPr>
          <a:xfrm>
            <a:off x="565074" y="387569"/>
            <a:ext cx="914400" cy="365700"/>
          </a:xfrm>
          <a:prstGeom prst="rect">
            <a:avLst/>
          </a:prstGeom>
          <a:solidFill>
            <a:srgbClr val="239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200"/>
              <a:buFont typeface="Arial Black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</a:rPr>
              <a:t>PART 1</a:t>
            </a:r>
            <a:endParaRPr i="0" sz="1200" u="none" cap="none" strike="noStrike">
              <a:solidFill>
                <a:schemeClr val="lt1"/>
              </a:solidFill>
            </a:endParaRPr>
          </a:p>
        </p:txBody>
      </p:sp>
      <p:sp>
        <p:nvSpPr>
          <p:cNvPr id="503" name="Google Shape;503;p22"/>
          <p:cNvSpPr/>
          <p:nvPr/>
        </p:nvSpPr>
        <p:spPr>
          <a:xfrm>
            <a:off x="1671013" y="322542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98FF"/>
              </a:buClr>
              <a:buSzPts val="3200"/>
              <a:buFont typeface="Arial Black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The Client Map</a:t>
            </a:r>
            <a:endParaRPr b="0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2"/>
          <p:cNvSpPr/>
          <p:nvPr/>
        </p:nvSpPr>
        <p:spPr>
          <a:xfrm>
            <a:off x="1671013" y="795554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Arial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Remember: 43.9% got their first client from people they already knew</a:t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2"/>
          <p:cNvSpPr/>
          <p:nvPr/>
        </p:nvSpPr>
        <p:spPr>
          <a:xfrm>
            <a:off x="559040" y="1582691"/>
            <a:ext cx="3970800" cy="15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600"/>
              <a:buFont typeface="Arial"/>
              <a:buNone/>
            </a:pPr>
            <a:r>
              <a:rPr i="0" lang="en-US" sz="1500" u="none" cap="none" strike="noStrike">
                <a:solidFill>
                  <a:srgbClr val="F0F0F0"/>
                </a:solidFill>
              </a:rPr>
              <a:t>3 Exercises:</a:t>
            </a:r>
            <a:endParaRPr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2"/>
          <p:cNvSpPr/>
          <p:nvPr/>
        </p:nvSpPr>
        <p:spPr>
          <a:xfrm>
            <a:off x="566600" y="2051807"/>
            <a:ext cx="501600" cy="501600"/>
          </a:xfrm>
          <a:prstGeom prst="ellipse">
            <a:avLst/>
          </a:prstGeom>
          <a:solidFill>
            <a:srgbClr val="239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950"/>
              <a:buFont typeface="Arial Black"/>
              <a:buNone/>
            </a:pPr>
            <a:r>
              <a:rPr b="1" i="0" lang="en-US" sz="1949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b="0" i="0" sz="1949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2"/>
          <p:cNvSpPr/>
          <p:nvPr/>
        </p:nvSpPr>
        <p:spPr>
          <a:xfrm>
            <a:off x="1251926" y="2064719"/>
            <a:ext cx="1401900" cy="41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Who Do You Know?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2"/>
          <p:cNvSpPr/>
          <p:nvPr/>
        </p:nvSpPr>
        <p:spPr>
          <a:xfrm>
            <a:off x="1251925" y="2646833"/>
            <a:ext cx="1584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Arial"/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List 10-20 people in your personal network</a:t>
            </a:r>
            <a:endParaRPr b="0" i="0" sz="1500" u="none" cap="none" strike="noStrik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2"/>
          <p:cNvSpPr/>
          <p:nvPr/>
        </p:nvSpPr>
        <p:spPr>
          <a:xfrm>
            <a:off x="3256042" y="2051807"/>
            <a:ext cx="501600" cy="501600"/>
          </a:xfrm>
          <a:prstGeom prst="ellipse">
            <a:avLst/>
          </a:prstGeom>
          <a:solidFill>
            <a:srgbClr val="239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950"/>
              <a:buFont typeface="Arial Black"/>
              <a:buNone/>
            </a:pPr>
            <a:r>
              <a:rPr b="1" i="0" lang="en-US" sz="1949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b="0" i="0" sz="1949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2"/>
          <p:cNvSpPr/>
          <p:nvPr/>
        </p:nvSpPr>
        <p:spPr>
          <a:xfrm>
            <a:off x="3966404" y="2064719"/>
            <a:ext cx="1401900" cy="41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Local Businesses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2"/>
          <p:cNvSpPr/>
          <p:nvPr/>
        </p:nvSpPr>
        <p:spPr>
          <a:xfrm>
            <a:off x="3966401" y="2646833"/>
            <a:ext cx="16677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Arial"/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List 5+ businesses that need drone services</a:t>
            </a:r>
            <a:endParaRPr b="0" i="0" sz="1500" u="none" cap="none" strike="noStrik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2"/>
          <p:cNvSpPr/>
          <p:nvPr/>
        </p:nvSpPr>
        <p:spPr>
          <a:xfrm>
            <a:off x="6059432" y="2051807"/>
            <a:ext cx="501600" cy="501600"/>
          </a:xfrm>
          <a:prstGeom prst="ellipse">
            <a:avLst/>
          </a:prstGeom>
          <a:solidFill>
            <a:srgbClr val="239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950"/>
              <a:buFont typeface="Arial Black"/>
              <a:buNone/>
            </a:pPr>
            <a:r>
              <a:rPr b="1" i="0" lang="en-US" sz="1949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b="0" i="0" sz="1949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2"/>
          <p:cNvSpPr/>
          <p:nvPr/>
        </p:nvSpPr>
        <p:spPr>
          <a:xfrm>
            <a:off x="6764031" y="2064719"/>
            <a:ext cx="1401900" cy="41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Social Media Post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2"/>
          <p:cNvSpPr/>
          <p:nvPr/>
        </p:nvSpPr>
        <p:spPr>
          <a:xfrm>
            <a:off x="6764045" y="2646833"/>
            <a:ext cx="16677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Arial"/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Announce your services to your wider network</a:t>
            </a:r>
            <a:endParaRPr b="0" i="0" sz="1500" u="none" cap="none" strike="noStrik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2"/>
          <p:cNvSpPr/>
          <p:nvPr/>
        </p:nvSpPr>
        <p:spPr>
          <a:xfrm>
            <a:off x="547300" y="4067999"/>
            <a:ext cx="8025300" cy="412500"/>
          </a:xfrm>
          <a:prstGeom prst="rect">
            <a:avLst/>
          </a:prstGeom>
          <a:solidFill>
            <a:srgbClr val="21235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BE33"/>
              </a:buClr>
              <a:buSzPts val="1600"/>
              <a:buFont typeface="Arial"/>
              <a:buNone/>
            </a:pPr>
            <a:r>
              <a:rPr lang="en-US" sz="1500">
                <a:solidFill>
                  <a:srgbClr val="81D1F4"/>
                </a:solidFill>
              </a:rPr>
              <a:t>Let's do Exercise 1 together right now...</a:t>
            </a:r>
            <a:endParaRPr sz="1500">
              <a:solidFill>
                <a:srgbClr val="81D1F4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33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23"/>
          <p:cNvSpPr/>
          <p:nvPr/>
        </p:nvSpPr>
        <p:spPr>
          <a:xfrm>
            <a:off x="547301" y="378197"/>
            <a:ext cx="82296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98FF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Exercise 1: Who Do You Know?</a:t>
            </a:r>
            <a:endParaRPr b="0" i="0" sz="2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3"/>
          <p:cNvSpPr/>
          <p:nvPr/>
        </p:nvSpPr>
        <p:spPr>
          <a:xfrm>
            <a:off x="547301" y="796547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Arial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Think of 10-20 people who might need drone services OR know someone who does:</a:t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3" name="Google Shape;523;p23"/>
          <p:cNvGrpSpPr/>
          <p:nvPr/>
        </p:nvGrpSpPr>
        <p:grpSpPr>
          <a:xfrm>
            <a:off x="547297" y="1260949"/>
            <a:ext cx="7243319" cy="1419576"/>
            <a:chOff x="547297" y="1260949"/>
            <a:chExt cx="7243319" cy="1419576"/>
          </a:xfrm>
        </p:grpSpPr>
        <p:grpSp>
          <p:nvGrpSpPr>
            <p:cNvPr id="524" name="Google Shape;524;p23"/>
            <p:cNvGrpSpPr/>
            <p:nvPr/>
          </p:nvGrpSpPr>
          <p:grpSpPr>
            <a:xfrm>
              <a:off x="547297" y="1260949"/>
              <a:ext cx="7243319" cy="160500"/>
              <a:chOff x="547297" y="1336749"/>
              <a:chExt cx="7243319" cy="160500"/>
            </a:xfrm>
          </p:grpSpPr>
          <p:sp>
            <p:nvSpPr>
              <p:cNvPr id="525" name="Google Shape;525;p23"/>
              <p:cNvSpPr/>
              <p:nvPr/>
            </p:nvSpPr>
            <p:spPr>
              <a:xfrm>
                <a:off x="547297" y="1336749"/>
                <a:ext cx="3076224" cy="16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F0F0F0"/>
                  </a:buClr>
                  <a:buSzPts val="1500"/>
                  <a:buFont typeface="Arial"/>
                  <a:buNone/>
                </a:pPr>
                <a:r>
                  <a:rPr lang="en-US" sz="1500">
                    <a:solidFill>
                      <a:schemeClr val="lt1"/>
                    </a:solidFill>
                  </a:rPr>
                  <a:t>•  </a:t>
                </a:r>
                <a:r>
                  <a:rPr b="0" i="0" lang="en-US" sz="1500" u="none" cap="none" strike="noStrike">
                    <a:solidFill>
                      <a:srgbClr val="F0F0F0"/>
                    </a:solidFill>
                    <a:latin typeface="Arial"/>
                    <a:ea typeface="Arial"/>
                    <a:cs typeface="Arial"/>
                    <a:sym typeface="Arial"/>
                  </a:rPr>
                  <a:t>Real estate agents</a:t>
                </a:r>
                <a:endParaRPr b="0" i="0" sz="1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" name="Google Shape;526;p23"/>
              <p:cNvSpPr/>
              <p:nvPr/>
            </p:nvSpPr>
            <p:spPr>
              <a:xfrm>
                <a:off x="4714415" y="1336749"/>
                <a:ext cx="3076200" cy="16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F0F0F0"/>
                  </a:buClr>
                  <a:buSzPts val="1500"/>
                  <a:buFont typeface="Arial"/>
                  <a:buNone/>
                </a:pPr>
                <a:r>
                  <a:rPr lang="en-US" sz="1500">
                    <a:solidFill>
                      <a:schemeClr val="lt1"/>
                    </a:solidFill>
                  </a:rPr>
                  <a:t>•  </a:t>
                </a:r>
                <a:r>
                  <a:rPr b="0" i="0" lang="en-US" sz="1500" u="none" cap="none" strike="noStrike">
                    <a:solidFill>
                      <a:srgbClr val="F0F0F0"/>
                    </a:solidFill>
                    <a:latin typeface="Arial"/>
                    <a:ea typeface="Arial"/>
                    <a:cs typeface="Arial"/>
                    <a:sym typeface="Arial"/>
                  </a:rPr>
                  <a:t>Friends who own businesses</a:t>
                </a:r>
                <a:endParaRPr b="0" i="0" sz="1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7" name="Google Shape;527;p23"/>
            <p:cNvGrpSpPr/>
            <p:nvPr/>
          </p:nvGrpSpPr>
          <p:grpSpPr>
            <a:xfrm>
              <a:off x="547297" y="1575715"/>
              <a:ext cx="7243319" cy="160500"/>
              <a:chOff x="547297" y="1677262"/>
              <a:chExt cx="7243319" cy="160500"/>
            </a:xfrm>
          </p:grpSpPr>
          <p:sp>
            <p:nvSpPr>
              <p:cNvPr id="528" name="Google Shape;528;p23"/>
              <p:cNvSpPr/>
              <p:nvPr/>
            </p:nvSpPr>
            <p:spPr>
              <a:xfrm>
                <a:off x="547297" y="1677262"/>
                <a:ext cx="3076224" cy="16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F0F0F0"/>
                  </a:buClr>
                  <a:buSzPts val="1500"/>
                  <a:buFont typeface="Arial"/>
                  <a:buNone/>
                </a:pPr>
                <a:r>
                  <a:rPr lang="en-US" sz="1500">
                    <a:solidFill>
                      <a:schemeClr val="lt1"/>
                    </a:solidFill>
                  </a:rPr>
                  <a:t>•  </a:t>
                </a:r>
                <a:r>
                  <a:rPr b="0" i="0" lang="en-US" sz="1500" u="none" cap="none" strike="noStrike">
                    <a:solidFill>
                      <a:srgbClr val="F0F0F0"/>
                    </a:solidFill>
                    <a:latin typeface="Arial"/>
                    <a:ea typeface="Arial"/>
                    <a:cs typeface="Arial"/>
                    <a:sym typeface="Arial"/>
                  </a:rPr>
                  <a:t>Contractors / builders</a:t>
                </a:r>
                <a:endParaRPr b="0" i="0" sz="1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" name="Google Shape;529;p23"/>
              <p:cNvSpPr/>
              <p:nvPr/>
            </p:nvSpPr>
            <p:spPr>
              <a:xfrm>
                <a:off x="4714415" y="1677262"/>
                <a:ext cx="3076200" cy="16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F0F0F0"/>
                  </a:buClr>
                  <a:buSzPts val="1500"/>
                  <a:buFont typeface="Arial"/>
                  <a:buNone/>
                </a:pPr>
                <a:r>
                  <a:rPr lang="en-US" sz="1500">
                    <a:solidFill>
                      <a:schemeClr val="lt1"/>
                    </a:solidFill>
                  </a:rPr>
                  <a:t>•  </a:t>
                </a:r>
                <a:r>
                  <a:rPr b="0" i="0" lang="en-US" sz="1500" u="none" cap="none" strike="noStrike">
                    <a:solidFill>
                      <a:srgbClr val="F0F0F0"/>
                    </a:solidFill>
                    <a:latin typeface="Arial"/>
                    <a:ea typeface="Arial"/>
                    <a:cs typeface="Arial"/>
                    <a:sym typeface="Arial"/>
                  </a:rPr>
                  <a:t>Family with connections</a:t>
                </a:r>
                <a:endParaRPr b="0" i="0" sz="1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0" name="Google Shape;530;p23"/>
            <p:cNvGrpSpPr/>
            <p:nvPr/>
          </p:nvGrpSpPr>
          <p:grpSpPr>
            <a:xfrm>
              <a:off x="547297" y="1890481"/>
              <a:ext cx="7243319" cy="160500"/>
              <a:chOff x="547297" y="2017774"/>
              <a:chExt cx="7243319" cy="160500"/>
            </a:xfrm>
          </p:grpSpPr>
          <p:sp>
            <p:nvSpPr>
              <p:cNvPr id="531" name="Google Shape;531;p23"/>
              <p:cNvSpPr/>
              <p:nvPr/>
            </p:nvSpPr>
            <p:spPr>
              <a:xfrm>
                <a:off x="547297" y="2017774"/>
                <a:ext cx="3076224" cy="16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F0F0F0"/>
                  </a:buClr>
                  <a:buSzPts val="1500"/>
                  <a:buFont typeface="Arial"/>
                  <a:buNone/>
                </a:pPr>
                <a:r>
                  <a:rPr lang="en-US" sz="1500">
                    <a:solidFill>
                      <a:schemeClr val="lt1"/>
                    </a:solidFill>
                  </a:rPr>
                  <a:t>•  </a:t>
                </a:r>
                <a:r>
                  <a:rPr b="0" i="0" lang="en-US" sz="1500" u="none" cap="none" strike="noStrike">
                    <a:solidFill>
                      <a:srgbClr val="F0F0F0"/>
                    </a:solidFill>
                    <a:latin typeface="Arial"/>
                    <a:ea typeface="Arial"/>
                    <a:cs typeface="Arial"/>
                    <a:sym typeface="Arial"/>
                  </a:rPr>
                  <a:t>Farmers / landowners</a:t>
                </a:r>
                <a:endParaRPr b="0" i="0" sz="1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2" name="Google Shape;532;p23"/>
              <p:cNvSpPr/>
              <p:nvPr/>
            </p:nvSpPr>
            <p:spPr>
              <a:xfrm>
                <a:off x="4714415" y="2017774"/>
                <a:ext cx="3076200" cy="16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F0F0F0"/>
                  </a:buClr>
                  <a:buSzPts val="1500"/>
                  <a:buFont typeface="Arial"/>
                  <a:buNone/>
                </a:pPr>
                <a:r>
                  <a:rPr lang="en-US" sz="1500">
                    <a:solidFill>
                      <a:schemeClr val="lt1"/>
                    </a:solidFill>
                  </a:rPr>
                  <a:t>•  </a:t>
                </a:r>
                <a:r>
                  <a:rPr b="0" i="0" lang="en-US" sz="1500" u="none" cap="none" strike="noStrike">
                    <a:solidFill>
                      <a:srgbClr val="F0F0F0"/>
                    </a:solidFill>
                    <a:latin typeface="Arial"/>
                    <a:ea typeface="Arial"/>
                    <a:cs typeface="Arial"/>
                    <a:sym typeface="Arial"/>
                  </a:rPr>
                  <a:t>Former coworkers</a:t>
                </a:r>
                <a:endParaRPr b="0" i="0" sz="1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3" name="Google Shape;533;p23"/>
            <p:cNvGrpSpPr/>
            <p:nvPr/>
          </p:nvGrpSpPr>
          <p:grpSpPr>
            <a:xfrm>
              <a:off x="547297" y="2205247"/>
              <a:ext cx="7243319" cy="160513"/>
              <a:chOff x="547297" y="2358287"/>
              <a:chExt cx="7243319" cy="160513"/>
            </a:xfrm>
          </p:grpSpPr>
          <p:sp>
            <p:nvSpPr>
              <p:cNvPr id="534" name="Google Shape;534;p23"/>
              <p:cNvSpPr/>
              <p:nvPr/>
            </p:nvSpPr>
            <p:spPr>
              <a:xfrm>
                <a:off x="547297" y="2358300"/>
                <a:ext cx="3076200" cy="16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F0F0F0"/>
                  </a:buClr>
                  <a:buSzPts val="1500"/>
                  <a:buFont typeface="Arial"/>
                  <a:buNone/>
                </a:pPr>
                <a:r>
                  <a:rPr lang="en-US" sz="1500">
                    <a:solidFill>
                      <a:schemeClr val="lt1"/>
                    </a:solidFill>
                  </a:rPr>
                  <a:t>•  </a:t>
                </a:r>
                <a:r>
                  <a:rPr b="0" i="0" lang="en-US" sz="1500" u="none" cap="none" strike="noStrike">
                    <a:solidFill>
                      <a:srgbClr val="F0F0F0"/>
                    </a:solidFill>
                    <a:latin typeface="Arial"/>
                    <a:ea typeface="Arial"/>
                    <a:cs typeface="Arial"/>
                    <a:sym typeface="Arial"/>
                  </a:rPr>
                  <a:t>Event planners</a:t>
                </a:r>
                <a:endParaRPr b="0" i="0" sz="1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" name="Google Shape;535;p23"/>
              <p:cNvSpPr/>
              <p:nvPr/>
            </p:nvSpPr>
            <p:spPr>
              <a:xfrm>
                <a:off x="4714415" y="2358287"/>
                <a:ext cx="3076200" cy="16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F0F0F0"/>
                  </a:buClr>
                  <a:buSzPts val="1500"/>
                  <a:buFont typeface="Arial"/>
                  <a:buNone/>
                </a:pPr>
                <a:r>
                  <a:rPr lang="en-US" sz="1500">
                    <a:solidFill>
                      <a:schemeClr val="lt1"/>
                    </a:solidFill>
                  </a:rPr>
                  <a:t>•  </a:t>
                </a:r>
                <a:r>
                  <a:rPr b="0" i="0" lang="en-US" sz="1500" u="none" cap="none" strike="noStrike">
                    <a:solidFill>
                      <a:srgbClr val="F0F0F0"/>
                    </a:solidFill>
                    <a:latin typeface="Arial"/>
                    <a:ea typeface="Arial"/>
                    <a:cs typeface="Arial"/>
                    <a:sym typeface="Arial"/>
                  </a:rPr>
                  <a:t>Neighbors</a:t>
                </a:r>
                <a:endParaRPr b="0" i="0" sz="1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6" name="Google Shape;536;p23"/>
            <p:cNvGrpSpPr/>
            <p:nvPr/>
          </p:nvGrpSpPr>
          <p:grpSpPr>
            <a:xfrm>
              <a:off x="547297" y="2520025"/>
              <a:ext cx="7243319" cy="160500"/>
              <a:chOff x="547297" y="2595824"/>
              <a:chExt cx="7243319" cy="160500"/>
            </a:xfrm>
          </p:grpSpPr>
          <p:sp>
            <p:nvSpPr>
              <p:cNvPr id="537" name="Google Shape;537;p23"/>
              <p:cNvSpPr/>
              <p:nvPr/>
            </p:nvSpPr>
            <p:spPr>
              <a:xfrm>
                <a:off x="547297" y="2595824"/>
                <a:ext cx="3076200" cy="16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F0F0F0"/>
                  </a:buClr>
                  <a:buSzPts val="1500"/>
                  <a:buFont typeface="Arial"/>
                  <a:buNone/>
                </a:pPr>
                <a:r>
                  <a:rPr lang="en-US" sz="1500">
                    <a:solidFill>
                      <a:schemeClr val="lt1"/>
                    </a:solidFill>
                  </a:rPr>
                  <a:t>•  </a:t>
                </a:r>
                <a:r>
                  <a:rPr b="0" i="0" lang="en-US" sz="1500" u="none" cap="none" strike="noStrike">
                    <a:solidFill>
                      <a:srgbClr val="F0F0F0"/>
                    </a:solidFill>
                    <a:latin typeface="Arial"/>
                    <a:ea typeface="Arial"/>
                    <a:cs typeface="Arial"/>
                    <a:sym typeface="Arial"/>
                  </a:rPr>
                  <a:t>Marketing professionals</a:t>
                </a:r>
                <a:endParaRPr b="0" i="0" sz="1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" name="Google Shape;538;p23"/>
              <p:cNvSpPr/>
              <p:nvPr/>
            </p:nvSpPr>
            <p:spPr>
              <a:xfrm>
                <a:off x="4714415" y="2595824"/>
                <a:ext cx="3076200" cy="16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F0F0F0"/>
                  </a:buClr>
                  <a:buSzPts val="1500"/>
                  <a:buFont typeface="Arial"/>
                  <a:buNone/>
                </a:pPr>
                <a:r>
                  <a:rPr lang="en-US" sz="1500">
                    <a:solidFill>
                      <a:schemeClr val="lt1"/>
                    </a:solidFill>
                  </a:rPr>
                  <a:t>•  </a:t>
                </a:r>
                <a:r>
                  <a:rPr b="0" i="0" lang="en-US" sz="1500" u="none" cap="none" strike="noStrike">
                    <a:solidFill>
                      <a:srgbClr val="F0F0F0"/>
                    </a:solidFill>
                    <a:latin typeface="Arial"/>
                    <a:ea typeface="Arial"/>
                    <a:cs typeface="Arial"/>
                    <a:sym typeface="Arial"/>
                  </a:rPr>
                  <a:t>People from church, gym, clubs</a:t>
                </a:r>
                <a:endParaRPr b="0" i="0" sz="15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39" name="Google Shape;539;p23"/>
          <p:cNvSpPr/>
          <p:nvPr/>
        </p:nvSpPr>
        <p:spPr>
          <a:xfrm>
            <a:off x="547300" y="3019719"/>
            <a:ext cx="8229600" cy="7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400"/>
              <a:buFont typeface="Arial"/>
              <a:buNone/>
            </a:pPr>
            <a:r>
              <a:rPr i="0" lang="en-US" sz="1500" u="none" cap="none" strike="noStrike">
                <a:solidFill>
                  <a:srgbClr val="F0F0F0"/>
                </a:solidFill>
              </a:rPr>
              <a:t>Now pick your TOP 5:</a:t>
            </a:r>
            <a:endParaRPr b="1" sz="1500">
              <a:solidFill>
                <a:srgbClr val="F0F0F0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Clr>
                <a:srgbClr val="F0F0F0"/>
              </a:buClr>
              <a:buSzPts val="1400"/>
              <a:buFont typeface="Arial"/>
              <a:buNone/>
            </a:pPr>
            <a:r>
              <a:rPr lang="en-US" sz="1500">
                <a:solidFill>
                  <a:schemeClr val="lt1"/>
                </a:solidFill>
              </a:rPr>
              <a:t>•  </a:t>
            </a:r>
            <a:r>
              <a:rPr b="0" i="0" lang="en-U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Most likely to HIRE you directly</a:t>
            </a:r>
            <a:br>
              <a:rPr b="0" i="0" lang="en-U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chemeClr val="lt1"/>
                </a:solidFill>
              </a:rPr>
              <a:t>•  </a:t>
            </a:r>
            <a:r>
              <a:rPr b="0" i="0" lang="en-U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Most likely to REFER you to someone</a:t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3"/>
          <p:cNvSpPr/>
          <p:nvPr/>
        </p:nvSpPr>
        <p:spPr>
          <a:xfrm>
            <a:off x="571500" y="4131692"/>
            <a:ext cx="8001000" cy="464400"/>
          </a:xfrm>
          <a:prstGeom prst="rect">
            <a:avLst/>
          </a:prstGeom>
          <a:solidFill>
            <a:srgbClr val="21235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E33"/>
              </a:buClr>
              <a:buSzPts val="1500"/>
              <a:buFont typeface="Arial"/>
              <a:buNone/>
            </a:pPr>
            <a:r>
              <a:rPr i="0" lang="en-US" sz="1500" u="none" cap="none" strike="noStrike">
                <a:solidFill>
                  <a:srgbClr val="81D1F4"/>
                </a:solidFill>
              </a:rPr>
              <a:t>Take 60 seconds right now. Write down 5 names.</a:t>
            </a:r>
            <a:endParaRPr i="0" sz="1500" u="none" cap="none" strike="noStrike">
              <a:solidFill>
                <a:srgbClr val="81D1F4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33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24"/>
          <p:cNvSpPr/>
          <p:nvPr/>
        </p:nvSpPr>
        <p:spPr>
          <a:xfrm>
            <a:off x="559143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98FF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Exercise 2: Local Businesses</a:t>
            </a:r>
            <a:endParaRPr b="0" i="0" sz="2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4"/>
          <p:cNvSpPr/>
          <p:nvPr/>
        </p:nvSpPr>
        <p:spPr>
          <a:xfrm>
            <a:off x="559143" y="793458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Arial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List 5+ local businesses that would benefit from drone services:</a:t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48" name="Google Shape;548;p24"/>
          <p:cNvGrpSpPr/>
          <p:nvPr/>
        </p:nvGrpSpPr>
        <p:grpSpPr>
          <a:xfrm>
            <a:off x="559150" y="1379384"/>
            <a:ext cx="7107475" cy="203100"/>
            <a:chOff x="559150" y="1379384"/>
            <a:chExt cx="7107475" cy="203100"/>
          </a:xfrm>
        </p:grpSpPr>
        <p:sp>
          <p:nvSpPr>
            <p:cNvPr id="549" name="Google Shape;549;p24"/>
            <p:cNvSpPr/>
            <p:nvPr/>
          </p:nvSpPr>
          <p:spPr>
            <a:xfrm>
              <a:off x="559150" y="1379384"/>
              <a:ext cx="2808600" cy="20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BE33"/>
                </a:buClr>
                <a:buSzPts val="16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81D1F4"/>
                  </a:solidFill>
                  <a:latin typeface="Arial"/>
                  <a:ea typeface="Arial"/>
                  <a:cs typeface="Arial"/>
                  <a:sym typeface="Arial"/>
                </a:rPr>
                <a:t>Real Estate Agencies</a:t>
              </a:r>
              <a:endParaRPr b="0" i="0" sz="1800" u="none" cap="none" strike="noStrike">
                <a:solidFill>
                  <a:srgbClr val="81D1F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0" name="Google Shape;550;p24"/>
            <p:cNvSpPr/>
            <p:nvPr/>
          </p:nvSpPr>
          <p:spPr>
            <a:xfrm>
              <a:off x="3474725" y="1379384"/>
              <a:ext cx="4191900" cy="20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1300"/>
                <a:buFont typeface="Arial"/>
                <a:buNone/>
              </a:pPr>
              <a:r>
                <a:rPr b="0" i="0" lang="en-US" sz="1500" u="none" cap="none" strike="noStrike">
                  <a:solidFill>
                    <a:srgbClr val="CCCCCC"/>
                  </a:solidFill>
                  <a:latin typeface="Arial"/>
                  <a:ea typeface="Arial"/>
                  <a:cs typeface="Arial"/>
                  <a:sym typeface="Arial"/>
                </a:rPr>
                <a:t>Easiest entry point — always need listing photos</a:t>
              </a:r>
              <a:endParaRPr b="0" i="0" sz="15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1" name="Google Shape;551;p24"/>
          <p:cNvGrpSpPr/>
          <p:nvPr/>
        </p:nvGrpSpPr>
        <p:grpSpPr>
          <a:xfrm>
            <a:off x="559150" y="1719529"/>
            <a:ext cx="7107475" cy="203100"/>
            <a:chOff x="559150" y="1719529"/>
            <a:chExt cx="7107475" cy="203100"/>
          </a:xfrm>
        </p:grpSpPr>
        <p:sp>
          <p:nvSpPr>
            <p:cNvPr id="552" name="Google Shape;552;p24"/>
            <p:cNvSpPr/>
            <p:nvPr/>
          </p:nvSpPr>
          <p:spPr>
            <a:xfrm>
              <a:off x="559150" y="1719529"/>
              <a:ext cx="2808600" cy="20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0F0F0"/>
                </a:buClr>
                <a:buSzPts val="16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F0F0F0"/>
                  </a:solidFill>
                  <a:latin typeface="Arial"/>
                  <a:ea typeface="Arial"/>
                  <a:cs typeface="Arial"/>
                  <a:sym typeface="Arial"/>
                </a:rPr>
                <a:t>Roofing Companies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3" name="Google Shape;553;p24"/>
            <p:cNvSpPr/>
            <p:nvPr/>
          </p:nvSpPr>
          <p:spPr>
            <a:xfrm>
              <a:off x="3474725" y="1719529"/>
              <a:ext cx="4191900" cy="20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1300"/>
                <a:buFont typeface="Arial"/>
                <a:buNone/>
              </a:pPr>
              <a:r>
                <a:rPr b="0" i="0" lang="en-US" sz="1500" u="none" cap="none" strike="noStrike">
                  <a:solidFill>
                    <a:srgbClr val="CCCCCC"/>
                  </a:solidFill>
                  <a:latin typeface="Arial"/>
                  <a:ea typeface="Arial"/>
                  <a:cs typeface="Arial"/>
                  <a:sym typeface="Arial"/>
                </a:rPr>
                <a:t>Inspections save them time and liability</a:t>
              </a:r>
              <a:endParaRPr b="0" i="0" sz="15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4" name="Google Shape;554;p24"/>
          <p:cNvGrpSpPr/>
          <p:nvPr/>
        </p:nvGrpSpPr>
        <p:grpSpPr>
          <a:xfrm>
            <a:off x="559150" y="2059673"/>
            <a:ext cx="7107475" cy="203100"/>
            <a:chOff x="559150" y="2059673"/>
            <a:chExt cx="7107475" cy="203100"/>
          </a:xfrm>
        </p:grpSpPr>
        <p:sp>
          <p:nvSpPr>
            <p:cNvPr id="555" name="Google Shape;555;p24"/>
            <p:cNvSpPr/>
            <p:nvPr/>
          </p:nvSpPr>
          <p:spPr>
            <a:xfrm>
              <a:off x="559150" y="2059673"/>
              <a:ext cx="2808600" cy="20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0F0F0"/>
                </a:buClr>
                <a:buSzPts val="16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F0F0F0"/>
                  </a:solidFill>
                  <a:latin typeface="Arial"/>
                  <a:ea typeface="Arial"/>
                  <a:cs typeface="Arial"/>
                  <a:sym typeface="Arial"/>
                </a:rPr>
                <a:t>Construction Firms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6" name="Google Shape;556;p24"/>
            <p:cNvSpPr/>
            <p:nvPr/>
          </p:nvSpPr>
          <p:spPr>
            <a:xfrm>
              <a:off x="3474725" y="2059673"/>
              <a:ext cx="4191900" cy="20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1300"/>
                <a:buFont typeface="Arial"/>
                <a:buNone/>
              </a:pPr>
              <a:r>
                <a:rPr b="0" i="0" lang="en-US" sz="1500" u="none" cap="none" strike="noStrike">
                  <a:solidFill>
                    <a:srgbClr val="CCCCCC"/>
                  </a:solidFill>
                  <a:latin typeface="Arial"/>
                  <a:ea typeface="Arial"/>
                  <a:cs typeface="Arial"/>
                  <a:sym typeface="Arial"/>
                </a:rPr>
                <a:t>Progress monitoring, site surveys</a:t>
              </a:r>
              <a:endParaRPr b="0" i="0" sz="15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7" name="Google Shape;557;p24"/>
          <p:cNvGrpSpPr/>
          <p:nvPr/>
        </p:nvGrpSpPr>
        <p:grpSpPr>
          <a:xfrm>
            <a:off x="559150" y="2399818"/>
            <a:ext cx="7107475" cy="203100"/>
            <a:chOff x="559150" y="2399818"/>
            <a:chExt cx="7107475" cy="203100"/>
          </a:xfrm>
        </p:grpSpPr>
        <p:sp>
          <p:nvSpPr>
            <p:cNvPr id="558" name="Google Shape;558;p24"/>
            <p:cNvSpPr/>
            <p:nvPr/>
          </p:nvSpPr>
          <p:spPr>
            <a:xfrm>
              <a:off x="559150" y="2399818"/>
              <a:ext cx="2808600" cy="20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0F0F0"/>
                </a:buClr>
                <a:buSzPts val="16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F0F0F0"/>
                  </a:solidFill>
                  <a:latin typeface="Arial"/>
                  <a:ea typeface="Arial"/>
                  <a:cs typeface="Arial"/>
                  <a:sym typeface="Arial"/>
                </a:rPr>
                <a:t>Golf Courses / Resorts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9" name="Google Shape;559;p24"/>
            <p:cNvSpPr/>
            <p:nvPr/>
          </p:nvSpPr>
          <p:spPr>
            <a:xfrm>
              <a:off x="3474725" y="2399818"/>
              <a:ext cx="4191900" cy="20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1300"/>
                <a:buFont typeface="Arial"/>
                <a:buNone/>
              </a:pPr>
              <a:r>
                <a:rPr b="0" i="0" lang="en-US" sz="1500" u="none" cap="none" strike="noStrike">
                  <a:solidFill>
                    <a:srgbClr val="CCCCCC"/>
                  </a:solidFill>
                  <a:latin typeface="Arial"/>
                  <a:ea typeface="Arial"/>
                  <a:cs typeface="Arial"/>
                  <a:sym typeface="Arial"/>
                </a:rPr>
                <a:t>Marketing videos, course flyovers</a:t>
              </a:r>
              <a:endParaRPr b="0" i="0" sz="15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0" name="Google Shape;560;p24"/>
          <p:cNvGrpSpPr/>
          <p:nvPr/>
        </p:nvGrpSpPr>
        <p:grpSpPr>
          <a:xfrm>
            <a:off x="559150" y="2739962"/>
            <a:ext cx="7107475" cy="203100"/>
            <a:chOff x="559150" y="2739962"/>
            <a:chExt cx="7107475" cy="203100"/>
          </a:xfrm>
        </p:grpSpPr>
        <p:sp>
          <p:nvSpPr>
            <p:cNvPr id="561" name="Google Shape;561;p24"/>
            <p:cNvSpPr/>
            <p:nvPr/>
          </p:nvSpPr>
          <p:spPr>
            <a:xfrm>
              <a:off x="559150" y="2739962"/>
              <a:ext cx="2808600" cy="20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0F0F0"/>
                </a:buClr>
                <a:buSzPts val="16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F0F0F0"/>
                  </a:solidFill>
                  <a:latin typeface="Arial"/>
                  <a:ea typeface="Arial"/>
                  <a:cs typeface="Arial"/>
                  <a:sym typeface="Arial"/>
                </a:rPr>
                <a:t>Churches / Event Venues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" name="Google Shape;562;p24"/>
            <p:cNvSpPr/>
            <p:nvPr/>
          </p:nvSpPr>
          <p:spPr>
            <a:xfrm>
              <a:off x="3474725" y="2739962"/>
              <a:ext cx="4191900" cy="20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1300"/>
                <a:buFont typeface="Arial"/>
                <a:buNone/>
              </a:pPr>
              <a:r>
                <a:rPr b="0" i="0" lang="en-US" sz="1500" u="none" cap="none" strike="noStrike">
                  <a:solidFill>
                    <a:srgbClr val="CCCCCC"/>
                  </a:solidFill>
                  <a:latin typeface="Arial"/>
                  <a:ea typeface="Arial"/>
                  <a:cs typeface="Arial"/>
                  <a:sym typeface="Arial"/>
                </a:rPr>
                <a:t>Weddings, promotional content</a:t>
              </a:r>
              <a:endParaRPr b="0" i="0" sz="15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3" name="Google Shape;563;p24"/>
          <p:cNvGrpSpPr/>
          <p:nvPr/>
        </p:nvGrpSpPr>
        <p:grpSpPr>
          <a:xfrm>
            <a:off x="3474729" y="3229492"/>
            <a:ext cx="2799000" cy="1454400"/>
            <a:chOff x="3474729" y="3229492"/>
            <a:chExt cx="2799000" cy="1454400"/>
          </a:xfrm>
        </p:grpSpPr>
        <p:sp>
          <p:nvSpPr>
            <p:cNvPr id="564" name="Google Shape;564;p24"/>
            <p:cNvSpPr/>
            <p:nvPr/>
          </p:nvSpPr>
          <p:spPr>
            <a:xfrm>
              <a:off x="3474729" y="3229492"/>
              <a:ext cx="2799000" cy="1454400"/>
            </a:xfrm>
            <a:prstGeom prst="rect">
              <a:avLst/>
            </a:prstGeom>
            <a:solidFill>
              <a:srgbClr val="212353"/>
            </a:solidFill>
            <a:ln>
              <a:noFill/>
            </a:ln>
          </p:spPr>
          <p:txBody>
            <a:bodyPr anchorCtr="0" anchor="ctr" bIns="0" lIns="274300" spcFirstLastPara="1" rIns="27430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0F0F0"/>
                </a:buClr>
                <a:buSzPts val="1800"/>
                <a:buFont typeface="Arial"/>
                <a:buNone/>
              </a:pPr>
              <a:r>
                <a:t/>
              </a:r>
              <a:endParaRPr i="0" sz="2000" u="none" cap="none" strike="noStrike">
                <a:solidFill>
                  <a:srgbClr val="81D1F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5" name="Google Shape;565;p24"/>
            <p:cNvSpPr/>
            <p:nvPr/>
          </p:nvSpPr>
          <p:spPr>
            <a:xfrm>
              <a:off x="3662220" y="3436373"/>
              <a:ext cx="2424000" cy="3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500">
                  <a:solidFill>
                    <a:schemeClr val="lt1"/>
                  </a:solidFill>
                </a:rPr>
                <a:t>How will you contact them?</a:t>
              </a:r>
              <a:endParaRPr sz="1500">
                <a:solidFill>
                  <a:schemeClr val="lt1"/>
                </a:solidFill>
              </a:endParaRPr>
            </a:p>
          </p:txBody>
        </p:sp>
        <p:sp>
          <p:nvSpPr>
            <p:cNvPr id="566" name="Google Shape;566;p24"/>
            <p:cNvSpPr/>
            <p:nvPr/>
          </p:nvSpPr>
          <p:spPr>
            <a:xfrm>
              <a:off x="3662225" y="3769345"/>
              <a:ext cx="605100" cy="66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lnSpc>
                  <a:spcPct val="17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000">
                  <a:solidFill>
                    <a:srgbClr val="FFFFFF"/>
                  </a:solidFill>
                </a:rPr>
                <a:t>⭐️ ⭐️ ⭐️ </a:t>
              </a:r>
              <a:endParaRPr sz="1500">
                <a:solidFill>
                  <a:schemeClr val="lt1"/>
                </a:solidFill>
              </a:endParaRPr>
            </a:p>
            <a:p>
              <a:pPr indent="0" lvl="0" marL="0" rtl="0" algn="r">
                <a:lnSpc>
                  <a:spcPct val="17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000">
                  <a:solidFill>
                    <a:srgbClr val="FFFFFF"/>
                  </a:solidFill>
                </a:rPr>
                <a:t>⭐️ ⭐️ </a:t>
              </a:r>
              <a:endParaRPr sz="1500">
                <a:solidFill>
                  <a:schemeClr val="lt1"/>
                </a:solidFill>
              </a:endParaRPr>
            </a:p>
            <a:p>
              <a:pPr indent="0" lvl="0" marL="0" rtl="0" algn="r">
                <a:lnSpc>
                  <a:spcPct val="17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0F0F0"/>
                </a:buClr>
                <a:buSzPts val="1400"/>
                <a:buFont typeface="Arial"/>
                <a:buNone/>
              </a:pPr>
              <a:r>
                <a:rPr lang="en-US" sz="1000">
                  <a:solidFill>
                    <a:srgbClr val="FFFFFF"/>
                  </a:solidFill>
                </a:rPr>
                <a:t>⭐️</a:t>
              </a:r>
              <a:endParaRPr sz="1500">
                <a:solidFill>
                  <a:schemeClr val="lt1"/>
                </a:solidFill>
              </a:endParaRPr>
            </a:p>
          </p:txBody>
        </p:sp>
        <p:sp>
          <p:nvSpPr>
            <p:cNvPr id="567" name="Google Shape;567;p24"/>
            <p:cNvSpPr/>
            <p:nvPr/>
          </p:nvSpPr>
          <p:spPr>
            <a:xfrm>
              <a:off x="4420025" y="3769348"/>
              <a:ext cx="1402200" cy="70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1500">
                  <a:solidFill>
                    <a:schemeClr val="lt1"/>
                  </a:solidFill>
                </a:rPr>
                <a:t>Walk In (best)</a:t>
              </a:r>
              <a:endParaRPr sz="1500">
                <a:solidFill>
                  <a:schemeClr val="lt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F0F0F0"/>
                </a:buClr>
                <a:buSzPts val="1400"/>
                <a:buFont typeface="Arial"/>
                <a:buNone/>
              </a:pPr>
              <a:r>
                <a:rPr lang="en-US" sz="1500">
                  <a:solidFill>
                    <a:schemeClr val="lt1"/>
                  </a:solidFill>
                </a:rPr>
                <a:t>Call (good)</a:t>
              </a:r>
              <a:endParaRPr sz="1500">
                <a:solidFill>
                  <a:schemeClr val="lt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F0F0F0"/>
                </a:buClr>
                <a:buSzPts val="1400"/>
                <a:buFont typeface="Arial"/>
                <a:buNone/>
              </a:pPr>
              <a:r>
                <a:rPr lang="en-US" sz="1500">
                  <a:solidFill>
                    <a:schemeClr val="lt1"/>
                  </a:solidFill>
                </a:rPr>
                <a:t>Email (okay)</a:t>
              </a:r>
              <a:endParaRPr sz="1500">
                <a:solidFill>
                  <a:schemeClr val="lt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33"/>
        </a:solidFill>
      </p:bgPr>
    </p:bg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25"/>
          <p:cNvSpPr/>
          <p:nvPr/>
        </p:nvSpPr>
        <p:spPr>
          <a:xfrm>
            <a:off x="547301" y="280756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98FF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Exercise 3: Social Media Post</a:t>
            </a:r>
            <a:endParaRPr b="0" i="0" sz="2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5"/>
          <p:cNvSpPr/>
          <p:nvPr/>
        </p:nvSpPr>
        <p:spPr>
          <a:xfrm>
            <a:off x="547301" y="796547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Arial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Announce your services to your wider network</a:t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5"/>
          <p:cNvSpPr/>
          <p:nvPr/>
        </p:nvSpPr>
        <p:spPr>
          <a:xfrm>
            <a:off x="571500" y="1296925"/>
            <a:ext cx="8079300" cy="1513500"/>
          </a:xfrm>
          <a:prstGeom prst="rect">
            <a:avLst/>
          </a:prstGeom>
          <a:solidFill>
            <a:srgbClr val="212353"/>
          </a:solidFill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Arial"/>
              <a:buNone/>
            </a:pPr>
            <a:r>
              <a:rPr b="1" lang="en-US" sz="1800">
                <a:solidFill>
                  <a:srgbClr val="F0F0F0"/>
                </a:solidFill>
              </a:rPr>
              <a:t>Your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rgbClr val="F0F0F0"/>
              </a:buClr>
              <a:buSzPts val="1300"/>
              <a:buFont typeface="Arial"/>
              <a:buNone/>
            </a:pPr>
            <a:r>
              <a:rPr lang="en-US" sz="1500">
                <a:solidFill>
                  <a:srgbClr val="F0F0F0"/>
                </a:solidFill>
              </a:rPr>
              <a:t>Big news! I've started an aerial photography business.</a:t>
            </a:r>
            <a:br>
              <a:rPr lang="en-US" sz="1500">
                <a:solidFill>
                  <a:srgbClr val="F0F0F0"/>
                </a:solidFill>
              </a:rPr>
            </a:br>
            <a:r>
              <a:rPr lang="en-US" sz="1500">
                <a:solidFill>
                  <a:srgbClr val="F0F0F0"/>
                </a:solidFill>
              </a:rPr>
              <a:t>I help real estate agents, contractors, and businesses get stunning drone photos and videos. </a:t>
            </a:r>
            <a:r>
              <a:rPr lang="en-US" sz="1500">
                <a:solidFill>
                  <a:srgbClr val="81D1F4"/>
                </a:solidFill>
              </a:rPr>
              <a:t>Know someone who needs this? Tag them below!</a:t>
            </a:r>
            <a:endParaRPr sz="1300">
              <a:solidFill>
                <a:srgbClr val="F0F0F0"/>
              </a:solidFill>
            </a:endParaRPr>
          </a:p>
        </p:txBody>
      </p:sp>
      <p:sp>
        <p:nvSpPr>
          <p:cNvPr id="576" name="Google Shape;576;p25"/>
          <p:cNvSpPr/>
          <p:nvPr/>
        </p:nvSpPr>
        <p:spPr>
          <a:xfrm>
            <a:off x="1434600" y="3084230"/>
            <a:ext cx="2493600" cy="9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400"/>
              <a:buFont typeface="Arial"/>
              <a:buNone/>
            </a:pPr>
            <a:r>
              <a:rPr b="1" i="0" lang="en-US" sz="11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Key elements:</a:t>
            </a:r>
            <a:endParaRPr b="1" sz="1100">
              <a:solidFill>
                <a:srgbClr val="F0F0F0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F0F0F0"/>
              </a:buClr>
              <a:buSzPts val="1400"/>
              <a:buFont typeface="Arial"/>
              <a:buNone/>
            </a:pPr>
            <a:r>
              <a:rPr lang="en-US" sz="1100">
                <a:solidFill>
                  <a:schemeClr val="lt1"/>
                </a:solidFill>
              </a:rPr>
              <a:t>•  </a:t>
            </a:r>
            <a:r>
              <a:rPr b="0" i="0" lang="en-US" sz="11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Include a photo or video clip</a:t>
            </a:r>
            <a:br>
              <a:rPr b="0" i="0" lang="en-US" sz="11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solidFill>
                  <a:schemeClr val="lt1"/>
                </a:solidFill>
              </a:rPr>
              <a:t>•  </a:t>
            </a:r>
            <a:r>
              <a:rPr b="0" i="0" lang="en-US" sz="11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Clear message about what you do</a:t>
            </a:r>
            <a:br>
              <a:rPr b="0" i="0" lang="en-US" sz="11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solidFill>
                  <a:schemeClr val="lt1"/>
                </a:solidFill>
              </a:rPr>
              <a:t>•  </a:t>
            </a:r>
            <a:r>
              <a:rPr b="0" i="0" lang="en-US" sz="11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Call to action (ask for referrals!)</a:t>
            </a:r>
            <a:endParaRPr b="0" i="0" sz="1100" u="none" cap="none" strike="noStrike">
              <a:solidFill>
                <a:srgbClr val="F0F0F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400"/>
              <a:buFont typeface="Arial"/>
              <a:buNone/>
            </a:pPr>
            <a:r>
              <a:rPr lang="en-US" sz="1100">
                <a:solidFill>
                  <a:schemeClr val="lt1"/>
                </a:solidFill>
              </a:rPr>
              <a:t>•  </a:t>
            </a:r>
            <a:r>
              <a:rPr lang="en-US" sz="1100">
                <a:solidFill>
                  <a:srgbClr val="81D1F4"/>
                </a:solidFill>
              </a:rPr>
              <a:t>Don't include website URL</a:t>
            </a:r>
            <a:endParaRPr sz="1100">
              <a:solidFill>
                <a:srgbClr val="81D1F4"/>
              </a:solidFill>
            </a:endParaRPr>
          </a:p>
        </p:txBody>
      </p:sp>
      <p:sp>
        <p:nvSpPr>
          <p:cNvPr id="577" name="Google Shape;577;p25"/>
          <p:cNvSpPr/>
          <p:nvPr/>
        </p:nvSpPr>
        <p:spPr>
          <a:xfrm>
            <a:off x="4714425" y="3084230"/>
            <a:ext cx="959400" cy="9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400"/>
              <a:buFont typeface="Arial"/>
              <a:buNone/>
            </a:pPr>
            <a:r>
              <a:rPr b="1" i="0" lang="en-US" sz="11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Post on:</a:t>
            </a:r>
            <a:endParaRPr b="1" sz="1100">
              <a:solidFill>
                <a:srgbClr val="F0F0F0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F0F0F0"/>
              </a:buClr>
              <a:buSzPts val="1400"/>
              <a:buFont typeface="Arial"/>
              <a:buNone/>
            </a:pPr>
            <a:r>
              <a:rPr lang="en-US" sz="1100">
                <a:solidFill>
                  <a:schemeClr val="lt1"/>
                </a:solidFill>
              </a:rPr>
              <a:t>•  </a:t>
            </a:r>
            <a:r>
              <a:rPr b="0" i="0" lang="en-US" sz="11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Facebook</a:t>
            </a:r>
            <a:endParaRPr sz="1100">
              <a:solidFill>
                <a:srgbClr val="F0F0F0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400"/>
              <a:buFont typeface="Arial"/>
              <a:buNone/>
            </a:pPr>
            <a:r>
              <a:rPr lang="en-US" sz="1100">
                <a:solidFill>
                  <a:schemeClr val="lt1"/>
                </a:solidFill>
              </a:rPr>
              <a:t>•  </a:t>
            </a:r>
            <a:r>
              <a:rPr b="0" i="0" lang="en-US" sz="11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Instagram</a:t>
            </a:r>
            <a:br>
              <a:rPr b="0" i="0" lang="en-US" sz="11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solidFill>
                  <a:schemeClr val="lt1"/>
                </a:solidFill>
              </a:rPr>
              <a:t>•  </a:t>
            </a:r>
            <a:r>
              <a:rPr b="0" i="0" lang="en-US" sz="11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LinkedIn </a:t>
            </a:r>
            <a:endParaRPr sz="1100">
              <a:solidFill>
                <a:srgbClr val="F0F0F0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400"/>
              <a:buFont typeface="Arial"/>
              <a:buNone/>
            </a:pPr>
            <a:r>
              <a:rPr lang="en-US" sz="1100">
                <a:solidFill>
                  <a:schemeClr val="lt1"/>
                </a:solidFill>
              </a:rPr>
              <a:t>•  </a:t>
            </a:r>
            <a:r>
              <a:rPr b="0" i="0" lang="en-US" sz="11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Nextdoor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5"/>
          <p:cNvSpPr/>
          <p:nvPr/>
        </p:nvSpPr>
        <p:spPr>
          <a:xfrm>
            <a:off x="547300" y="4318325"/>
            <a:ext cx="8025300" cy="457200"/>
          </a:xfrm>
          <a:prstGeom prst="rect">
            <a:avLst/>
          </a:prstGeom>
          <a:solidFill>
            <a:srgbClr val="21235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CFE5"/>
              </a:buClr>
              <a:buSzPts val="1300"/>
              <a:buFont typeface="Arial"/>
              <a:buNone/>
            </a:pPr>
            <a:r>
              <a:rPr b="0" lang="en-US" sz="1300" u="none" cap="none" strike="noStrike">
                <a:solidFill>
                  <a:srgbClr val="81D1F4"/>
                </a:solidFill>
                <a:latin typeface="Arial"/>
                <a:ea typeface="Arial"/>
                <a:cs typeface="Arial"/>
                <a:sym typeface="Arial"/>
              </a:rPr>
              <a:t>Use footage from your mock job (</a:t>
            </a:r>
            <a:r>
              <a:rPr lang="en-US" sz="1300">
                <a:solidFill>
                  <a:srgbClr val="81D1F4"/>
                </a:solidFill>
              </a:rPr>
              <a:t>e</a:t>
            </a:r>
            <a:r>
              <a:rPr b="0" lang="en-US" sz="1300" u="none" cap="none" strike="noStrike">
                <a:solidFill>
                  <a:srgbClr val="81D1F4"/>
                </a:solidFill>
                <a:latin typeface="Arial"/>
                <a:ea typeface="Arial"/>
                <a:cs typeface="Arial"/>
                <a:sym typeface="Arial"/>
              </a:rPr>
              <a:t>xercise coming up!) for this post</a:t>
            </a:r>
            <a:endParaRPr b="0" sz="1300" u="none" cap="none" strike="noStrike">
              <a:solidFill>
                <a:srgbClr val="81D1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33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26"/>
          <p:cNvSpPr/>
          <p:nvPr/>
        </p:nvSpPr>
        <p:spPr>
          <a:xfrm>
            <a:off x="565074" y="387569"/>
            <a:ext cx="914400" cy="365700"/>
          </a:xfrm>
          <a:prstGeom prst="rect">
            <a:avLst/>
          </a:prstGeom>
          <a:solidFill>
            <a:srgbClr val="239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200"/>
              <a:buFont typeface="Arial Black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</a:rPr>
              <a:t>PART </a:t>
            </a:r>
            <a:r>
              <a:rPr b="1" lang="en-US" sz="1200">
                <a:solidFill>
                  <a:schemeClr val="lt1"/>
                </a:solidFill>
              </a:rPr>
              <a:t>2</a:t>
            </a:r>
            <a:endParaRPr i="0" sz="1200" u="none" cap="none" strike="noStrike">
              <a:solidFill>
                <a:schemeClr val="lt1"/>
              </a:solidFill>
            </a:endParaRPr>
          </a:p>
        </p:txBody>
      </p:sp>
      <p:sp>
        <p:nvSpPr>
          <p:cNvPr id="585" name="Google Shape;585;p26"/>
          <p:cNvSpPr/>
          <p:nvPr/>
        </p:nvSpPr>
        <p:spPr>
          <a:xfrm>
            <a:off x="1677363" y="322542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BE33"/>
              </a:buClr>
              <a:buSzPts val="3200"/>
              <a:buFont typeface="Arial Black"/>
              <a:buNone/>
            </a:pPr>
            <a:r>
              <a:rPr b="1" lang="en-US" sz="36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The Marketing Roadmap</a:t>
            </a:r>
            <a:endParaRPr b="1" sz="360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86" name="Google Shape;586;p26"/>
          <p:cNvSpPr/>
          <p:nvPr/>
        </p:nvSpPr>
        <p:spPr>
          <a:xfrm>
            <a:off x="1677363" y="795554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Arial"/>
              <a:buNone/>
            </a:pPr>
            <a:r>
              <a:rPr lang="en-US" sz="1500">
                <a:solidFill>
                  <a:schemeClr val="lt1"/>
                </a:solidFill>
              </a:rPr>
              <a:t>Now that you know </a:t>
            </a:r>
            <a:r>
              <a:rPr lang="en-US" sz="1500">
                <a:solidFill>
                  <a:srgbClr val="81D1F4"/>
                </a:solidFill>
              </a:rPr>
              <a:t>who</a:t>
            </a:r>
            <a:r>
              <a:rPr lang="en-US" sz="1500">
                <a:solidFill>
                  <a:schemeClr val="lt1"/>
                </a:solidFill>
              </a:rPr>
              <a:t> to contact, let's prepare </a:t>
            </a:r>
            <a:r>
              <a:rPr lang="en-US" sz="1500">
                <a:solidFill>
                  <a:srgbClr val="81D1F4"/>
                </a:solidFill>
              </a:rPr>
              <a:t>what</a:t>
            </a:r>
            <a:r>
              <a:rPr lang="en-US" sz="1500">
                <a:solidFill>
                  <a:schemeClr val="lt1"/>
                </a:solidFill>
              </a:rPr>
              <a:t> to say</a:t>
            </a:r>
            <a:endParaRPr sz="1500">
              <a:solidFill>
                <a:schemeClr val="lt1"/>
              </a:solidFill>
            </a:endParaRPr>
          </a:p>
        </p:txBody>
      </p:sp>
      <p:sp>
        <p:nvSpPr>
          <p:cNvPr id="587" name="Google Shape;587;p26"/>
          <p:cNvSpPr/>
          <p:nvPr/>
        </p:nvSpPr>
        <p:spPr>
          <a:xfrm>
            <a:off x="547300" y="4113594"/>
            <a:ext cx="8025300" cy="365700"/>
          </a:xfrm>
          <a:prstGeom prst="rect">
            <a:avLst/>
          </a:prstGeom>
          <a:solidFill>
            <a:srgbClr val="21235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BE33"/>
              </a:buClr>
              <a:buSzPts val="1600"/>
              <a:buFont typeface="Arial"/>
              <a:buNone/>
            </a:pPr>
            <a:r>
              <a:rPr lang="en-US" sz="1500">
                <a:solidFill>
                  <a:srgbClr val="81D1F4"/>
                </a:solidFill>
              </a:rPr>
              <a:t>Let's build your pitch...</a:t>
            </a:r>
            <a:endParaRPr sz="1300">
              <a:solidFill>
                <a:srgbClr val="81D1F4"/>
              </a:solidFill>
            </a:endParaRPr>
          </a:p>
        </p:txBody>
      </p:sp>
      <p:sp>
        <p:nvSpPr>
          <p:cNvPr id="588" name="Google Shape;588;p26"/>
          <p:cNvSpPr/>
          <p:nvPr/>
        </p:nvSpPr>
        <p:spPr>
          <a:xfrm>
            <a:off x="559040" y="1628048"/>
            <a:ext cx="3970800" cy="15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600"/>
              <a:buFont typeface="Arial"/>
              <a:buNone/>
            </a:pPr>
            <a:r>
              <a:rPr i="0" lang="en-US" sz="1500" u="none" cap="none" strike="noStrike">
                <a:solidFill>
                  <a:srgbClr val="F0F0F0"/>
                </a:solidFill>
              </a:rPr>
              <a:t>3 Exercises:</a:t>
            </a:r>
            <a:endParaRPr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6"/>
          <p:cNvSpPr/>
          <p:nvPr/>
        </p:nvSpPr>
        <p:spPr>
          <a:xfrm>
            <a:off x="566600" y="2097164"/>
            <a:ext cx="501600" cy="501600"/>
          </a:xfrm>
          <a:prstGeom prst="ellipse">
            <a:avLst/>
          </a:prstGeom>
          <a:solidFill>
            <a:srgbClr val="239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950"/>
              <a:buFont typeface="Arial Black"/>
              <a:buNone/>
            </a:pPr>
            <a:r>
              <a:rPr b="1" i="0" lang="en-US" sz="1949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b="0" i="0" sz="1949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6"/>
          <p:cNvSpPr/>
          <p:nvPr/>
        </p:nvSpPr>
        <p:spPr>
          <a:xfrm>
            <a:off x="1251925" y="2209514"/>
            <a:ext cx="2340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rgbClr val="F0F0F0"/>
                </a:solidFill>
              </a:rPr>
              <a:t>Your Elevator Pitch</a:t>
            </a:r>
            <a:endParaRPr b="1" sz="1800">
              <a:solidFill>
                <a:srgbClr val="F0F0F0"/>
              </a:solidFill>
            </a:endParaRPr>
          </a:p>
        </p:txBody>
      </p:sp>
      <p:sp>
        <p:nvSpPr>
          <p:cNvPr id="591" name="Google Shape;591;p26"/>
          <p:cNvSpPr/>
          <p:nvPr/>
        </p:nvSpPr>
        <p:spPr>
          <a:xfrm>
            <a:off x="1251925" y="2631110"/>
            <a:ext cx="1584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Arial"/>
              <a:buNone/>
            </a:pPr>
            <a:r>
              <a:rPr lang="en-US" sz="1500">
                <a:solidFill>
                  <a:srgbClr val="CCCCCC"/>
                </a:solidFill>
              </a:rPr>
              <a:t>30-45 seconds explaining what problem you solve</a:t>
            </a:r>
            <a:endParaRPr sz="1500">
              <a:solidFill>
                <a:srgbClr val="CCCCCC"/>
              </a:solidFill>
            </a:endParaRPr>
          </a:p>
        </p:txBody>
      </p:sp>
      <p:sp>
        <p:nvSpPr>
          <p:cNvPr id="592" name="Google Shape;592;p26"/>
          <p:cNvSpPr/>
          <p:nvPr/>
        </p:nvSpPr>
        <p:spPr>
          <a:xfrm>
            <a:off x="3713242" y="2097164"/>
            <a:ext cx="501600" cy="501600"/>
          </a:xfrm>
          <a:prstGeom prst="ellipse">
            <a:avLst/>
          </a:prstGeom>
          <a:solidFill>
            <a:srgbClr val="239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950"/>
              <a:buFont typeface="Arial Black"/>
              <a:buNone/>
            </a:pPr>
            <a:r>
              <a:rPr b="1" i="0" lang="en-US" sz="1949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b="0" i="0" sz="1949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6"/>
          <p:cNvSpPr/>
          <p:nvPr/>
        </p:nvSpPr>
        <p:spPr>
          <a:xfrm>
            <a:off x="4423600" y="2209514"/>
            <a:ext cx="1416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lt1"/>
                </a:solidFill>
              </a:rPr>
              <a:t>Your Offer</a:t>
            </a:r>
            <a:endParaRPr b="1" sz="1800">
              <a:solidFill>
                <a:srgbClr val="F0F0F0"/>
              </a:solidFill>
            </a:endParaRPr>
          </a:p>
        </p:txBody>
      </p:sp>
      <p:sp>
        <p:nvSpPr>
          <p:cNvPr id="594" name="Google Shape;594;p26"/>
          <p:cNvSpPr/>
          <p:nvPr/>
        </p:nvSpPr>
        <p:spPr>
          <a:xfrm>
            <a:off x="4423601" y="2631110"/>
            <a:ext cx="16677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Arial"/>
              <a:buNone/>
            </a:pPr>
            <a:r>
              <a:rPr lang="en-US" sz="1500">
                <a:solidFill>
                  <a:srgbClr val="CCCCCC"/>
                </a:solidFill>
              </a:rPr>
              <a:t>Deliverables, timeline, and expectations</a:t>
            </a:r>
            <a:endParaRPr sz="1500">
              <a:solidFill>
                <a:srgbClr val="CCCCCC"/>
              </a:solidFill>
            </a:endParaRPr>
          </a:p>
        </p:txBody>
      </p:sp>
      <p:sp>
        <p:nvSpPr>
          <p:cNvPr id="595" name="Google Shape;595;p26"/>
          <p:cNvSpPr/>
          <p:nvPr/>
        </p:nvSpPr>
        <p:spPr>
          <a:xfrm>
            <a:off x="6059432" y="2097164"/>
            <a:ext cx="501600" cy="501600"/>
          </a:xfrm>
          <a:prstGeom prst="ellipse">
            <a:avLst/>
          </a:prstGeom>
          <a:solidFill>
            <a:srgbClr val="239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950"/>
              <a:buFont typeface="Arial Black"/>
              <a:buNone/>
            </a:pPr>
            <a:r>
              <a:rPr b="1" i="0" lang="en-US" sz="1949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b="0" i="0" sz="1949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6"/>
          <p:cNvSpPr/>
          <p:nvPr/>
        </p:nvSpPr>
        <p:spPr>
          <a:xfrm>
            <a:off x="6764025" y="2209514"/>
            <a:ext cx="1667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lt1"/>
                </a:solidFill>
              </a:rPr>
              <a:t>Your Pricing</a:t>
            </a:r>
            <a:endParaRPr b="1" sz="1800">
              <a:solidFill>
                <a:srgbClr val="F0F0F0"/>
              </a:solidFill>
            </a:endParaRPr>
          </a:p>
        </p:txBody>
      </p:sp>
      <p:sp>
        <p:nvSpPr>
          <p:cNvPr id="597" name="Google Shape;597;p26"/>
          <p:cNvSpPr/>
          <p:nvPr/>
        </p:nvSpPr>
        <p:spPr>
          <a:xfrm>
            <a:off x="6764045" y="2631110"/>
            <a:ext cx="16677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rgbClr val="CCCCCC"/>
                </a:solidFill>
              </a:rPr>
              <a:t>Research, calculate, and decide</a:t>
            </a:r>
            <a:endParaRPr sz="1500">
              <a:solidFill>
                <a:srgbClr val="CCCCCC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33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27"/>
          <p:cNvSpPr/>
          <p:nvPr/>
        </p:nvSpPr>
        <p:spPr>
          <a:xfrm>
            <a:off x="552193" y="301866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E33"/>
              </a:buClr>
              <a:buSzPts val="2400"/>
              <a:buFont typeface="Arial Black"/>
              <a:buNone/>
            </a:pPr>
            <a:r>
              <a:rPr b="1" i="0" lang="en-US" sz="26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Exercise 1: Your Elevator Pitch</a:t>
            </a:r>
            <a:endParaRPr b="0" i="0" sz="2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7"/>
          <p:cNvSpPr/>
          <p:nvPr/>
        </p:nvSpPr>
        <p:spPr>
          <a:xfrm>
            <a:off x="552193" y="770962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Arial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6-Part Formula (30-45 seconds)</a:t>
            </a:r>
            <a:r>
              <a:rPr lang="en-US" sz="1500">
                <a:solidFill>
                  <a:schemeClr val="lt1"/>
                </a:solidFill>
              </a:rPr>
              <a:t>. </a:t>
            </a:r>
            <a:r>
              <a:rPr lang="en-US" sz="1500">
                <a:solidFill>
                  <a:schemeClr val="lt1"/>
                </a:solidFill>
              </a:rPr>
              <a:t>Fill in the </a:t>
            </a:r>
            <a:r>
              <a:rPr lang="en-US" sz="1500">
                <a:solidFill>
                  <a:srgbClr val="81D1F4"/>
                </a:solidFill>
              </a:rPr>
              <a:t>[brackets] </a:t>
            </a:r>
            <a:r>
              <a:rPr lang="en-US" sz="1500">
                <a:solidFill>
                  <a:schemeClr val="lt1"/>
                </a:solidFill>
              </a:rPr>
              <a:t>with your info</a:t>
            </a: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1500">
              <a:solidFill>
                <a:schemeClr val="lt1"/>
              </a:solidFill>
            </a:endParaRPr>
          </a:p>
        </p:txBody>
      </p:sp>
      <p:sp>
        <p:nvSpPr>
          <p:cNvPr id="605" name="Google Shape;605;p27"/>
          <p:cNvSpPr/>
          <p:nvPr/>
        </p:nvSpPr>
        <p:spPr>
          <a:xfrm>
            <a:off x="552200" y="1387893"/>
            <a:ext cx="374400" cy="374400"/>
          </a:xfrm>
          <a:prstGeom prst="ellipse">
            <a:avLst/>
          </a:prstGeom>
          <a:solidFill>
            <a:srgbClr val="239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405"/>
              <a:buFont typeface="Arial Black"/>
              <a:buNone/>
            </a:pPr>
            <a:r>
              <a:rPr b="1" i="0" lang="en-US" sz="1404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b="0" i="0" sz="1404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7"/>
          <p:cNvSpPr/>
          <p:nvPr/>
        </p:nvSpPr>
        <p:spPr>
          <a:xfrm>
            <a:off x="1128676" y="1417021"/>
            <a:ext cx="27042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400"/>
              <a:buFont typeface="Arial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Hi, I'm</a:t>
            </a:r>
            <a:r>
              <a:rPr b="0" i="0" lang="en-US" sz="15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500" u="none" cap="none" strike="noStrike">
                <a:solidFill>
                  <a:srgbClr val="81D1F4"/>
                </a:solidFill>
                <a:latin typeface="Arial"/>
                <a:ea typeface="Arial"/>
                <a:cs typeface="Arial"/>
                <a:sym typeface="Arial"/>
              </a:rPr>
              <a:t>[your name]</a:t>
            </a:r>
            <a:r>
              <a:rPr b="0" i="0" lang="en-US" sz="15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b="0" i="0" lang="en-US" sz="15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500" u="none" cap="none" strike="noStrike">
                <a:solidFill>
                  <a:srgbClr val="81D1F4"/>
                </a:solidFill>
                <a:latin typeface="Arial"/>
                <a:ea typeface="Arial"/>
                <a:cs typeface="Arial"/>
                <a:sym typeface="Arial"/>
              </a:rPr>
              <a:t>[business name]</a:t>
            </a:r>
            <a:r>
              <a:rPr b="0" i="0" lang="en-US" sz="15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7"/>
          <p:cNvSpPr/>
          <p:nvPr/>
        </p:nvSpPr>
        <p:spPr>
          <a:xfrm>
            <a:off x="552200" y="2116733"/>
            <a:ext cx="374400" cy="374400"/>
          </a:xfrm>
          <a:prstGeom prst="ellipse">
            <a:avLst/>
          </a:prstGeom>
          <a:solidFill>
            <a:srgbClr val="239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405"/>
              <a:buFont typeface="Arial Black"/>
              <a:buNone/>
            </a:pPr>
            <a:r>
              <a:rPr b="1" i="0" lang="en-US" sz="1404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b="0" i="0" sz="1404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7"/>
          <p:cNvSpPr/>
          <p:nvPr/>
        </p:nvSpPr>
        <p:spPr>
          <a:xfrm>
            <a:off x="1128676" y="2139332"/>
            <a:ext cx="28950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400"/>
              <a:buFont typeface="Arial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 he</a:t>
            </a:r>
            <a:r>
              <a:rPr b="0" i="0" lang="en-US" sz="15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lp </a:t>
            </a:r>
            <a:r>
              <a:rPr b="0" i="0" lang="en-US" sz="1500" u="none" cap="none" strike="noStrike">
                <a:solidFill>
                  <a:srgbClr val="81D1F4"/>
                </a:solidFill>
                <a:latin typeface="Arial"/>
                <a:ea typeface="Arial"/>
                <a:cs typeface="Arial"/>
                <a:sym typeface="Arial"/>
              </a:rPr>
              <a:t>[your customers]</a:t>
            </a:r>
            <a:r>
              <a:rPr b="0" i="0" lang="en-US" sz="15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who struggle with</a:t>
            </a:r>
            <a:r>
              <a:rPr b="0" i="0" lang="en-US" sz="1500" u="none" cap="none" strike="noStrike">
                <a:solidFill>
                  <a:srgbClr val="81D1F4"/>
                </a:solidFill>
                <a:latin typeface="Arial"/>
                <a:ea typeface="Arial"/>
                <a:cs typeface="Arial"/>
                <a:sym typeface="Arial"/>
              </a:rPr>
              <a:t> [problem]</a:t>
            </a:r>
            <a:r>
              <a:rPr b="0" i="0" lang="en-US" sz="15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7"/>
          <p:cNvSpPr/>
          <p:nvPr/>
        </p:nvSpPr>
        <p:spPr>
          <a:xfrm>
            <a:off x="552200" y="2920007"/>
            <a:ext cx="374400" cy="374400"/>
          </a:xfrm>
          <a:prstGeom prst="ellipse">
            <a:avLst/>
          </a:prstGeom>
          <a:solidFill>
            <a:srgbClr val="239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405"/>
              <a:buFont typeface="Arial Black"/>
              <a:buNone/>
            </a:pPr>
            <a:r>
              <a:rPr b="1" i="0" lang="en-US" sz="1404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b="0" i="0" sz="1404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7"/>
          <p:cNvSpPr/>
          <p:nvPr/>
        </p:nvSpPr>
        <p:spPr>
          <a:xfrm>
            <a:off x="1128676" y="2984329"/>
            <a:ext cx="2895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400"/>
              <a:buFont typeface="Arial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Our</a:t>
            </a:r>
            <a:r>
              <a:rPr b="0" i="0" lang="en-US" sz="15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500" u="none" cap="none" strike="noStrike">
                <a:solidFill>
                  <a:srgbClr val="81D1F4"/>
                </a:solidFill>
                <a:latin typeface="Arial"/>
                <a:ea typeface="Arial"/>
                <a:cs typeface="Arial"/>
                <a:sym typeface="Arial"/>
              </a:rPr>
              <a:t>[service]</a:t>
            </a:r>
            <a:r>
              <a:rPr b="0" i="0" lang="en-US" sz="15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provides</a:t>
            </a:r>
            <a:r>
              <a:rPr b="0" i="0" lang="en-US" sz="15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500" u="none" cap="none" strike="noStrike">
                <a:solidFill>
                  <a:srgbClr val="81D1F4"/>
                </a:solidFill>
                <a:latin typeface="Arial"/>
                <a:ea typeface="Arial"/>
                <a:cs typeface="Arial"/>
                <a:sym typeface="Arial"/>
              </a:rPr>
              <a:t>[main benefit]</a:t>
            </a:r>
            <a:r>
              <a:rPr b="0" i="0" lang="en-US" sz="15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7"/>
          <p:cNvSpPr/>
          <p:nvPr/>
        </p:nvSpPr>
        <p:spPr>
          <a:xfrm>
            <a:off x="4235856" y="1387893"/>
            <a:ext cx="374400" cy="374400"/>
          </a:xfrm>
          <a:prstGeom prst="ellipse">
            <a:avLst/>
          </a:prstGeom>
          <a:solidFill>
            <a:srgbClr val="239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405"/>
              <a:buFont typeface="Arial Black"/>
              <a:buNone/>
            </a:pPr>
            <a:r>
              <a:rPr b="1" i="0" lang="en-US" sz="1404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 b="0" i="0" sz="1404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7"/>
          <p:cNvSpPr/>
          <p:nvPr/>
        </p:nvSpPr>
        <p:spPr>
          <a:xfrm>
            <a:off x="4831349" y="1459921"/>
            <a:ext cx="2274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400"/>
              <a:buFont typeface="Arial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Unlike others, we </a:t>
            </a:r>
            <a:r>
              <a:rPr b="0" i="0" lang="en-US" sz="1500" u="none" cap="none" strike="noStrike">
                <a:solidFill>
                  <a:srgbClr val="81D1F4"/>
                </a:solidFill>
                <a:latin typeface="Arial"/>
                <a:ea typeface="Arial"/>
                <a:cs typeface="Arial"/>
                <a:sym typeface="Arial"/>
              </a:rPr>
              <a:t>[main difference]</a:t>
            </a:r>
            <a:r>
              <a:rPr b="0" i="0" lang="en-US" sz="15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7"/>
          <p:cNvSpPr/>
          <p:nvPr/>
        </p:nvSpPr>
        <p:spPr>
          <a:xfrm>
            <a:off x="4235856" y="2116733"/>
            <a:ext cx="374400" cy="374400"/>
          </a:xfrm>
          <a:prstGeom prst="ellipse">
            <a:avLst/>
          </a:prstGeom>
          <a:solidFill>
            <a:srgbClr val="239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405"/>
              <a:buFont typeface="Arial Black"/>
              <a:buNone/>
            </a:pPr>
            <a:r>
              <a:rPr b="1" i="0" lang="en-US" sz="1404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5</a:t>
            </a:r>
            <a:endParaRPr b="0" i="0" sz="1404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7"/>
          <p:cNvSpPr/>
          <p:nvPr/>
        </p:nvSpPr>
        <p:spPr>
          <a:xfrm>
            <a:off x="4831348" y="2127196"/>
            <a:ext cx="27042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400"/>
              <a:buFont typeface="Arial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For example,</a:t>
            </a:r>
            <a:r>
              <a:rPr b="0" i="0" lang="en-US" sz="15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500" u="none" cap="none" strike="noStrike">
                <a:solidFill>
                  <a:srgbClr val="81D1F4"/>
                </a:solidFill>
                <a:latin typeface="Arial"/>
                <a:ea typeface="Arial"/>
                <a:cs typeface="Arial"/>
                <a:sym typeface="Arial"/>
              </a:rPr>
              <a:t>[quick success story or fact]</a:t>
            </a:r>
            <a:r>
              <a:rPr b="0" i="0" lang="en-US" sz="15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7"/>
          <p:cNvSpPr/>
          <p:nvPr/>
        </p:nvSpPr>
        <p:spPr>
          <a:xfrm>
            <a:off x="4235856" y="2920007"/>
            <a:ext cx="374400" cy="374400"/>
          </a:xfrm>
          <a:prstGeom prst="ellipse">
            <a:avLst/>
          </a:prstGeom>
          <a:solidFill>
            <a:srgbClr val="239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405"/>
              <a:buFont typeface="Arial Black"/>
              <a:buNone/>
            </a:pPr>
            <a:r>
              <a:rPr b="1" i="0" lang="en-US" sz="1404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6</a:t>
            </a:r>
            <a:endParaRPr b="0" i="0" sz="1404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7"/>
          <p:cNvSpPr/>
          <p:nvPr/>
        </p:nvSpPr>
        <p:spPr>
          <a:xfrm>
            <a:off x="4831349" y="2984321"/>
            <a:ext cx="2244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400"/>
              <a:buFont typeface="Arial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Would you like to </a:t>
            </a:r>
            <a:r>
              <a:rPr b="0" i="0" lang="en-US" sz="1500" u="none" cap="none" strike="noStrike">
                <a:solidFill>
                  <a:srgbClr val="81D1F4"/>
                </a:solidFill>
                <a:latin typeface="Arial"/>
                <a:ea typeface="Arial"/>
                <a:cs typeface="Arial"/>
                <a:sym typeface="Arial"/>
              </a:rPr>
              <a:t>[clear next step]</a:t>
            </a:r>
            <a:r>
              <a:rPr b="0" i="0" lang="en-US" sz="15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7"/>
          <p:cNvSpPr/>
          <p:nvPr/>
        </p:nvSpPr>
        <p:spPr>
          <a:xfrm>
            <a:off x="571500" y="3694875"/>
            <a:ext cx="8001000" cy="1151700"/>
          </a:xfrm>
          <a:prstGeom prst="rect">
            <a:avLst/>
          </a:prstGeom>
          <a:solidFill>
            <a:srgbClr val="212353"/>
          </a:solidFill>
          <a:ln>
            <a:noFill/>
          </a:ln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98FF"/>
              </a:buClr>
              <a:buSzPts val="1200"/>
              <a:buFont typeface="Arial"/>
              <a:buNone/>
            </a:pPr>
            <a:r>
              <a:rPr lang="en-US" sz="1300" u="none" cap="none" strike="noStrike">
                <a:solidFill>
                  <a:srgbClr val="81D1F4"/>
                </a:solidFill>
              </a:rPr>
              <a:t>Example: </a:t>
            </a:r>
            <a:r>
              <a:rPr b="0" lang="en-US" sz="13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"Hi, I'm Mike from SkyView Drones. I help real estate agents who struggle to make listings stand out. According to my customers, </a:t>
            </a:r>
            <a:r>
              <a:rPr lang="en-US" sz="1300">
                <a:solidFill>
                  <a:srgbClr val="F0F0F0"/>
                </a:solidFill>
              </a:rPr>
              <a:t>listings with my </a:t>
            </a:r>
            <a:r>
              <a:rPr b="0" lang="en-US" sz="13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aerial photos get 68% more views. Unlike others, I deliver in 24 hours. For example, I helped an agent sell a home in 3 days with my photos. Want to see some samples?"</a:t>
            </a:r>
            <a:endParaRPr b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33"/>
        </a:solidFill>
      </p:bgPr>
    </p:bg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28"/>
          <p:cNvSpPr/>
          <p:nvPr/>
        </p:nvSpPr>
        <p:spPr>
          <a:xfrm>
            <a:off x="545757" y="280752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E33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Exercise 2: Craft Your Offer</a:t>
            </a:r>
            <a:endParaRPr b="0" i="0" sz="2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8"/>
          <p:cNvSpPr/>
          <p:nvPr/>
        </p:nvSpPr>
        <p:spPr>
          <a:xfrm>
            <a:off x="545757" y="822287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Arial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Answer these questions before talking to clients:</a:t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8"/>
          <p:cNvSpPr/>
          <p:nvPr/>
        </p:nvSpPr>
        <p:spPr>
          <a:xfrm>
            <a:off x="571500" y="1328141"/>
            <a:ext cx="2372100" cy="663300"/>
          </a:xfrm>
          <a:prstGeom prst="rect">
            <a:avLst/>
          </a:prstGeom>
          <a:solidFill>
            <a:srgbClr val="239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300"/>
              <a:buFont typeface="Arial Black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DELIVERABLES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8"/>
          <p:cNvSpPr/>
          <p:nvPr/>
        </p:nvSpPr>
        <p:spPr>
          <a:xfrm>
            <a:off x="3179537" y="1464491"/>
            <a:ext cx="39681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400"/>
              <a:buFont typeface="Arial"/>
              <a:buNone/>
            </a:pPr>
            <a:r>
              <a:rPr b="0" i="0" lang="en-US" sz="15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Photos? Videos? Both? How many?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400"/>
              <a:buFont typeface="Arial"/>
              <a:buNone/>
            </a:pPr>
            <a:r>
              <a:rPr b="0" i="0" lang="en-US" sz="15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Raw files, edited, or both? How delivered?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8"/>
          <p:cNvSpPr/>
          <p:nvPr/>
        </p:nvSpPr>
        <p:spPr>
          <a:xfrm>
            <a:off x="571500" y="2207191"/>
            <a:ext cx="2372100" cy="663300"/>
          </a:xfrm>
          <a:prstGeom prst="rect">
            <a:avLst/>
          </a:prstGeom>
          <a:solidFill>
            <a:srgbClr val="239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300"/>
              <a:buFont typeface="Arial Black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TIMELINE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8"/>
          <p:cNvSpPr/>
          <p:nvPr/>
        </p:nvSpPr>
        <p:spPr>
          <a:xfrm>
            <a:off x="3179537" y="2343529"/>
            <a:ext cx="39681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400"/>
              <a:buFont typeface="Arial"/>
              <a:buNone/>
            </a:pPr>
            <a:r>
              <a:rPr b="0" i="0" lang="en-US" sz="15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How long start to finish?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400"/>
              <a:buFont typeface="Arial"/>
              <a:buNone/>
            </a:pPr>
            <a:r>
              <a:rPr b="0" i="0" lang="en-US" sz="15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One mission or ongoing? Turnaround time?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28"/>
          <p:cNvSpPr/>
          <p:nvPr/>
        </p:nvSpPr>
        <p:spPr>
          <a:xfrm>
            <a:off x="571500" y="3086240"/>
            <a:ext cx="2372100" cy="663300"/>
          </a:xfrm>
          <a:prstGeom prst="rect">
            <a:avLst/>
          </a:prstGeom>
          <a:solidFill>
            <a:srgbClr val="239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300"/>
              <a:buFont typeface="Arial Black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EXPECTATIONS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8"/>
          <p:cNvSpPr/>
          <p:nvPr/>
        </p:nvSpPr>
        <p:spPr>
          <a:xfrm>
            <a:off x="3179537" y="3222590"/>
            <a:ext cx="39681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400"/>
              <a:buFont typeface="Arial"/>
              <a:buNone/>
            </a:pPr>
            <a:r>
              <a:rPr b="0" i="0" lang="en-US" sz="15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Site access needed? Waivers? Client on-site?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400"/>
              <a:buFont typeface="Arial"/>
              <a:buNone/>
            </a:pPr>
            <a:r>
              <a:rPr b="0" i="0" lang="en-US" sz="15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What questions should you ask them?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8"/>
          <p:cNvSpPr/>
          <p:nvPr/>
        </p:nvSpPr>
        <p:spPr>
          <a:xfrm>
            <a:off x="571500" y="4033725"/>
            <a:ext cx="8001000" cy="721200"/>
          </a:xfrm>
          <a:prstGeom prst="rect">
            <a:avLst/>
          </a:prstGeom>
          <a:solidFill>
            <a:srgbClr val="212353"/>
          </a:solidFill>
          <a:ln>
            <a:noFill/>
          </a:ln>
        </p:spPr>
        <p:txBody>
          <a:bodyPr anchorCtr="0" anchor="ctr" bIns="155425" lIns="365750" spcFirstLastPara="1" rIns="365750" wrap="square" tIns="18287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98FF"/>
              </a:buClr>
              <a:buSzPts val="1500"/>
              <a:buFont typeface="Arial"/>
              <a:buNone/>
            </a:pPr>
            <a:r>
              <a:rPr i="0" lang="en-US" sz="1500" u="none" cap="none" strike="noStrike">
                <a:solidFill>
                  <a:srgbClr val="81D1F4"/>
                </a:solidFill>
              </a:rPr>
              <a:t>Example basic offer: </a:t>
            </a:r>
            <a:r>
              <a:rPr b="0" i="0" lang="en-US" sz="15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10 edited aerial photos,</a:t>
            </a:r>
            <a:br>
              <a:rPr lang="en-US" sz="1500">
                <a:solidFill>
                  <a:srgbClr val="F0F0F0"/>
                </a:solidFill>
              </a:rPr>
            </a:br>
            <a:r>
              <a:rPr b="0" i="0" lang="en-US" sz="15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delivered via Google Drive within 48 hours, $200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33"/>
        </a:solidFill>
      </p:bgPr>
    </p:bg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29"/>
          <p:cNvSpPr/>
          <p:nvPr/>
        </p:nvSpPr>
        <p:spPr>
          <a:xfrm>
            <a:off x="549921" y="2743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E33"/>
              </a:buClr>
              <a:buSzPts val="2600"/>
              <a:buFont typeface="Arial Black"/>
              <a:buNone/>
            </a:pPr>
            <a:r>
              <a:rPr b="1" i="0" lang="en-US" sz="26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Exercise 3: Your Pricing</a:t>
            </a:r>
            <a:endParaRPr b="0" i="0" sz="2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9"/>
          <p:cNvSpPr/>
          <p:nvPr/>
        </p:nvSpPr>
        <p:spPr>
          <a:xfrm>
            <a:off x="558350" y="827825"/>
            <a:ext cx="5084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Arial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3-Step Pricing Framework</a:t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9"/>
          <p:cNvSpPr/>
          <p:nvPr/>
        </p:nvSpPr>
        <p:spPr>
          <a:xfrm>
            <a:off x="571500" y="1583798"/>
            <a:ext cx="426600" cy="426600"/>
          </a:xfrm>
          <a:prstGeom prst="ellipse">
            <a:avLst/>
          </a:prstGeom>
          <a:solidFill>
            <a:srgbClr val="239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679"/>
              <a:buFont typeface="Arial Black"/>
              <a:buNone/>
            </a:pPr>
            <a:r>
              <a:rPr b="1" i="0" lang="en-US" sz="1679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b="0" i="0" sz="1679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9"/>
          <p:cNvSpPr/>
          <p:nvPr/>
        </p:nvSpPr>
        <p:spPr>
          <a:xfrm>
            <a:off x="1306552" y="1659263"/>
            <a:ext cx="11139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398FF"/>
              </a:buClr>
              <a:buSzPts val="15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1" lang="en-US" sz="1800">
                <a:solidFill>
                  <a:schemeClr val="lt1"/>
                </a:solidFill>
              </a:rPr>
              <a:t>esearch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9"/>
          <p:cNvSpPr/>
          <p:nvPr/>
        </p:nvSpPr>
        <p:spPr>
          <a:xfrm>
            <a:off x="2686907" y="1574516"/>
            <a:ext cx="4745100" cy="4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400"/>
              <a:buFont typeface="Arial"/>
              <a:buNone/>
            </a:pPr>
            <a:r>
              <a:rPr b="0" i="0" lang="en-US" sz="13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Search for 3-5 local drone services.</a:t>
            </a:r>
            <a:endParaRPr b="0" i="0" sz="1300" u="none" cap="none" strike="noStrik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400"/>
              <a:buFont typeface="Arial"/>
              <a:buNone/>
            </a:pPr>
            <a:r>
              <a:rPr b="0" i="0" lang="en-US" sz="13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Call them for quotes. What are they charging?</a:t>
            </a:r>
            <a:endParaRPr b="0" i="0" sz="1300" u="none" cap="none" strike="noStrik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9"/>
          <p:cNvSpPr/>
          <p:nvPr/>
        </p:nvSpPr>
        <p:spPr>
          <a:xfrm>
            <a:off x="571500" y="2288162"/>
            <a:ext cx="426600" cy="426600"/>
          </a:xfrm>
          <a:prstGeom prst="ellipse">
            <a:avLst/>
          </a:prstGeom>
          <a:solidFill>
            <a:srgbClr val="239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679"/>
              <a:buFont typeface="Arial Black"/>
              <a:buNone/>
            </a:pPr>
            <a:r>
              <a:rPr b="1" i="0" lang="en-US" sz="1679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b="0" i="0" sz="1679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29"/>
          <p:cNvSpPr/>
          <p:nvPr/>
        </p:nvSpPr>
        <p:spPr>
          <a:xfrm>
            <a:off x="1306552" y="2373268"/>
            <a:ext cx="11139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E33"/>
              </a:buClr>
              <a:buSzPts val="15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="1" lang="en-US" sz="1800">
                <a:solidFill>
                  <a:schemeClr val="lt1"/>
                </a:solidFill>
              </a:rPr>
              <a:t>alculate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9"/>
          <p:cNvSpPr/>
          <p:nvPr/>
        </p:nvSpPr>
        <p:spPr>
          <a:xfrm>
            <a:off x="2686907" y="2288523"/>
            <a:ext cx="4745100" cy="4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400"/>
              <a:buFont typeface="Arial"/>
              <a:buNone/>
            </a:pPr>
            <a:r>
              <a:rPr b="0" i="0" lang="en-US" sz="13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Your minimum = (Hours × rate) + travel + editing.</a:t>
            </a:r>
            <a:endParaRPr b="0" i="0" sz="1300" u="none" cap="none" strike="noStrik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400"/>
              <a:buFont typeface="Arial"/>
              <a:buNone/>
            </a:pPr>
            <a:r>
              <a:rPr b="0" i="0" lang="en-US" sz="13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Add 40-60% margin.</a:t>
            </a:r>
            <a:endParaRPr b="0" i="0" sz="1300" u="none" cap="none" strike="noStrik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9"/>
          <p:cNvSpPr/>
          <p:nvPr/>
        </p:nvSpPr>
        <p:spPr>
          <a:xfrm>
            <a:off x="571500" y="2970419"/>
            <a:ext cx="426600" cy="426600"/>
          </a:xfrm>
          <a:prstGeom prst="ellipse">
            <a:avLst/>
          </a:prstGeom>
          <a:solidFill>
            <a:srgbClr val="239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679"/>
              <a:buFont typeface="Arial Black"/>
              <a:buNone/>
            </a:pPr>
            <a:r>
              <a:rPr b="1" i="0" lang="en-US" sz="1679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b="0" i="0" sz="1679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29"/>
          <p:cNvSpPr/>
          <p:nvPr/>
        </p:nvSpPr>
        <p:spPr>
          <a:xfrm>
            <a:off x="1306552" y="3061988"/>
            <a:ext cx="1113900" cy="2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CFE5"/>
              </a:buClr>
              <a:buSzPts val="15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1" lang="en-US" sz="1800">
                <a:solidFill>
                  <a:schemeClr val="lt1"/>
                </a:solidFill>
              </a:rPr>
              <a:t>educe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29"/>
          <p:cNvSpPr/>
          <p:nvPr/>
        </p:nvSpPr>
        <p:spPr>
          <a:xfrm>
            <a:off x="2686907" y="3082694"/>
            <a:ext cx="47451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400"/>
              <a:buFont typeface="Arial"/>
              <a:buNone/>
            </a:pPr>
            <a:r>
              <a:rPr lang="en-US" sz="1300">
                <a:solidFill>
                  <a:srgbClr val="CCCCCC"/>
                </a:solidFill>
              </a:rPr>
              <a:t>See how </a:t>
            </a:r>
            <a:r>
              <a:rPr lang="en-US" sz="1300">
                <a:solidFill>
                  <a:srgbClr val="CCCCCC"/>
                </a:solidFill>
              </a:rPr>
              <a:t>much</a:t>
            </a:r>
            <a:r>
              <a:rPr lang="en-US" sz="1300">
                <a:solidFill>
                  <a:srgbClr val="CCCCCC"/>
                </a:solidFill>
              </a:rPr>
              <a:t> value you are adding. </a:t>
            </a:r>
            <a:r>
              <a:rPr lang="en-US" sz="1300">
                <a:solidFill>
                  <a:srgbClr val="CCCCCC"/>
                </a:solidFill>
              </a:rPr>
              <a:t>Set your price.</a:t>
            </a:r>
            <a:endParaRPr b="0" i="0" sz="1300" u="none" cap="none" strike="noStrik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9"/>
          <p:cNvSpPr/>
          <p:nvPr/>
        </p:nvSpPr>
        <p:spPr>
          <a:xfrm>
            <a:off x="571500" y="3931142"/>
            <a:ext cx="8001000" cy="548700"/>
          </a:xfrm>
          <a:prstGeom prst="rect">
            <a:avLst/>
          </a:prstGeom>
          <a:solidFill>
            <a:srgbClr val="21235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Arial"/>
              <a:buNone/>
            </a:pPr>
            <a:r>
              <a:rPr i="0" lang="en-US" sz="1500" u="none" cap="none" strike="noStrike">
                <a:solidFill>
                  <a:srgbClr val="81D1F4"/>
                </a:solidFill>
              </a:rPr>
              <a:t>Remember: 26.7% of high earners charged full price from day one. Add value, not discounts.</a:t>
            </a:r>
            <a:endParaRPr i="0" sz="1500" u="none" cap="none" strike="noStrike">
              <a:solidFill>
                <a:srgbClr val="81D1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33"/>
        </a:solidFill>
      </p:bgPr>
    </p:bg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30"/>
          <p:cNvSpPr/>
          <p:nvPr/>
        </p:nvSpPr>
        <p:spPr>
          <a:xfrm>
            <a:off x="565074" y="387569"/>
            <a:ext cx="914400" cy="365700"/>
          </a:xfrm>
          <a:prstGeom prst="rect">
            <a:avLst/>
          </a:prstGeom>
          <a:solidFill>
            <a:srgbClr val="239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200"/>
              <a:buFont typeface="Arial Black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</a:rPr>
              <a:t>PART </a:t>
            </a:r>
            <a:r>
              <a:rPr b="1" lang="en-US" sz="1200">
                <a:solidFill>
                  <a:schemeClr val="lt1"/>
                </a:solidFill>
              </a:rPr>
              <a:t>3</a:t>
            </a:r>
            <a:endParaRPr i="0" sz="1200" u="none" cap="none" strike="noStrike">
              <a:solidFill>
                <a:schemeClr val="lt1"/>
              </a:solidFill>
            </a:endParaRPr>
          </a:p>
        </p:txBody>
      </p:sp>
      <p:sp>
        <p:nvSpPr>
          <p:cNvPr id="655" name="Google Shape;655;p30"/>
          <p:cNvSpPr/>
          <p:nvPr/>
        </p:nvSpPr>
        <p:spPr>
          <a:xfrm>
            <a:off x="1640850" y="322542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ECFE5"/>
              </a:buClr>
              <a:buSzPts val="3200"/>
              <a:buFont typeface="Arial Black"/>
              <a:buNone/>
            </a:pPr>
            <a:r>
              <a:rPr b="1" lang="en-US" sz="36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The Portfolio Playbook</a:t>
            </a:r>
            <a:endParaRPr b="1" sz="360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656" name="Google Shape;656;p30"/>
          <p:cNvSpPr/>
          <p:nvPr/>
        </p:nvSpPr>
        <p:spPr>
          <a:xfrm>
            <a:off x="1640850" y="789154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Arial"/>
              <a:buNone/>
            </a:pPr>
            <a:r>
              <a:rPr lang="en-US" sz="1500">
                <a:solidFill>
                  <a:schemeClr val="lt1"/>
                </a:solidFill>
              </a:rPr>
              <a:t>The "Good Enough" Portfolio: Run a Mock Job</a:t>
            </a:r>
            <a:endParaRPr sz="1500">
              <a:solidFill>
                <a:schemeClr val="lt1"/>
              </a:solidFill>
            </a:endParaRPr>
          </a:p>
        </p:txBody>
      </p:sp>
      <p:sp>
        <p:nvSpPr>
          <p:cNvPr id="657" name="Google Shape;657;p30"/>
          <p:cNvSpPr/>
          <p:nvPr/>
        </p:nvSpPr>
        <p:spPr>
          <a:xfrm>
            <a:off x="566609" y="1578627"/>
            <a:ext cx="411600" cy="411600"/>
          </a:xfrm>
          <a:prstGeom prst="ellipse">
            <a:avLst/>
          </a:prstGeom>
          <a:solidFill>
            <a:srgbClr val="239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600"/>
              <a:buFont typeface="Arial Black"/>
              <a:buNone/>
            </a:pPr>
            <a:r>
              <a:rPr b="1" i="0" lang="en-US" sz="1600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b="0" i="0" sz="1600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58" name="Google Shape;658;p30"/>
          <p:cNvGrpSpPr/>
          <p:nvPr/>
        </p:nvGrpSpPr>
        <p:grpSpPr>
          <a:xfrm>
            <a:off x="1168167" y="1605945"/>
            <a:ext cx="4898400" cy="428474"/>
            <a:chOff x="1168167" y="1605945"/>
            <a:chExt cx="4898400" cy="428474"/>
          </a:xfrm>
        </p:grpSpPr>
        <p:sp>
          <p:nvSpPr>
            <p:cNvPr id="659" name="Google Shape;659;p30"/>
            <p:cNvSpPr/>
            <p:nvPr/>
          </p:nvSpPr>
          <p:spPr>
            <a:xfrm>
              <a:off x="1168167" y="1605945"/>
              <a:ext cx="2432700" cy="19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F0F0F0"/>
                </a:buClr>
                <a:buSzPts val="1600"/>
                <a:buFont typeface="Arial"/>
                <a:buNone/>
              </a:pPr>
              <a:r>
                <a:rPr b="1" lang="en-US" sz="1800">
                  <a:solidFill>
                    <a:schemeClr val="lt1"/>
                  </a:solidFill>
                </a:rPr>
                <a:t>Pick a location</a:t>
              </a:r>
              <a:endParaRPr b="1" sz="1800">
                <a:solidFill>
                  <a:srgbClr val="F0F0F0"/>
                </a:solidFill>
              </a:endParaRPr>
            </a:p>
          </p:txBody>
        </p:sp>
        <p:sp>
          <p:nvSpPr>
            <p:cNvPr id="660" name="Google Shape;660;p30"/>
            <p:cNvSpPr/>
            <p:nvPr/>
          </p:nvSpPr>
          <p:spPr>
            <a:xfrm>
              <a:off x="1168167" y="1865219"/>
              <a:ext cx="4898400" cy="16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1300"/>
                <a:buFont typeface="Arial"/>
                <a:buNone/>
              </a:pPr>
              <a:r>
                <a:rPr lang="en-US" sz="1200">
                  <a:solidFill>
                    <a:srgbClr val="CCCCCC"/>
                  </a:solidFill>
                </a:rPr>
                <a:t>Your house, friend's property, or local landmark.</a:t>
              </a:r>
              <a:endParaRPr sz="1200">
                <a:solidFill>
                  <a:srgbClr val="CCCCCC"/>
                </a:solidFill>
              </a:endParaRPr>
            </a:p>
          </p:txBody>
        </p:sp>
      </p:grpSp>
      <p:sp>
        <p:nvSpPr>
          <p:cNvPr id="661" name="Google Shape;661;p30"/>
          <p:cNvSpPr/>
          <p:nvPr/>
        </p:nvSpPr>
        <p:spPr>
          <a:xfrm>
            <a:off x="566609" y="2310975"/>
            <a:ext cx="411600" cy="411600"/>
          </a:xfrm>
          <a:prstGeom prst="ellipse">
            <a:avLst/>
          </a:prstGeom>
          <a:solidFill>
            <a:srgbClr val="239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600"/>
              <a:buFont typeface="Arial Black"/>
              <a:buNone/>
            </a:pPr>
            <a:r>
              <a:rPr b="1" i="0" lang="en-US" sz="1600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b="0" i="0" sz="1600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2" name="Google Shape;662;p30"/>
          <p:cNvGrpSpPr/>
          <p:nvPr/>
        </p:nvGrpSpPr>
        <p:grpSpPr>
          <a:xfrm>
            <a:off x="1168167" y="2324195"/>
            <a:ext cx="4246500" cy="428484"/>
            <a:chOff x="1168167" y="2324195"/>
            <a:chExt cx="4246500" cy="428484"/>
          </a:xfrm>
        </p:grpSpPr>
        <p:sp>
          <p:nvSpPr>
            <p:cNvPr id="663" name="Google Shape;663;p30"/>
            <p:cNvSpPr/>
            <p:nvPr/>
          </p:nvSpPr>
          <p:spPr>
            <a:xfrm>
              <a:off x="1168167" y="2324195"/>
              <a:ext cx="2432700" cy="19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F0F0F0"/>
                </a:buClr>
                <a:buSzPts val="1600"/>
                <a:buFont typeface="Arial"/>
                <a:buNone/>
              </a:pPr>
              <a:r>
                <a:rPr b="1" lang="en-US" sz="1800">
                  <a:solidFill>
                    <a:schemeClr val="lt1"/>
                  </a:solidFill>
                </a:rPr>
                <a:t>Prep like a real job</a:t>
              </a:r>
              <a:endParaRPr b="1" sz="1800">
                <a:solidFill>
                  <a:schemeClr val="lt1"/>
                </a:solidFill>
              </a:endParaRPr>
            </a:p>
          </p:txBody>
        </p:sp>
        <p:sp>
          <p:nvSpPr>
            <p:cNvPr id="664" name="Google Shape;664;p30"/>
            <p:cNvSpPr/>
            <p:nvPr/>
          </p:nvSpPr>
          <p:spPr>
            <a:xfrm>
              <a:off x="1168167" y="2583479"/>
              <a:ext cx="4246500" cy="16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1300"/>
                <a:buFont typeface="Arial"/>
                <a:buNone/>
              </a:pPr>
              <a:r>
                <a:rPr lang="en-US" sz="1200">
                  <a:solidFill>
                    <a:srgbClr val="CCCCCC"/>
                  </a:solidFill>
                </a:rPr>
                <a:t>Mission plan, check airspace, charge batteries, pack gear</a:t>
              </a:r>
              <a:r>
                <a:rPr lang="en-US" sz="1200">
                  <a:solidFill>
                    <a:srgbClr val="CCCCCC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>
                <a:solidFill>
                  <a:srgbClr val="CCCCCC"/>
                </a:solidFill>
              </a:endParaRPr>
            </a:p>
          </p:txBody>
        </p:sp>
      </p:grpSp>
      <p:sp>
        <p:nvSpPr>
          <p:cNvPr id="665" name="Google Shape;665;p30"/>
          <p:cNvSpPr/>
          <p:nvPr/>
        </p:nvSpPr>
        <p:spPr>
          <a:xfrm>
            <a:off x="566609" y="3030112"/>
            <a:ext cx="411600" cy="411600"/>
          </a:xfrm>
          <a:prstGeom prst="ellipse">
            <a:avLst/>
          </a:prstGeom>
          <a:solidFill>
            <a:srgbClr val="239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600"/>
              <a:buFont typeface="Arial Black"/>
              <a:buNone/>
            </a:pPr>
            <a:r>
              <a:rPr b="1" i="0" lang="en-US" sz="1600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b="0" i="0" sz="1600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6" name="Google Shape;666;p30"/>
          <p:cNvGrpSpPr/>
          <p:nvPr/>
        </p:nvGrpSpPr>
        <p:grpSpPr>
          <a:xfrm>
            <a:off x="1168167" y="3029235"/>
            <a:ext cx="4770600" cy="428464"/>
            <a:chOff x="1168167" y="3029235"/>
            <a:chExt cx="4770600" cy="428464"/>
          </a:xfrm>
        </p:grpSpPr>
        <p:sp>
          <p:nvSpPr>
            <p:cNvPr id="667" name="Google Shape;667;p30"/>
            <p:cNvSpPr/>
            <p:nvPr/>
          </p:nvSpPr>
          <p:spPr>
            <a:xfrm>
              <a:off x="1168167" y="3029235"/>
              <a:ext cx="2432700" cy="19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F0F0F0"/>
                </a:buClr>
                <a:buSzPts val="1600"/>
                <a:buFont typeface="Arial"/>
                <a:buNone/>
              </a:pPr>
              <a:r>
                <a:rPr b="1" lang="en-US" sz="1800">
                  <a:solidFill>
                    <a:schemeClr val="lt1"/>
                  </a:solidFill>
                </a:rPr>
                <a:t>Execute the mission</a:t>
              </a:r>
              <a:endParaRPr b="1" sz="1800">
                <a:solidFill>
                  <a:schemeClr val="lt1"/>
                </a:solidFill>
              </a:endParaRPr>
            </a:p>
          </p:txBody>
        </p:sp>
        <p:sp>
          <p:nvSpPr>
            <p:cNvPr id="668" name="Google Shape;668;p30"/>
            <p:cNvSpPr/>
            <p:nvPr/>
          </p:nvSpPr>
          <p:spPr>
            <a:xfrm>
              <a:off x="1168167" y="3288499"/>
              <a:ext cx="4770600" cy="16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1300"/>
                <a:buFont typeface="Arial"/>
                <a:buNone/>
              </a:pPr>
              <a:r>
                <a:rPr lang="en-US" sz="1200">
                  <a:solidFill>
                    <a:srgbClr val="CCCCCC"/>
                  </a:solidFill>
                </a:rPr>
                <a:t>Show up on time, fly professionally, capture deliverables</a:t>
              </a:r>
              <a:r>
                <a:rPr lang="en-US" sz="1200">
                  <a:solidFill>
                    <a:srgbClr val="CCCCCC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>
                <a:solidFill>
                  <a:srgbClr val="CCCCCC"/>
                </a:solidFill>
              </a:endParaRPr>
            </a:p>
          </p:txBody>
        </p:sp>
      </p:grpSp>
      <p:sp>
        <p:nvSpPr>
          <p:cNvPr id="669" name="Google Shape;669;p30"/>
          <p:cNvSpPr/>
          <p:nvPr/>
        </p:nvSpPr>
        <p:spPr>
          <a:xfrm>
            <a:off x="5592000" y="1578626"/>
            <a:ext cx="2980500" cy="2568900"/>
          </a:xfrm>
          <a:prstGeom prst="rect">
            <a:avLst/>
          </a:prstGeom>
          <a:solidFill>
            <a:srgbClr val="212353"/>
          </a:solidFill>
          <a:ln>
            <a:noFill/>
          </a:ln>
        </p:spPr>
        <p:txBody>
          <a:bodyPr anchorCtr="0" anchor="ctr" bIns="155425" lIns="274300" spcFirstLastPara="1" rIns="274300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98FF"/>
              </a:buClr>
              <a:buSzPts val="1300"/>
              <a:buFont typeface="Arial"/>
              <a:buNone/>
            </a:pPr>
            <a:r>
              <a:rPr b="1" lang="en-US" sz="1500">
                <a:solidFill>
                  <a:srgbClr val="81D1F4"/>
                </a:solidFill>
              </a:rPr>
              <a:t>Why this works:</a:t>
            </a:r>
            <a:endParaRPr sz="1500">
              <a:solidFill>
                <a:srgbClr val="81D1F4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-US" sz="1500">
                <a:solidFill>
                  <a:schemeClr val="lt1"/>
                </a:solidFill>
              </a:rPr>
              <a:t>Discover your real timeline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-US" sz="1500">
                <a:solidFill>
                  <a:schemeClr val="lt1"/>
                </a:solidFill>
              </a:rPr>
              <a:t>Identify gaps in your process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-US" sz="1500">
                <a:solidFill>
                  <a:schemeClr val="lt1"/>
                </a:solidFill>
              </a:rPr>
              <a:t>Get portfolio samples</a:t>
            </a:r>
            <a:endParaRPr sz="1500">
              <a:solidFill>
                <a:schemeClr val="lt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</a:pPr>
            <a:r>
              <a:rPr lang="en-US" sz="1500">
                <a:solidFill>
                  <a:schemeClr val="lt1"/>
                </a:solidFill>
              </a:rPr>
              <a:t>Build confidence in your workflow</a:t>
            </a:r>
            <a:endParaRPr sz="1500">
              <a:solidFill>
                <a:schemeClr val="lt1"/>
              </a:solidFill>
            </a:endParaRPr>
          </a:p>
        </p:txBody>
      </p:sp>
      <p:sp>
        <p:nvSpPr>
          <p:cNvPr id="670" name="Google Shape;670;p30"/>
          <p:cNvSpPr/>
          <p:nvPr/>
        </p:nvSpPr>
        <p:spPr>
          <a:xfrm>
            <a:off x="566609" y="3735132"/>
            <a:ext cx="411600" cy="411600"/>
          </a:xfrm>
          <a:prstGeom prst="ellipse">
            <a:avLst/>
          </a:prstGeom>
          <a:solidFill>
            <a:srgbClr val="239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600"/>
              <a:buFont typeface="Arial Black"/>
              <a:buNone/>
            </a:pPr>
            <a:r>
              <a:rPr b="1" lang="en-US" sz="16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 b="0" i="0" sz="1600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71" name="Google Shape;671;p30"/>
          <p:cNvGrpSpPr/>
          <p:nvPr/>
        </p:nvGrpSpPr>
        <p:grpSpPr>
          <a:xfrm>
            <a:off x="1168167" y="3734255"/>
            <a:ext cx="4246500" cy="428464"/>
            <a:chOff x="1168167" y="3734255"/>
            <a:chExt cx="4246500" cy="428464"/>
          </a:xfrm>
        </p:grpSpPr>
        <p:sp>
          <p:nvSpPr>
            <p:cNvPr id="672" name="Google Shape;672;p30"/>
            <p:cNvSpPr/>
            <p:nvPr/>
          </p:nvSpPr>
          <p:spPr>
            <a:xfrm>
              <a:off x="1168167" y="3734255"/>
              <a:ext cx="2432700" cy="19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F0F0F0"/>
                </a:buClr>
                <a:buSzPts val="1600"/>
                <a:buFont typeface="Arial"/>
                <a:buNone/>
              </a:pPr>
              <a:r>
                <a:rPr b="1" lang="en-US" sz="1800">
                  <a:solidFill>
                    <a:schemeClr val="lt1"/>
                  </a:solidFill>
                </a:rPr>
                <a:t>Process &amp; deliver</a:t>
              </a:r>
              <a:endParaRPr b="1" sz="1800">
                <a:solidFill>
                  <a:schemeClr val="lt1"/>
                </a:solidFill>
              </a:endParaRPr>
            </a:p>
          </p:txBody>
        </p:sp>
        <p:sp>
          <p:nvSpPr>
            <p:cNvPr id="673" name="Google Shape;673;p30"/>
            <p:cNvSpPr/>
            <p:nvPr/>
          </p:nvSpPr>
          <p:spPr>
            <a:xfrm>
              <a:off x="1168167" y="3993519"/>
              <a:ext cx="4246500" cy="16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1300"/>
                <a:buFont typeface="Arial"/>
                <a:buNone/>
              </a:pPr>
              <a:r>
                <a:rPr lang="en-US" sz="1200">
                  <a:solidFill>
                    <a:srgbClr val="CCCCCC"/>
                  </a:solidFill>
                </a:rPr>
                <a:t>Edit, export, and package exactly as for a client</a:t>
              </a:r>
              <a:r>
                <a:rPr lang="en-US" sz="1200">
                  <a:solidFill>
                    <a:srgbClr val="CCCCCC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200">
                <a:solidFill>
                  <a:srgbClr val="CCCCCC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33"/>
        </a:solidFill>
      </p:bgPr>
    </p:bg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31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239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31"/>
          <p:cNvSpPr/>
          <p:nvPr/>
        </p:nvSpPr>
        <p:spPr>
          <a:xfrm>
            <a:off x="582698" y="318701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E33"/>
              </a:buClr>
              <a:buSzPts val="2800"/>
              <a:buFont typeface="Arial Black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Your 7-Day Action Checklist</a:t>
            </a:r>
            <a:endParaRPr b="0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31"/>
          <p:cNvSpPr/>
          <p:nvPr/>
        </p:nvSpPr>
        <p:spPr>
          <a:xfrm>
            <a:off x="571500" y="1166750"/>
            <a:ext cx="1431600" cy="392400"/>
          </a:xfrm>
          <a:prstGeom prst="rect">
            <a:avLst/>
          </a:prstGeom>
          <a:solidFill>
            <a:srgbClr val="239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200"/>
              <a:buFont typeface="Arial Black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DAY 1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31"/>
          <p:cNvSpPr/>
          <p:nvPr/>
        </p:nvSpPr>
        <p:spPr>
          <a:xfrm>
            <a:off x="602250" y="1716738"/>
            <a:ext cx="1397700" cy="13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Arial"/>
              <a:buNone/>
            </a:pPr>
            <a:r>
              <a:rPr b="1" lang="en-US" sz="1200">
                <a:solidFill>
                  <a:srgbClr val="F0F0F0"/>
                </a:solidFill>
              </a:rPr>
              <a:t>Client Map exercis</a:t>
            </a:r>
            <a:r>
              <a:rPr b="1" i="0" lang="en-US" sz="1200" u="none" cap="none" strike="noStrike">
                <a:solidFill>
                  <a:srgbClr val="F0F0F0"/>
                </a:solidFill>
              </a:rPr>
              <a:t>es</a:t>
            </a:r>
            <a:endParaRPr b="1" sz="1200">
              <a:solidFill>
                <a:srgbClr val="F0F0F0"/>
              </a:solidFill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Arial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• Reach out to top 5 contacts</a:t>
            </a:r>
            <a:endParaRPr sz="1200">
              <a:solidFill>
                <a:srgbClr val="CCCCC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Arial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 • Marketing Roadmap</a:t>
            </a:r>
            <a:endParaRPr sz="1200">
              <a:solidFill>
                <a:srgbClr val="CCCCC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Arial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• Plan mock job</a:t>
            </a:r>
            <a:endParaRPr b="0" i="0" sz="1200" u="none" cap="none" strike="noStrik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31"/>
          <p:cNvSpPr/>
          <p:nvPr/>
        </p:nvSpPr>
        <p:spPr>
          <a:xfrm>
            <a:off x="2213847" y="1166750"/>
            <a:ext cx="1431600" cy="392400"/>
          </a:xfrm>
          <a:prstGeom prst="rect">
            <a:avLst/>
          </a:prstGeom>
          <a:solidFill>
            <a:srgbClr val="239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200"/>
              <a:buFont typeface="Arial Black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DAY 2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31"/>
          <p:cNvSpPr/>
          <p:nvPr/>
        </p:nvSpPr>
        <p:spPr>
          <a:xfrm>
            <a:off x="2244075" y="1716738"/>
            <a:ext cx="1397700" cy="13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Arial"/>
              <a:buNone/>
            </a:pPr>
            <a:r>
              <a:rPr b="1" i="0" lang="en-US" sz="1200" u="none" cap="none" strike="noStrike">
                <a:solidFill>
                  <a:srgbClr val="F0F0F0"/>
                </a:solidFill>
              </a:rPr>
              <a:t>Execute</a:t>
            </a:r>
            <a:br>
              <a:rPr b="1" lang="en-US" sz="1200">
                <a:solidFill>
                  <a:srgbClr val="F0F0F0"/>
                </a:solidFill>
              </a:rPr>
            </a:br>
            <a:r>
              <a:rPr b="1" i="0" lang="en-US" sz="1200" u="none" cap="none" strike="noStrike">
                <a:solidFill>
                  <a:srgbClr val="F0F0F0"/>
                </a:solidFill>
              </a:rPr>
              <a:t>mock job</a:t>
            </a:r>
            <a:endParaRPr b="1" sz="1200">
              <a:solidFill>
                <a:srgbClr val="F0F0F0"/>
              </a:solidFill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Arial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• Edit deliverables</a:t>
            </a:r>
            <a:endParaRPr sz="1200">
              <a:solidFill>
                <a:srgbClr val="CCCCC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Arial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• Refine pitch based on learnings</a:t>
            </a:r>
            <a:endParaRPr b="0" i="0" sz="1200" u="none" cap="none" strike="noStrik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31"/>
          <p:cNvSpPr/>
          <p:nvPr/>
        </p:nvSpPr>
        <p:spPr>
          <a:xfrm>
            <a:off x="3856195" y="1166750"/>
            <a:ext cx="1431600" cy="392400"/>
          </a:xfrm>
          <a:prstGeom prst="rect">
            <a:avLst/>
          </a:prstGeom>
          <a:solidFill>
            <a:srgbClr val="239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200"/>
              <a:buFont typeface="Arial Black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DAY 3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31"/>
          <p:cNvSpPr/>
          <p:nvPr/>
        </p:nvSpPr>
        <p:spPr>
          <a:xfrm>
            <a:off x="3890075" y="1716738"/>
            <a:ext cx="1397700" cy="12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Arial"/>
              <a:buNone/>
            </a:pPr>
            <a:r>
              <a:rPr b="1" i="0" lang="en-US" sz="1200" u="none" cap="none" strike="noStrike">
                <a:solidFill>
                  <a:srgbClr val="F0F0F0"/>
                </a:solidFill>
              </a:rPr>
              <a:t>Post on social media</a:t>
            </a:r>
            <a:endParaRPr b="1" sz="1200">
              <a:solidFill>
                <a:srgbClr val="F0F0F0"/>
              </a:solidFill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Arial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• Start meeting with contacts</a:t>
            </a:r>
            <a:endParaRPr sz="1200">
              <a:solidFill>
                <a:srgbClr val="CCCCC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Arial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r>
              <a:rPr b="0" i="0" lang="en-US" sz="12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 Send follow-up emails</a:t>
            </a:r>
            <a:endParaRPr b="0" i="0" sz="1200" u="none" cap="none" strike="noStrik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31"/>
          <p:cNvSpPr/>
          <p:nvPr/>
        </p:nvSpPr>
        <p:spPr>
          <a:xfrm>
            <a:off x="5498542" y="1166750"/>
            <a:ext cx="1431600" cy="392400"/>
          </a:xfrm>
          <a:prstGeom prst="rect">
            <a:avLst/>
          </a:prstGeom>
          <a:solidFill>
            <a:srgbClr val="239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200"/>
              <a:buFont typeface="Arial Black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DAYS 4-5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1"/>
          <p:cNvSpPr/>
          <p:nvPr/>
        </p:nvSpPr>
        <p:spPr>
          <a:xfrm>
            <a:off x="5532425" y="1716738"/>
            <a:ext cx="1397700" cy="12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Arial"/>
              <a:buNone/>
            </a:pPr>
            <a:r>
              <a:rPr b="1" i="0" lang="en-US" sz="1200" u="none" cap="none" strike="noStrike">
                <a:solidFill>
                  <a:srgbClr val="F0F0F0"/>
                </a:solidFill>
              </a:rPr>
              <a:t>Continue conversations</a:t>
            </a:r>
            <a:endParaRPr b="1" sz="1200">
              <a:solidFill>
                <a:srgbClr val="F0F0F0"/>
              </a:solidFill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Arial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• Get feedback on pitch/pricing</a:t>
            </a:r>
            <a:endParaRPr sz="1200">
              <a:solidFill>
                <a:srgbClr val="CCCCC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Arial"/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• Expand contact list</a:t>
            </a:r>
            <a:endParaRPr b="0" i="0" sz="1200" u="none" cap="none" strike="noStrik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31"/>
          <p:cNvSpPr/>
          <p:nvPr/>
        </p:nvSpPr>
        <p:spPr>
          <a:xfrm>
            <a:off x="7140890" y="1166750"/>
            <a:ext cx="1431600" cy="392400"/>
          </a:xfrm>
          <a:prstGeom prst="rect">
            <a:avLst/>
          </a:prstGeom>
          <a:solidFill>
            <a:srgbClr val="239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200"/>
              <a:buFont typeface="Arial Black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DAYS 6-7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31"/>
          <p:cNvSpPr/>
          <p:nvPr/>
        </p:nvSpPr>
        <p:spPr>
          <a:xfrm>
            <a:off x="7140900" y="1716738"/>
            <a:ext cx="14238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F0F0"/>
                </a:solidFill>
              </a:rPr>
              <a:t>Follow up with</a:t>
            </a:r>
            <a:br>
              <a:rPr b="1" lang="en-US" sz="1200">
                <a:solidFill>
                  <a:srgbClr val="F0F0F0"/>
                </a:solidFill>
              </a:rPr>
            </a:br>
            <a:r>
              <a:rPr b="1" i="0" lang="en-US" sz="1200" u="none" cap="none" strike="noStrike">
                <a:solidFill>
                  <a:srgbClr val="F0F0F0"/>
                </a:solidFill>
              </a:rPr>
              <a:t>all leads</a:t>
            </a:r>
            <a:endParaRPr b="1" sz="1200">
              <a:solidFill>
                <a:srgbClr val="F0F0F0"/>
              </a:solidFill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• Refine approach</a:t>
            </a:r>
            <a:endParaRPr sz="1200">
              <a:solidFill>
                <a:srgbClr val="CCCCC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0" i="0" lang="en-US" sz="1200" u="none" cap="none" strike="noStrike">
                <a:solidFill>
                  <a:srgbClr val="81D1F4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1200">
                <a:solidFill>
                  <a:srgbClr val="81D1F4"/>
                </a:solidFill>
              </a:rPr>
              <a:t>lose your first client</a:t>
            </a:r>
            <a:endParaRPr b="0" i="0" sz="1200" u="none" cap="none" strike="noStrike">
              <a:solidFill>
                <a:srgbClr val="81D1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31"/>
          <p:cNvSpPr/>
          <p:nvPr/>
        </p:nvSpPr>
        <p:spPr>
          <a:xfrm>
            <a:off x="582700" y="3445188"/>
            <a:ext cx="7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98FF"/>
              </a:buClr>
              <a:buSzPts val="1600"/>
              <a:buFont typeface="Arial"/>
              <a:buNone/>
            </a:pPr>
            <a:r>
              <a:rPr i="0" lang="en-US" sz="1500" u="none" cap="none" strike="noStrike">
                <a:solidFill>
                  <a:schemeClr val="lt1"/>
                </a:solidFill>
              </a:rPr>
              <a:t>Remember: 6% of pilots got their first client in 7 days. You could be one of them.</a:t>
            </a:r>
            <a:endParaRPr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31"/>
          <p:cNvSpPr/>
          <p:nvPr/>
        </p:nvSpPr>
        <p:spPr>
          <a:xfrm>
            <a:off x="571500" y="3919300"/>
            <a:ext cx="7972800" cy="530400"/>
          </a:xfrm>
          <a:prstGeom prst="rect">
            <a:avLst/>
          </a:prstGeom>
          <a:solidFill>
            <a:srgbClr val="21235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CFE5"/>
              </a:buClr>
              <a:buSzPts val="1400"/>
              <a:buFont typeface="Arial"/>
              <a:buNone/>
            </a:pPr>
            <a:r>
              <a:rPr i="0" lang="en-US" sz="1500" u="none" cap="none" strike="noStrike">
                <a:solidFill>
                  <a:srgbClr val="81D1F4"/>
                </a:solidFill>
              </a:rPr>
              <a:t>Full playbook with all exercises included in your FREE PDF!</a:t>
            </a:r>
            <a:endParaRPr i="0" sz="1500" u="none" cap="none" strike="noStrike">
              <a:solidFill>
                <a:srgbClr val="81D1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33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32"/>
          <p:cNvSpPr/>
          <p:nvPr/>
        </p:nvSpPr>
        <p:spPr>
          <a:xfrm>
            <a:off x="0" y="-7937"/>
            <a:ext cx="109800" cy="5148000"/>
          </a:xfrm>
          <a:prstGeom prst="rect">
            <a:avLst/>
          </a:prstGeom>
          <a:solidFill>
            <a:srgbClr val="239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32"/>
          <p:cNvSpPr/>
          <p:nvPr/>
        </p:nvSpPr>
        <p:spPr>
          <a:xfrm>
            <a:off x="457200" y="531161"/>
            <a:ext cx="8229600" cy="27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0590"/>
              </a:buClr>
              <a:buSzPts val="1600"/>
              <a:buFont typeface="Arial Black"/>
              <a:buNone/>
            </a:pPr>
            <a:r>
              <a:rPr b="1" lang="en-US" sz="1800">
                <a:solidFill>
                  <a:srgbClr val="81D1F4"/>
                </a:solidFill>
                <a:latin typeface="Arial Black"/>
                <a:ea typeface="Arial Black"/>
                <a:cs typeface="Arial Black"/>
                <a:sym typeface="Arial Black"/>
              </a:rPr>
              <a:t>The “Someday” Trap</a:t>
            </a:r>
            <a:endParaRPr b="0" i="0" sz="1800" u="none" cap="none" strike="noStrike">
              <a:solidFill>
                <a:srgbClr val="81D1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32"/>
          <p:cNvSpPr/>
          <p:nvPr/>
        </p:nvSpPr>
        <p:spPr>
          <a:xfrm>
            <a:off x="457200" y="91615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4000"/>
              <a:buFont typeface="Arial Black"/>
              <a:buNone/>
            </a:pPr>
            <a:r>
              <a:rPr b="1" i="0" lang="en-US" sz="3600" u="none" cap="none" strike="noStrike">
                <a:solidFill>
                  <a:srgbClr val="F0F0F0"/>
                </a:solidFill>
                <a:latin typeface="Arial Black"/>
                <a:ea typeface="Arial Black"/>
                <a:cs typeface="Arial Black"/>
                <a:sym typeface="Arial Black"/>
              </a:rPr>
              <a:t>"I'll start reaching out</a:t>
            </a:r>
            <a:br>
              <a:rPr b="1" i="0" lang="en-US" sz="3600" u="none" cap="none" strike="noStrike">
                <a:solidFill>
                  <a:srgbClr val="F0F0F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1" i="0" lang="en-US" sz="3600" u="none" cap="none" strike="noStrike">
                <a:solidFill>
                  <a:srgbClr val="81D1F4"/>
                </a:solidFill>
                <a:latin typeface="Arial Black"/>
                <a:ea typeface="Arial Black"/>
                <a:cs typeface="Arial Black"/>
                <a:sym typeface="Arial Black"/>
              </a:rPr>
              <a:t>when I feel ready."</a:t>
            </a:r>
            <a:endParaRPr b="0" i="0" sz="3600" u="none" cap="none" strike="noStrike">
              <a:solidFill>
                <a:srgbClr val="81D1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32"/>
          <p:cNvSpPr/>
          <p:nvPr/>
        </p:nvSpPr>
        <p:spPr>
          <a:xfrm>
            <a:off x="457200" y="4124960"/>
            <a:ext cx="8229600" cy="502800"/>
          </a:xfrm>
          <a:prstGeom prst="rect">
            <a:avLst/>
          </a:prstGeom>
          <a:solidFill>
            <a:srgbClr val="2123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CFE5"/>
              </a:buClr>
              <a:buSzPts val="1400"/>
              <a:buFont typeface="Arial"/>
              <a:buNone/>
            </a:pPr>
            <a:r>
              <a:rPr b="0" lang="en-US" sz="1500" u="none" cap="none" strike="noStrike">
                <a:solidFill>
                  <a:srgbClr val="81D1F4"/>
                </a:solidFill>
                <a:latin typeface="Arial"/>
                <a:ea typeface="Arial"/>
                <a:cs typeface="Arial"/>
                <a:sym typeface="Arial"/>
              </a:rPr>
              <a:t>"The question isn't 'Am I ready?' It's 'Will I ever feel ready if I keep waiting?'"</a:t>
            </a:r>
            <a:endParaRPr b="0" sz="1500" u="none" cap="none" strike="noStrike">
              <a:solidFill>
                <a:srgbClr val="81D1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02" name="Google Shape;702;p32"/>
          <p:cNvGrpSpPr/>
          <p:nvPr/>
        </p:nvGrpSpPr>
        <p:grpSpPr>
          <a:xfrm>
            <a:off x="1371600" y="2001825"/>
            <a:ext cx="6400800" cy="1921582"/>
            <a:chOff x="1371600" y="2001825"/>
            <a:chExt cx="6400800" cy="1921582"/>
          </a:xfrm>
        </p:grpSpPr>
        <p:sp>
          <p:nvSpPr>
            <p:cNvPr id="703" name="Google Shape;703;p32"/>
            <p:cNvSpPr/>
            <p:nvPr/>
          </p:nvSpPr>
          <p:spPr>
            <a:xfrm>
              <a:off x="2174850" y="2001825"/>
              <a:ext cx="47943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0F0F0"/>
                </a:buClr>
                <a:buSzPts val="2000"/>
                <a:buFont typeface="Arial"/>
                <a:buNone/>
              </a:pPr>
              <a:r>
                <a:rPr b="0" i="0" lang="en-US" sz="1500" u="none" cap="none" strike="noStrike">
                  <a:solidFill>
                    <a:srgbClr val="F0F0F0"/>
                  </a:solidFill>
                  <a:latin typeface="Arial"/>
                  <a:ea typeface="Arial"/>
                  <a:cs typeface="Arial"/>
                  <a:sym typeface="Arial"/>
                </a:rPr>
                <a:t>But here's what the data shows:</a:t>
              </a:r>
              <a:endPara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4" name="Google Shape;704;p32"/>
            <p:cNvSpPr/>
            <p:nvPr/>
          </p:nvSpPr>
          <p:spPr>
            <a:xfrm>
              <a:off x="1371600" y="3378607"/>
              <a:ext cx="6400800" cy="54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2398FF"/>
                </a:buClr>
                <a:buSzPts val="1700"/>
                <a:buFont typeface="Arial"/>
                <a:buNone/>
              </a:pPr>
              <a:r>
                <a:rPr i="0" lang="en-US" sz="1500" u="none" cap="none" strike="noStrike">
                  <a:solidFill>
                    <a:schemeClr val="lt1"/>
                  </a:solidFill>
                </a:rPr>
                <a:t>of pilots without clients</a:t>
              </a:r>
              <a:r>
                <a:rPr lang="en-US" sz="1500">
                  <a:solidFill>
                    <a:schemeClr val="lt1"/>
                  </a:solidFill>
                </a:rPr>
                <a:t> </a:t>
              </a:r>
              <a:r>
                <a:rPr i="0" lang="en-US" sz="1500" u="none" cap="none" strike="noStrike">
                  <a:solidFill>
                    <a:schemeClr val="lt1"/>
                  </a:solidFill>
                </a:rPr>
                <a:t>never made a single contact attempt.</a:t>
              </a:r>
              <a:br>
                <a:rPr i="0" lang="en-US" sz="1500" u="none" cap="none" strike="noStrike">
                  <a:solidFill>
                    <a:schemeClr val="lt1"/>
                  </a:solidFill>
                </a:rPr>
              </a:br>
              <a:r>
                <a:rPr i="0" lang="en-US" sz="1500" u="none" cap="none" strike="noStrike">
                  <a:solidFill>
                    <a:schemeClr val="lt1"/>
                  </a:solidFill>
                </a:rPr>
                <a:t>They're still waiting to feel ready.</a:t>
              </a:r>
              <a:r>
                <a:rPr lang="en-US" sz="1500">
                  <a:solidFill>
                    <a:schemeClr val="lt1"/>
                  </a:solidFill>
                </a:rPr>
                <a:t> </a:t>
              </a:r>
              <a:r>
                <a:rPr i="0" lang="en-US" sz="1500" u="none" cap="none" strike="noStrike">
                  <a:solidFill>
                    <a:srgbClr val="81D1F4"/>
                  </a:solidFill>
                </a:rPr>
                <a:t>They'll wait forever.</a:t>
              </a:r>
              <a:endParaRPr i="0" sz="1500" u="none" cap="none" strike="noStrike">
                <a:solidFill>
                  <a:srgbClr val="81D1F4"/>
                </a:solidFill>
              </a:endParaRPr>
            </a:p>
          </p:txBody>
        </p:sp>
        <p:sp>
          <p:nvSpPr>
            <p:cNvPr id="705" name="Google Shape;705;p32"/>
            <p:cNvSpPr txBox="1"/>
            <p:nvPr/>
          </p:nvSpPr>
          <p:spPr>
            <a:xfrm>
              <a:off x="2582250" y="2153913"/>
              <a:ext cx="3979500" cy="14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0">
                  <a:solidFill>
                    <a:srgbClr val="2398FF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93.8%</a:t>
              </a:r>
              <a:r>
                <a:rPr lang="en-US" sz="8000">
                  <a:solidFill>
                    <a:srgbClr val="F0F0F0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 </a:t>
              </a:r>
              <a:endParaRPr sz="8000"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33"/>
        </a:solidFill>
      </p:bgPr>
    </p:bg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33"/>
          <p:cNvSpPr/>
          <p:nvPr/>
        </p:nvSpPr>
        <p:spPr>
          <a:xfrm>
            <a:off x="0" y="0"/>
            <a:ext cx="109728" cy="5148072"/>
          </a:xfrm>
          <a:prstGeom prst="rect">
            <a:avLst/>
          </a:prstGeom>
          <a:solidFill>
            <a:srgbClr val="239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33"/>
          <p:cNvSpPr/>
          <p:nvPr/>
        </p:nvSpPr>
        <p:spPr>
          <a:xfrm>
            <a:off x="457200" y="781050"/>
            <a:ext cx="82296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98FF"/>
              </a:buClr>
              <a:buSzPts val="1600"/>
              <a:buFont typeface="Arial Black"/>
              <a:buNone/>
            </a:pPr>
            <a:r>
              <a:rPr b="1" lang="en-US" sz="1800">
                <a:solidFill>
                  <a:srgbClr val="81D1F4"/>
                </a:solidFill>
                <a:latin typeface="Arial Black"/>
                <a:ea typeface="Arial Black"/>
                <a:cs typeface="Arial Black"/>
                <a:sym typeface="Arial Black"/>
              </a:rPr>
              <a:t>Picture this…</a:t>
            </a:r>
            <a:endParaRPr b="0" i="0" sz="1800" u="none" cap="none" strike="noStrike">
              <a:solidFill>
                <a:srgbClr val="81D1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33"/>
          <p:cNvSpPr/>
          <p:nvPr/>
        </p:nvSpPr>
        <p:spPr>
          <a:xfrm>
            <a:off x="457200" y="1126864"/>
            <a:ext cx="82296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4400"/>
              <a:buFont typeface="Arial Black"/>
              <a:buNone/>
            </a:pPr>
            <a:r>
              <a:rPr b="1" i="0" lang="en-US" sz="3600" u="none" cap="none" strike="noStrike">
                <a:solidFill>
                  <a:srgbClr val="F0F0F0"/>
                </a:solidFill>
                <a:latin typeface="Arial Black"/>
                <a:ea typeface="Arial Black"/>
                <a:cs typeface="Arial Black"/>
                <a:sym typeface="Arial Black"/>
              </a:rPr>
              <a:t>90 Days From Now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33"/>
          <p:cNvSpPr/>
          <p:nvPr/>
        </p:nvSpPr>
        <p:spPr>
          <a:xfrm>
            <a:off x="571500" y="3703763"/>
            <a:ext cx="8001000" cy="614100"/>
          </a:xfrm>
          <a:prstGeom prst="rect">
            <a:avLst/>
          </a:prstGeom>
          <a:solidFill>
            <a:srgbClr val="2123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i="0" lang="en-US" sz="1800" u="none" cap="none" strike="noStrike">
                <a:solidFill>
                  <a:schemeClr val="lt1"/>
                </a:solidFill>
              </a:rPr>
              <a:t>You're not wondering </a:t>
            </a:r>
            <a:r>
              <a:rPr lang="en-US" sz="1800">
                <a:solidFill>
                  <a:srgbClr val="81D1F4"/>
                </a:solidFill>
              </a:rPr>
              <a:t>if</a:t>
            </a:r>
            <a:r>
              <a:rPr i="0" lang="en-US" sz="1800" u="none" cap="none" strike="noStrike">
                <a:solidFill>
                  <a:schemeClr val="lt1"/>
                </a:solidFill>
              </a:rPr>
              <a:t> this will work.</a:t>
            </a: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0" lang="en-US" sz="1800" u="none" cap="none" strike="noStrike">
                <a:solidFill>
                  <a:schemeClr val="lt1"/>
                </a:solidFill>
              </a:rPr>
              <a:t>You</a:t>
            </a:r>
            <a:r>
              <a:rPr lang="en-US" sz="1800">
                <a:solidFill>
                  <a:schemeClr val="lt1"/>
                </a:solidFill>
              </a:rPr>
              <a:t> </a:t>
            </a:r>
            <a:r>
              <a:rPr lang="en-US" sz="1800">
                <a:solidFill>
                  <a:srgbClr val="81D1F4"/>
                </a:solidFill>
              </a:rPr>
              <a:t>know</a:t>
            </a:r>
            <a:r>
              <a:rPr i="0" lang="en-US" sz="1800" u="none" cap="none" strike="noStrike">
                <a:solidFill>
                  <a:schemeClr val="lt1"/>
                </a:solidFill>
              </a:rPr>
              <a:t> it works.</a:t>
            </a:r>
            <a:endParaRPr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15" name="Google Shape;715;p33"/>
          <p:cNvGrpSpPr/>
          <p:nvPr/>
        </p:nvGrpSpPr>
        <p:grpSpPr>
          <a:xfrm>
            <a:off x="1886581" y="1748622"/>
            <a:ext cx="5950194" cy="380110"/>
            <a:chOff x="1886581" y="1748622"/>
            <a:chExt cx="5950194" cy="380110"/>
          </a:xfrm>
        </p:grpSpPr>
        <p:sp>
          <p:nvSpPr>
            <p:cNvPr id="716" name="Google Shape;716;p33"/>
            <p:cNvSpPr/>
            <p:nvPr/>
          </p:nvSpPr>
          <p:spPr>
            <a:xfrm>
              <a:off x="2350375" y="1748632"/>
              <a:ext cx="5486400" cy="38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0F0F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0F0F0"/>
                  </a:solidFill>
                  <a:latin typeface="Arial"/>
                  <a:ea typeface="Arial"/>
                  <a:cs typeface="Arial"/>
                  <a:sym typeface="Arial"/>
                </a:rPr>
                <a:t>You've landed 3-4 paying client</a:t>
              </a:r>
              <a:r>
                <a:rPr lang="en-US" sz="1800">
                  <a:solidFill>
                    <a:srgbClr val="F0F0F0"/>
                  </a:solidFill>
                </a:rPr>
                <a:t>s</a:t>
              </a:r>
              <a:endParaRPr sz="1800">
                <a:solidFill>
                  <a:srgbClr val="F0F0F0"/>
                </a:solidFill>
              </a:endParaRPr>
            </a:p>
          </p:txBody>
        </p:sp>
        <p:pic>
          <p:nvPicPr>
            <p:cNvPr id="717" name="Google Shape;717;p33" title="check mark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86581" y="1748622"/>
              <a:ext cx="304635" cy="306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18" name="Google Shape;718;p33"/>
          <p:cNvGrpSpPr/>
          <p:nvPr/>
        </p:nvGrpSpPr>
        <p:grpSpPr>
          <a:xfrm>
            <a:off x="1886581" y="2168247"/>
            <a:ext cx="5950194" cy="386293"/>
            <a:chOff x="1886581" y="2174438"/>
            <a:chExt cx="5950194" cy="386293"/>
          </a:xfrm>
        </p:grpSpPr>
        <p:pic>
          <p:nvPicPr>
            <p:cNvPr id="719" name="Google Shape;719;p33" title="check mark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86581" y="2174438"/>
              <a:ext cx="304635" cy="306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0" name="Google Shape;720;p33"/>
            <p:cNvSpPr/>
            <p:nvPr/>
          </p:nvSpPr>
          <p:spPr>
            <a:xfrm>
              <a:off x="2350375" y="2180632"/>
              <a:ext cx="5486400" cy="38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0F0F0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rgbClr val="F0F0F0"/>
                  </a:solidFill>
                </a:rPr>
                <a:t>Reviews and referrals are coming in</a:t>
              </a:r>
              <a:endParaRPr sz="1800">
                <a:solidFill>
                  <a:srgbClr val="F0F0F0"/>
                </a:solidFill>
              </a:endParaRPr>
            </a:p>
          </p:txBody>
        </p:sp>
      </p:grpSp>
      <p:grpSp>
        <p:nvGrpSpPr>
          <p:cNvPr id="721" name="Google Shape;721;p33"/>
          <p:cNvGrpSpPr/>
          <p:nvPr/>
        </p:nvGrpSpPr>
        <p:grpSpPr>
          <a:xfrm>
            <a:off x="1886581" y="2594055"/>
            <a:ext cx="5950194" cy="392477"/>
            <a:chOff x="1886581" y="2600255"/>
            <a:chExt cx="5950194" cy="392477"/>
          </a:xfrm>
        </p:grpSpPr>
        <p:pic>
          <p:nvPicPr>
            <p:cNvPr id="722" name="Google Shape;722;p33" title="check mark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86581" y="2600255"/>
              <a:ext cx="304635" cy="306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3" name="Google Shape;723;p33"/>
            <p:cNvSpPr/>
            <p:nvPr/>
          </p:nvSpPr>
          <p:spPr>
            <a:xfrm>
              <a:off x="2350375" y="2612632"/>
              <a:ext cx="5486400" cy="38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0F0F0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rgbClr val="F0F0F0"/>
                  </a:solidFill>
                </a:rPr>
                <a:t>You've got recurring work on the calendar</a:t>
              </a:r>
              <a:endParaRPr sz="1800">
                <a:solidFill>
                  <a:srgbClr val="F0F0F0"/>
                </a:solidFill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0F0F0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rgbClr val="F0F0F0"/>
                </a:solidFill>
              </a:endParaRPr>
            </a:p>
          </p:txBody>
        </p:sp>
      </p:grpSp>
      <p:grpSp>
        <p:nvGrpSpPr>
          <p:cNvPr id="724" name="Google Shape;724;p33"/>
          <p:cNvGrpSpPr/>
          <p:nvPr/>
        </p:nvGrpSpPr>
        <p:grpSpPr>
          <a:xfrm>
            <a:off x="1886581" y="3026047"/>
            <a:ext cx="5950194" cy="398685"/>
            <a:chOff x="1886581" y="3026047"/>
            <a:chExt cx="5950194" cy="398685"/>
          </a:xfrm>
        </p:grpSpPr>
        <p:pic>
          <p:nvPicPr>
            <p:cNvPr id="725" name="Google Shape;725;p33" title="check mark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86581" y="3026047"/>
              <a:ext cx="304635" cy="306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6" name="Google Shape;726;p33"/>
            <p:cNvSpPr/>
            <p:nvPr/>
          </p:nvSpPr>
          <p:spPr>
            <a:xfrm>
              <a:off x="2350375" y="3044632"/>
              <a:ext cx="5486400" cy="38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0F0F0"/>
                </a:buClr>
                <a:buSzPts val="1800"/>
                <a:buFont typeface="Arial"/>
                <a:buNone/>
              </a:pPr>
              <a:r>
                <a:rPr lang="en-US" sz="1800">
                  <a:solidFill>
                    <a:srgbClr val="F0F0F0"/>
                  </a:solidFill>
                </a:rPr>
                <a:t>That expensive drone? Finally paying for itself.</a:t>
              </a:r>
              <a:endParaRPr sz="1800">
                <a:solidFill>
                  <a:srgbClr val="F0F0F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33"/>
        </a:solidFill>
      </p:bgPr>
    </p:bg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34"/>
          <p:cNvSpPr/>
          <p:nvPr/>
        </p:nvSpPr>
        <p:spPr>
          <a:xfrm>
            <a:off x="576263" y="278448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3400"/>
              <a:buFont typeface="Arial Black"/>
              <a:buNone/>
            </a:pPr>
            <a:r>
              <a:rPr b="1" lang="en-US" sz="3600">
                <a:solidFill>
                  <a:srgbClr val="F0F0F0"/>
                </a:solidFill>
                <a:latin typeface="Arial Black"/>
                <a:ea typeface="Arial Black"/>
                <a:cs typeface="Arial Black"/>
                <a:sym typeface="Arial Black"/>
              </a:rPr>
              <a:t>Remember…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34"/>
          <p:cNvSpPr/>
          <p:nvPr/>
        </p:nvSpPr>
        <p:spPr>
          <a:xfrm>
            <a:off x="568325" y="1028017"/>
            <a:ext cx="7246200" cy="15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98FF"/>
              </a:buClr>
              <a:buSzPts val="1800"/>
              <a:buFont typeface="Arial"/>
              <a:buNone/>
            </a:pPr>
            <a:r>
              <a:rPr i="0" lang="en-US" sz="1800" u="none" cap="none" strike="noStrike">
                <a:solidFill>
                  <a:srgbClr val="81D1F4"/>
                </a:solidFill>
              </a:rPr>
              <a:t>43.9% </a:t>
            </a:r>
            <a:r>
              <a:rPr i="0" lang="en-US" sz="1800" u="none" cap="none" strike="noStrike">
                <a:solidFill>
                  <a:srgbClr val="F0F0F0"/>
                </a:solidFill>
              </a:rPr>
              <a:t>got clients from people they already know</a:t>
            </a:r>
            <a:r>
              <a:rPr lang="en-US" sz="1800">
                <a:solidFill>
                  <a:srgbClr val="F0F0F0"/>
                </a:solidFill>
              </a:rPr>
              <a:t>…</a:t>
            </a:r>
            <a:endParaRPr sz="1800">
              <a:solidFill>
                <a:srgbClr val="F0F0F0"/>
              </a:solidFill>
            </a:endParaRPr>
          </a:p>
        </p:txBody>
      </p:sp>
      <p:sp>
        <p:nvSpPr>
          <p:cNvPr id="734" name="Google Shape;734;p34"/>
          <p:cNvSpPr/>
          <p:nvPr/>
        </p:nvSpPr>
        <p:spPr>
          <a:xfrm>
            <a:off x="576275" y="2935050"/>
            <a:ext cx="7996200" cy="1697100"/>
          </a:xfrm>
          <a:prstGeom prst="rect">
            <a:avLst/>
          </a:prstGeom>
          <a:solidFill>
            <a:srgbClr val="212353"/>
          </a:solidFill>
          <a:ln>
            <a:noFill/>
          </a:ln>
        </p:spPr>
        <p:txBody>
          <a:bodyPr anchorCtr="0" anchor="ctr" bIns="182875" lIns="182875" spcFirstLastPara="1" rIns="365750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98FF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What y</a:t>
            </a:r>
            <a:r>
              <a:rPr b="0" i="0" lang="en-US" sz="18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ou really need is </a:t>
            </a:r>
            <a:r>
              <a:rPr lang="en-US" sz="1800">
                <a:solidFill>
                  <a:srgbClr val="F0F0F0"/>
                </a:solidFill>
              </a:rPr>
              <a:t>NOT</a:t>
            </a:r>
            <a:r>
              <a:rPr b="0" i="0" lang="en-US" sz="18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 more practice, more equipment, or more waiting?</a:t>
            </a:r>
            <a:endParaRPr sz="1800">
              <a:solidFill>
                <a:srgbClr val="F0F0F0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2398FF"/>
              </a:buClr>
              <a:buSzPts val="1800"/>
              <a:buFont typeface="Arial"/>
              <a:buNone/>
            </a:pPr>
            <a:r>
              <a:rPr i="0" lang="en-US" sz="1800" u="none" cap="none" strike="noStrike">
                <a:solidFill>
                  <a:srgbClr val="81D1F4"/>
                </a:solidFill>
              </a:rPr>
              <a:t>What you need is a proven system, expert guidance, and a community that holds you accountable.</a:t>
            </a:r>
            <a:endParaRPr i="0" sz="1800" u="none" cap="none" strike="noStrike">
              <a:solidFill>
                <a:srgbClr val="81D1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34"/>
          <p:cNvSpPr/>
          <p:nvPr/>
        </p:nvSpPr>
        <p:spPr>
          <a:xfrm>
            <a:off x="568325" y="1419359"/>
            <a:ext cx="7246200" cy="15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98FF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81D1F4"/>
                </a:solidFill>
              </a:rPr>
              <a:t>65%</a:t>
            </a:r>
            <a:r>
              <a:rPr lang="en-US" sz="1800">
                <a:solidFill>
                  <a:srgbClr val="F0F0F0"/>
                </a:solidFill>
              </a:rPr>
              <a:t> needed only 0-3 contacts to get hired…</a:t>
            </a:r>
            <a:endParaRPr sz="1800">
              <a:solidFill>
                <a:srgbClr val="F0F0F0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98FF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736" name="Google Shape;736;p34"/>
          <p:cNvSpPr/>
          <p:nvPr/>
        </p:nvSpPr>
        <p:spPr>
          <a:xfrm>
            <a:off x="568325" y="1794901"/>
            <a:ext cx="7246200" cy="15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98FF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O</a:t>
            </a:r>
            <a:r>
              <a:rPr lang="en-US" sz="1800">
                <a:solidFill>
                  <a:srgbClr val="F0F0F0"/>
                </a:solidFill>
              </a:rPr>
              <a:t>nly </a:t>
            </a:r>
            <a:r>
              <a:rPr lang="en-US" sz="1800">
                <a:solidFill>
                  <a:srgbClr val="81D1F4"/>
                </a:solidFill>
              </a:rPr>
              <a:t>5.5%</a:t>
            </a:r>
            <a:r>
              <a:rPr lang="en-US" sz="1800">
                <a:solidFill>
                  <a:srgbClr val="F0F0F0"/>
                </a:solidFill>
              </a:rPr>
              <a:t> had portfolio problems while 23.4% had imposter syndrome…</a:t>
            </a:r>
            <a:endParaRPr sz="1800">
              <a:solidFill>
                <a:srgbClr val="F0F0F0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98FF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98FF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737" name="Google Shape;737;p34"/>
          <p:cNvSpPr/>
          <p:nvPr/>
        </p:nvSpPr>
        <p:spPr>
          <a:xfrm>
            <a:off x="568325" y="2532869"/>
            <a:ext cx="72462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98FF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81D1F4"/>
                </a:solidFill>
              </a:rPr>
              <a:t>6%</a:t>
            </a:r>
            <a:r>
              <a:rPr lang="en-US" sz="1800">
                <a:solidFill>
                  <a:srgbClr val="F0F0F0"/>
                </a:solidFill>
              </a:rPr>
              <a:t> landed clients in just 7 days...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33"/>
        </a:solidFill>
      </p:bgPr>
    </p:bg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35"/>
          <p:cNvSpPr/>
          <p:nvPr/>
        </p:nvSpPr>
        <p:spPr>
          <a:xfrm>
            <a:off x="457200" y="589192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Introducing...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35"/>
          <p:cNvSpPr/>
          <p:nvPr/>
        </p:nvSpPr>
        <p:spPr>
          <a:xfrm>
            <a:off x="457200" y="1014642"/>
            <a:ext cx="82296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398FF"/>
              </a:buClr>
              <a:buSzPts val="4800"/>
              <a:buFont typeface="Arial Black"/>
              <a:buNone/>
            </a:pPr>
            <a:r>
              <a:rPr b="1" i="0" lang="en-US" sz="4800" u="none" cap="none" strike="noStrike">
                <a:solidFill>
                  <a:srgbClr val="2398FF"/>
                </a:solidFill>
                <a:latin typeface="Arial Black"/>
                <a:ea typeface="Arial Black"/>
                <a:cs typeface="Arial Black"/>
                <a:sym typeface="Arial Black"/>
              </a:rPr>
              <a:t>The Premium</a:t>
            </a:r>
            <a:endParaRPr i="0" sz="4800" u="none" cap="none" strike="noStrik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398FF"/>
              </a:buClr>
              <a:buSzPts val="4800"/>
              <a:buFont typeface="Arial Black"/>
              <a:buNone/>
            </a:pPr>
            <a:r>
              <a:rPr b="1" i="0" lang="en-US" sz="4800" u="none" cap="none" strike="noStrike">
                <a:solidFill>
                  <a:srgbClr val="2398FF"/>
                </a:solidFill>
                <a:latin typeface="Arial Black"/>
                <a:ea typeface="Arial Black"/>
                <a:cs typeface="Arial Black"/>
                <a:sym typeface="Arial Black"/>
              </a:rPr>
              <a:t>Drone Community</a:t>
            </a:r>
            <a:endParaRPr i="0" sz="4800" u="none" cap="none" strike="noStrik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45" name="Google Shape;745;p35"/>
          <p:cNvSpPr/>
          <p:nvPr/>
        </p:nvSpPr>
        <p:spPr>
          <a:xfrm>
            <a:off x="457200" y="2303057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2000"/>
              <a:buFont typeface="Arial"/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Everything you need to go from Part 107 to </a:t>
            </a:r>
            <a:r>
              <a:rPr lang="en-US" sz="1800">
                <a:solidFill>
                  <a:srgbClr val="CCCCCC"/>
                </a:solidFill>
              </a:rPr>
              <a:t>your first client</a:t>
            </a:r>
            <a:endParaRPr b="0" i="0" sz="1800" u="none" cap="none" strike="noStrike">
              <a:solidFill>
                <a:srgbClr val="CCCC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46" name="Google Shape;746;p35"/>
          <p:cNvGrpSpPr/>
          <p:nvPr/>
        </p:nvGrpSpPr>
        <p:grpSpPr>
          <a:xfrm>
            <a:off x="2071325" y="2918999"/>
            <a:ext cx="5024025" cy="310200"/>
            <a:chOff x="2071325" y="3008940"/>
            <a:chExt cx="5024025" cy="310200"/>
          </a:xfrm>
        </p:grpSpPr>
        <p:sp>
          <p:nvSpPr>
            <p:cNvPr id="747" name="Google Shape;747;p35"/>
            <p:cNvSpPr/>
            <p:nvPr/>
          </p:nvSpPr>
          <p:spPr>
            <a:xfrm>
              <a:off x="2527550" y="3008940"/>
              <a:ext cx="4567800" cy="31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BE33"/>
                </a:buClr>
                <a:buSzPts val="1600"/>
                <a:buFont typeface="Arial"/>
                <a:buNone/>
              </a:pPr>
              <a:r>
                <a:rPr lang="en-US" sz="1800">
                  <a:solidFill>
                    <a:schemeClr val="lt1"/>
                  </a:solidFill>
                </a:rPr>
                <a:t>Step-by-step workshops</a:t>
              </a:r>
              <a:endParaRPr sz="1800">
                <a:solidFill>
                  <a:schemeClr val="lt1"/>
                </a:solidFill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BE33"/>
                </a:buClr>
                <a:buSzPts val="16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  <p:pic>
          <p:nvPicPr>
            <p:cNvPr id="748" name="Google Shape;748;p35" title="check mark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071325" y="3029726"/>
              <a:ext cx="269150" cy="2703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49" name="Google Shape;749;p35"/>
          <p:cNvGrpSpPr/>
          <p:nvPr/>
        </p:nvGrpSpPr>
        <p:grpSpPr>
          <a:xfrm>
            <a:off x="2071325" y="3328645"/>
            <a:ext cx="5024025" cy="290677"/>
            <a:chOff x="2071325" y="3418586"/>
            <a:chExt cx="5024025" cy="290677"/>
          </a:xfrm>
        </p:grpSpPr>
        <p:pic>
          <p:nvPicPr>
            <p:cNvPr id="750" name="Google Shape;750;p35" title="check mark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071325" y="3438907"/>
              <a:ext cx="269150" cy="2703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1" name="Google Shape;751;p35"/>
            <p:cNvSpPr/>
            <p:nvPr/>
          </p:nvSpPr>
          <p:spPr>
            <a:xfrm>
              <a:off x="2527550" y="3418586"/>
              <a:ext cx="4567800" cy="27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BE33"/>
                </a:buClr>
                <a:buSzPts val="1600"/>
                <a:buFont typeface="Arial"/>
                <a:buNone/>
              </a:pPr>
              <a:r>
                <a:rPr lang="en-US" sz="1800">
                  <a:solidFill>
                    <a:schemeClr val="lt1"/>
                  </a:solidFill>
                </a:rPr>
                <a:t>Live coaching calls</a:t>
              </a:r>
              <a:endParaRPr sz="1800">
                <a:solidFill>
                  <a:schemeClr val="lt1"/>
                </a:solidFill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BE33"/>
                </a:buClr>
                <a:buSzPts val="16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</p:grpSp>
      <p:grpSp>
        <p:nvGrpSpPr>
          <p:cNvPr id="752" name="Google Shape;752;p35"/>
          <p:cNvGrpSpPr/>
          <p:nvPr/>
        </p:nvGrpSpPr>
        <p:grpSpPr>
          <a:xfrm>
            <a:off x="2071325" y="3747991"/>
            <a:ext cx="5024025" cy="280513"/>
            <a:chOff x="2071325" y="3837932"/>
            <a:chExt cx="5024025" cy="280513"/>
          </a:xfrm>
        </p:grpSpPr>
        <p:pic>
          <p:nvPicPr>
            <p:cNvPr id="753" name="Google Shape;753;p35" title="check mark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071325" y="3848088"/>
              <a:ext cx="269150" cy="2703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4" name="Google Shape;754;p35"/>
            <p:cNvSpPr/>
            <p:nvPr/>
          </p:nvSpPr>
          <p:spPr>
            <a:xfrm>
              <a:off x="2527550" y="3837932"/>
              <a:ext cx="4567800" cy="27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BE33"/>
                </a:buClr>
                <a:buSzPts val="1600"/>
                <a:buFont typeface="Arial"/>
                <a:buNone/>
              </a:pPr>
              <a:r>
                <a:rPr lang="en-US" sz="1800">
                  <a:solidFill>
                    <a:schemeClr val="lt1"/>
                  </a:solidFill>
                </a:rPr>
                <a:t>Access to pilots who’ve been there done that</a:t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BE33"/>
                </a:buClr>
                <a:buSzPts val="16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</a:endParaRPr>
            </a:p>
          </p:txBody>
        </p:sp>
      </p:grpSp>
      <p:grpSp>
        <p:nvGrpSpPr>
          <p:cNvPr id="755" name="Google Shape;755;p35"/>
          <p:cNvGrpSpPr/>
          <p:nvPr/>
        </p:nvGrpSpPr>
        <p:grpSpPr>
          <a:xfrm>
            <a:off x="2071325" y="4167324"/>
            <a:ext cx="5024025" cy="270360"/>
            <a:chOff x="2071325" y="4257265"/>
            <a:chExt cx="5024025" cy="270360"/>
          </a:xfrm>
        </p:grpSpPr>
        <p:pic>
          <p:nvPicPr>
            <p:cNvPr id="756" name="Google Shape;756;p35" title="check mark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071325" y="4257269"/>
              <a:ext cx="269150" cy="2703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7" name="Google Shape;757;p35"/>
            <p:cNvSpPr/>
            <p:nvPr/>
          </p:nvSpPr>
          <p:spPr>
            <a:xfrm>
              <a:off x="2527550" y="4257265"/>
              <a:ext cx="4567800" cy="27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BE33"/>
                </a:buClr>
                <a:buSzPts val="1600"/>
                <a:buFont typeface="Arial"/>
                <a:buNone/>
              </a:pPr>
              <a:r>
                <a:rPr lang="en-US" sz="1800">
                  <a:solidFill>
                    <a:schemeClr val="lt1"/>
                  </a:solidFill>
                </a:rPr>
                <a:t>Templates &amp; tools</a:t>
              </a:r>
              <a:endParaRPr sz="1800">
                <a:solidFill>
                  <a:schemeClr val="lt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33"/>
        </a:solidFill>
      </p:bgPr>
    </p:bg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3b78501958d_0_34"/>
          <p:cNvSpPr/>
          <p:nvPr/>
        </p:nvSpPr>
        <p:spPr>
          <a:xfrm>
            <a:off x="552450" y="315463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2800"/>
              <a:buFont typeface="Arial Black"/>
              <a:buNone/>
            </a:pPr>
            <a:r>
              <a:rPr b="1" i="0" lang="en-US" sz="3600" u="none" cap="none" strike="noStrike">
                <a:solidFill>
                  <a:srgbClr val="F0F0F0"/>
                </a:solidFill>
                <a:latin typeface="Arial Black"/>
                <a:ea typeface="Arial Black"/>
                <a:cs typeface="Arial Black"/>
                <a:sym typeface="Arial Black"/>
              </a:rPr>
              <a:t>Here's Everything You Get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g3b78501958d_0_34"/>
          <p:cNvSpPr/>
          <p:nvPr/>
        </p:nvSpPr>
        <p:spPr>
          <a:xfrm>
            <a:off x="468325" y="1290675"/>
            <a:ext cx="3657300" cy="3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Drone Business Made Easy Course (7 hrs)</a:t>
            </a:r>
            <a:endParaRPr b="0" i="0" sz="1600" u="none" cap="none" strike="noStrike">
              <a:solidFill>
                <a:srgbClr val="F0F0F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600"/>
              <a:buChar char="●"/>
            </a:pPr>
            <a:r>
              <a:rPr lang="en-US" sz="1600">
                <a:solidFill>
                  <a:srgbClr val="F0F0F0"/>
                </a:solidFill>
              </a:rPr>
              <a:t>7-Part Strategic Masterclass Series</a:t>
            </a:r>
            <a:endParaRPr sz="1600">
              <a:solidFill>
                <a:srgbClr val="F0F0F0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600"/>
              <a:buChar char="●"/>
            </a:pPr>
            <a:r>
              <a:rPr lang="en-US" sz="1600">
                <a:solidFill>
                  <a:srgbClr val="F0F0F0"/>
                </a:solidFill>
              </a:rPr>
              <a:t>90-Day Business Launch Cohort</a:t>
            </a:r>
            <a:endParaRPr sz="1600">
              <a:solidFill>
                <a:srgbClr val="F0F0F0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600"/>
              <a:buChar char="●"/>
            </a:pPr>
            <a:r>
              <a:rPr lang="en-US" sz="1600">
                <a:solidFill>
                  <a:srgbClr val="F0F0F0"/>
                </a:solidFill>
              </a:rPr>
              <a:t>Monthly Live Group Coaching</a:t>
            </a:r>
            <a:endParaRPr sz="1600">
              <a:solidFill>
                <a:srgbClr val="F0F0F0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600"/>
              <a:buChar char="●"/>
            </a:pPr>
            <a:r>
              <a:rPr lang="en-US" sz="1600">
                <a:solidFill>
                  <a:srgbClr val="F0F0F0"/>
                </a:solidFill>
              </a:rPr>
              <a:t>18+ Skilled Workshops</a:t>
            </a:r>
            <a:endParaRPr sz="1600">
              <a:solidFill>
                <a:srgbClr val="F0F0F0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600"/>
              <a:buChar char="●"/>
            </a:pPr>
            <a:r>
              <a:rPr lang="en-US" sz="1600">
                <a:solidFill>
                  <a:srgbClr val="F0F0F0"/>
                </a:solidFill>
              </a:rPr>
              <a:t>Business Templates Library</a:t>
            </a:r>
            <a:endParaRPr sz="1600">
              <a:solidFill>
                <a:srgbClr val="F0F0F0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600"/>
              <a:buChar char="●"/>
            </a:pPr>
            <a:r>
              <a:rPr lang="en-US" sz="1600">
                <a:solidFill>
                  <a:srgbClr val="F0F0F0"/>
                </a:solidFill>
              </a:rPr>
              <a:t>Weekly Industry Insights</a:t>
            </a:r>
            <a:endParaRPr sz="1600">
              <a:solidFill>
                <a:srgbClr val="F0F0F0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600"/>
              <a:buChar char="●"/>
            </a:pPr>
            <a:r>
              <a:rPr lang="en-US" sz="1600">
                <a:solidFill>
                  <a:srgbClr val="F0F0F0"/>
                </a:solidFill>
              </a:rPr>
              <a:t>Private Networking Community</a:t>
            </a:r>
            <a:endParaRPr sz="1600">
              <a:solidFill>
                <a:srgbClr val="F0F0F0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600"/>
              <a:buChar char="●"/>
            </a:pPr>
            <a:r>
              <a:rPr lang="en-US" sz="1600">
                <a:solidFill>
                  <a:srgbClr val="F0F0F0"/>
                </a:solidFill>
              </a:rPr>
              <a:t>Course &amp; Merch Discounts</a:t>
            </a:r>
            <a:endParaRPr sz="1600">
              <a:solidFill>
                <a:srgbClr val="F0F0F0"/>
              </a:solidFill>
            </a:endParaRPr>
          </a:p>
        </p:txBody>
      </p:sp>
      <p:pic>
        <p:nvPicPr>
          <p:cNvPr id="765" name="Google Shape;765;g3b78501958d_0_34" title="IMG_3665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7100" y="1352075"/>
            <a:ext cx="3475500" cy="2667900"/>
          </a:xfrm>
          <a:prstGeom prst="roundRect">
            <a:avLst>
              <a:gd fmla="val 1495" name="adj"/>
            </a:avLst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33"/>
        </a:solidFill>
      </p:bgPr>
    </p:bg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3b78501958d_0_60"/>
          <p:cNvSpPr/>
          <p:nvPr/>
        </p:nvSpPr>
        <p:spPr>
          <a:xfrm>
            <a:off x="1165500" y="2032475"/>
            <a:ext cx="6813000" cy="11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800"/>
              <a:buFont typeface="Arial Black"/>
              <a:buNone/>
            </a:pPr>
            <a:r>
              <a:rPr b="1" i="0" lang="en-US" sz="16000" u="none" cap="none" strike="noStrike">
                <a:solidFill>
                  <a:srgbClr val="2398FF"/>
                </a:solidFill>
                <a:latin typeface="Arial Black"/>
                <a:ea typeface="Arial Black"/>
                <a:cs typeface="Arial Black"/>
                <a:sym typeface="Arial Black"/>
              </a:rPr>
              <a:t>$199</a:t>
            </a:r>
            <a:endParaRPr b="0" i="0" sz="16000" u="none" cap="none" strike="noStrike">
              <a:solidFill>
                <a:srgbClr val="2398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g3b78501958d_0_60"/>
          <p:cNvSpPr txBox="1"/>
          <p:nvPr/>
        </p:nvSpPr>
        <p:spPr>
          <a:xfrm>
            <a:off x="2413275" y="1119188"/>
            <a:ext cx="490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</a:rPr>
              <a:t>Today, you get ALL of this for</a:t>
            </a:r>
            <a:endParaRPr sz="1800"/>
          </a:p>
        </p:txBody>
      </p:sp>
      <p:sp>
        <p:nvSpPr>
          <p:cNvPr id="773" name="Google Shape;773;g3b78501958d_0_60"/>
          <p:cNvSpPr txBox="1"/>
          <p:nvPr/>
        </p:nvSpPr>
        <p:spPr>
          <a:xfrm>
            <a:off x="3169850" y="3432788"/>
            <a:ext cx="300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/year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33"/>
        </a:solidFill>
      </p:bgPr>
    </p:bg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9" name="Google Shape;779;p40"/>
          <p:cNvGrpSpPr/>
          <p:nvPr/>
        </p:nvGrpSpPr>
        <p:grpSpPr>
          <a:xfrm>
            <a:off x="6965741" y="2845649"/>
            <a:ext cx="1863536" cy="1843472"/>
            <a:chOff x="7249200" y="3122775"/>
            <a:chExt cx="1894800" cy="1874400"/>
          </a:xfrm>
        </p:grpSpPr>
        <p:sp>
          <p:nvSpPr>
            <p:cNvPr id="780" name="Google Shape;780;p40"/>
            <p:cNvSpPr/>
            <p:nvPr/>
          </p:nvSpPr>
          <p:spPr>
            <a:xfrm>
              <a:off x="7249200" y="3122775"/>
              <a:ext cx="1894800" cy="1874400"/>
            </a:xfrm>
            <a:prstGeom prst="ellipse">
              <a:avLst/>
            </a:prstGeom>
            <a:solidFill>
              <a:srgbClr val="212353"/>
            </a:solidFill>
            <a:ln>
              <a:noFill/>
            </a:ln>
          </p:spPr>
          <p:txBody>
            <a:bodyPr anchorCtr="0" anchor="ctr" bIns="89925" lIns="89925" spcFirstLastPara="1" rIns="89925" wrap="square" tIns="89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76">
                <a:solidFill>
                  <a:schemeClr val="lt1"/>
                </a:solidFill>
              </a:endParaRPr>
            </a:p>
          </p:txBody>
        </p:sp>
        <p:sp>
          <p:nvSpPr>
            <p:cNvPr id="781" name="Google Shape;781;p40"/>
            <p:cNvSpPr txBox="1"/>
            <p:nvPr/>
          </p:nvSpPr>
          <p:spPr>
            <a:xfrm>
              <a:off x="7451400" y="3552075"/>
              <a:ext cx="1490400" cy="101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9925" lIns="89925" spcFirstLastPara="1" rIns="89925" wrap="square" tIns="899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70">
                  <a:solidFill>
                    <a:srgbClr val="81D1F4"/>
                  </a:solidFill>
                </a:rPr>
                <a:t>Discount</a:t>
              </a:r>
              <a:r>
                <a:rPr lang="en-US" sz="1770">
                  <a:solidFill>
                    <a:srgbClr val="81D1F4"/>
                  </a:solidFill>
                </a:rPr>
                <a:t> expires in 48 hours!</a:t>
              </a:r>
              <a:endParaRPr sz="1770">
                <a:solidFill>
                  <a:srgbClr val="81D1F4"/>
                </a:solidFill>
              </a:endParaRPr>
            </a:p>
          </p:txBody>
        </p:sp>
      </p:grpSp>
      <p:sp>
        <p:nvSpPr>
          <p:cNvPr id="782" name="Google Shape;782;p40"/>
          <p:cNvSpPr/>
          <p:nvPr/>
        </p:nvSpPr>
        <p:spPr>
          <a:xfrm>
            <a:off x="571500" y="1681368"/>
            <a:ext cx="8001000" cy="11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33"/>
              </a:buClr>
              <a:buSzPts val="1800"/>
              <a:buFont typeface="Arial Black"/>
              <a:buNone/>
            </a:pPr>
            <a:r>
              <a:rPr b="1" i="0" lang="en-US" sz="14700" u="none" cap="none" strike="noStrike">
                <a:solidFill>
                  <a:srgbClr val="2398FF"/>
                </a:solidFill>
                <a:latin typeface="Arial Black"/>
                <a:ea typeface="Arial Black"/>
                <a:cs typeface="Arial Black"/>
                <a:sym typeface="Arial Black"/>
              </a:rPr>
              <a:t>$1</a:t>
            </a:r>
            <a:r>
              <a:rPr b="1" lang="en-US" sz="14700">
                <a:solidFill>
                  <a:srgbClr val="2398FF"/>
                </a:solidFill>
                <a:latin typeface="Arial Black"/>
                <a:ea typeface="Arial Black"/>
                <a:cs typeface="Arial Black"/>
                <a:sym typeface="Arial Black"/>
              </a:rPr>
              <a:t>5</a:t>
            </a:r>
            <a:r>
              <a:rPr b="1" i="0" lang="en-US" sz="14700" u="none" cap="none" strike="noStrike">
                <a:solidFill>
                  <a:srgbClr val="2398FF"/>
                </a:solidFill>
                <a:latin typeface="Arial Black"/>
                <a:ea typeface="Arial Black"/>
                <a:cs typeface="Arial Black"/>
                <a:sym typeface="Arial Black"/>
              </a:rPr>
              <a:t>9/yr</a:t>
            </a:r>
            <a:endParaRPr b="0" i="0" sz="14700" u="none" cap="none" strike="noStrike">
              <a:solidFill>
                <a:srgbClr val="2398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40"/>
          <p:cNvSpPr txBox="1"/>
          <p:nvPr/>
        </p:nvSpPr>
        <p:spPr>
          <a:xfrm>
            <a:off x="1128750" y="905725"/>
            <a:ext cx="68865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48-Hour Special</a:t>
            </a:r>
            <a:endParaRPr sz="360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784" name="Google Shape;784;p40"/>
          <p:cNvSpPr/>
          <p:nvPr/>
        </p:nvSpPr>
        <p:spPr>
          <a:xfrm>
            <a:off x="457200" y="337185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3400"/>
              <a:buFont typeface="Arial Black"/>
              <a:buNone/>
            </a:pPr>
            <a:r>
              <a:rPr i="0" lang="en-US" sz="1800" u="none" cap="none" strike="noStrike">
                <a:solidFill>
                  <a:schemeClr val="lt1"/>
                </a:solidFill>
              </a:rPr>
              <a:t>Ready to Stop Waiting? </a:t>
            </a:r>
            <a:r>
              <a:rPr lang="en-US" sz="1800">
                <a:solidFill>
                  <a:schemeClr val="lt1"/>
                </a:solidFill>
              </a:rPr>
              <a:t>Join the Premium Community Today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785" name="Google Shape;785;p40"/>
          <p:cNvSpPr/>
          <p:nvPr/>
        </p:nvSpPr>
        <p:spPr>
          <a:xfrm>
            <a:off x="2506800" y="3061325"/>
            <a:ext cx="4130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E33"/>
              </a:buClr>
              <a:buSzPts val="2200"/>
              <a:buFont typeface="Arial"/>
              <a:buNone/>
            </a:pPr>
            <a:r>
              <a:rPr i="0" lang="en-US" sz="1800" u="none" cap="none" strike="noStrike">
                <a:solidFill>
                  <a:schemeClr val="lt1"/>
                </a:solidFill>
              </a:rPr>
              <a:t>pilotinstitute.com/</a:t>
            </a:r>
            <a:r>
              <a:rPr lang="en-US" sz="1800">
                <a:solidFill>
                  <a:schemeClr val="lt1"/>
                </a:solidFill>
              </a:rPr>
              <a:t>community/</a:t>
            </a:r>
            <a:endParaRPr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40"/>
          <p:cNvSpPr/>
          <p:nvPr/>
        </p:nvSpPr>
        <p:spPr>
          <a:xfrm>
            <a:off x="1630500" y="4137625"/>
            <a:ext cx="5883000" cy="5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30-Day Money Back Guarantee </a:t>
            </a:r>
            <a:r>
              <a:rPr lang="en-US" sz="1300">
                <a:solidFill>
                  <a:schemeClr val="lt1"/>
                </a:solidFill>
              </a:rPr>
              <a:t>• Cancel Anytime • Instant Access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ECFE5"/>
              </a:buClr>
              <a:buSzPts val="1300"/>
              <a:buFont typeface="Arial"/>
              <a:buNone/>
            </a:pPr>
            <a:r>
              <a:rPr lang="en-US" sz="1300">
                <a:solidFill>
                  <a:schemeClr val="lt1"/>
                </a:solidFill>
              </a:rPr>
              <a:t>Stick around for Q&amp;A to get your FREE PDF action guide!</a:t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Arial"/>
              <a:buNone/>
            </a:pPr>
            <a:r>
              <a:t/>
            </a:r>
            <a:endParaRPr sz="1300">
              <a:solidFill>
                <a:schemeClr val="lt1"/>
              </a:solidFill>
            </a:endParaRPr>
          </a:p>
        </p:txBody>
      </p:sp>
      <p:grpSp>
        <p:nvGrpSpPr>
          <p:cNvPr id="787" name="Google Shape;787;p40"/>
          <p:cNvGrpSpPr/>
          <p:nvPr/>
        </p:nvGrpSpPr>
        <p:grpSpPr>
          <a:xfrm>
            <a:off x="1939650" y="3586775"/>
            <a:ext cx="5264700" cy="452816"/>
            <a:chOff x="1939650" y="2977175"/>
            <a:chExt cx="5264700" cy="452816"/>
          </a:xfrm>
        </p:grpSpPr>
        <p:sp>
          <p:nvSpPr>
            <p:cNvPr id="788" name="Google Shape;788;p40"/>
            <p:cNvSpPr txBox="1"/>
            <p:nvPr/>
          </p:nvSpPr>
          <p:spPr>
            <a:xfrm>
              <a:off x="1939650" y="2977175"/>
              <a:ext cx="52647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$199</a:t>
              </a:r>
              <a:r>
                <a:rPr lang="en-US" sz="2800">
                  <a:solidFill>
                    <a:schemeClr val="lt1"/>
                  </a:solidFill>
                </a:rPr>
                <a:t> • </a:t>
              </a:r>
              <a:r>
                <a:rPr b="1" lang="en-US" sz="2800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SAVE 20%</a:t>
              </a:r>
              <a:endParaRPr sz="28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cxnSp>
          <p:nvCxnSpPr>
            <p:cNvPr id="789" name="Google Shape;789;p40"/>
            <p:cNvCxnSpPr/>
            <p:nvPr/>
          </p:nvCxnSpPr>
          <p:spPr>
            <a:xfrm flipH="1" rot="10800000">
              <a:off x="2810146" y="3035191"/>
              <a:ext cx="1259400" cy="394800"/>
            </a:xfrm>
            <a:prstGeom prst="straightConnector1">
              <a:avLst/>
            </a:prstGeom>
            <a:noFill/>
            <a:ln cap="flat" cmpd="sng" w="38100">
              <a:solidFill>
                <a:srgbClr val="F8059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33"/>
        </a:solidFill>
      </p:bgPr>
    </p:bg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3b78501958d_0_11"/>
          <p:cNvSpPr/>
          <p:nvPr/>
        </p:nvSpPr>
        <p:spPr>
          <a:xfrm>
            <a:off x="457200" y="61341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3600"/>
              <a:buFont typeface="Arial Black"/>
              <a:buNone/>
            </a:pPr>
            <a:r>
              <a:rPr b="1" i="0" lang="en-US" sz="3600" u="none" cap="none" strike="noStrike">
                <a:solidFill>
                  <a:srgbClr val="F0F0F0"/>
                </a:solidFill>
                <a:latin typeface="Arial Black"/>
                <a:ea typeface="Arial Black"/>
                <a:cs typeface="Arial Black"/>
                <a:sym typeface="Arial Black"/>
              </a:rPr>
              <a:t>Feeling Overwhelmed?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g3b78501958d_0_11"/>
          <p:cNvSpPr/>
          <p:nvPr/>
        </p:nvSpPr>
        <p:spPr>
          <a:xfrm>
            <a:off x="457200" y="11430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You don't have to figure this out alone.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g3b78501958d_0_11"/>
          <p:cNvSpPr/>
          <p:nvPr/>
        </p:nvSpPr>
        <p:spPr>
          <a:xfrm>
            <a:off x="914400" y="1676400"/>
            <a:ext cx="7315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98FF"/>
              </a:buClr>
              <a:buSzPts val="2400"/>
              <a:buFont typeface="Arial Black"/>
              <a:buNone/>
            </a:pPr>
            <a:r>
              <a:rPr i="0" lang="en-US" sz="2400" u="none" cap="none" strike="noStrike">
                <a:solidFill>
                  <a:schemeClr val="lt1"/>
                </a:solidFill>
              </a:rPr>
              <a:t>The 90-Day Business Launch Cohort</a:t>
            </a:r>
            <a:br>
              <a:rPr i="0" lang="en-US" sz="2400" u="none" cap="none" strike="noStrike">
                <a:solidFill>
                  <a:schemeClr val="lt1"/>
                </a:solidFill>
              </a:rPr>
            </a:br>
            <a:r>
              <a:rPr i="0" lang="en-US" sz="1800" u="none" cap="none" strike="noStrike">
                <a:solidFill>
                  <a:schemeClr val="lt1"/>
                </a:solidFill>
              </a:rPr>
              <a:t>Starts January 19</a:t>
            </a:r>
            <a:endParaRPr i="0" sz="2400" u="none" cap="none" strike="noStrike">
              <a:solidFill>
                <a:schemeClr val="lt1"/>
              </a:solidFill>
            </a:endParaRPr>
          </a:p>
        </p:txBody>
      </p:sp>
      <p:sp>
        <p:nvSpPr>
          <p:cNvPr id="798" name="Google Shape;798;g3b78501958d_0_11"/>
          <p:cNvSpPr/>
          <p:nvPr/>
        </p:nvSpPr>
        <p:spPr>
          <a:xfrm>
            <a:off x="1483200" y="2619375"/>
            <a:ext cx="6177600" cy="12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500"/>
              <a:buFont typeface="Arial"/>
              <a:buChar char="●"/>
            </a:pPr>
            <a:r>
              <a:rPr b="0" i="0" lang="en-US" sz="15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Weekly structured lessons — know exactly what to do each week</a:t>
            </a:r>
            <a:endParaRPr b="0" i="0" sz="1500" u="none" cap="none" strike="noStrike">
              <a:solidFill>
                <a:srgbClr val="F0F0F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500"/>
              <a:buChar char="●"/>
            </a:pPr>
            <a:r>
              <a:rPr lang="en-US" sz="1500">
                <a:solidFill>
                  <a:srgbClr val="F0F0F0"/>
                </a:solidFill>
              </a:rPr>
              <a:t>Accountability — stay on track with other pilots</a:t>
            </a:r>
            <a:endParaRPr sz="1500">
              <a:solidFill>
                <a:srgbClr val="F0F0F0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500"/>
              <a:buChar char="●"/>
            </a:pPr>
            <a:r>
              <a:rPr lang="en-US" sz="1500">
                <a:solidFill>
                  <a:srgbClr val="F0F0F0"/>
                </a:solidFill>
              </a:rPr>
              <a:t>Clear milestones — celebrate progress along the way</a:t>
            </a:r>
            <a:endParaRPr sz="1500">
              <a:solidFill>
                <a:srgbClr val="F0F0F0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500"/>
              <a:buChar char="●"/>
            </a:pPr>
            <a:r>
              <a:rPr lang="en-US" sz="1500">
                <a:solidFill>
                  <a:srgbClr val="F0F0F0"/>
                </a:solidFill>
              </a:rPr>
              <a:t>Live Q&amp;A sessions — get your specific questions answered</a:t>
            </a:r>
            <a:endParaRPr sz="1500">
              <a:solidFill>
                <a:srgbClr val="F0F0F0"/>
              </a:solidFill>
            </a:endParaRPr>
          </a:p>
        </p:txBody>
      </p:sp>
      <p:sp>
        <p:nvSpPr>
          <p:cNvPr id="799" name="Google Shape;799;g3b78501958d_0_11"/>
          <p:cNvSpPr/>
          <p:nvPr/>
        </p:nvSpPr>
        <p:spPr>
          <a:xfrm>
            <a:off x="457200" y="4070875"/>
            <a:ext cx="8229600" cy="474600"/>
          </a:xfrm>
          <a:prstGeom prst="rect">
            <a:avLst/>
          </a:prstGeom>
          <a:solidFill>
            <a:srgbClr val="2123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Arial"/>
              <a:buNone/>
            </a:pPr>
            <a:r>
              <a:rPr i="0" lang="en-US" sz="1800" u="none" cap="none" strike="noStrike">
                <a:solidFill>
                  <a:srgbClr val="81D1F4"/>
                </a:solidFill>
              </a:rPr>
              <a:t>If you wait, the next cohort isn't until </a:t>
            </a:r>
            <a:r>
              <a:rPr lang="en-US" sz="1800">
                <a:solidFill>
                  <a:srgbClr val="81D1F4"/>
                </a:solidFill>
              </a:rPr>
              <a:t>May</a:t>
            </a:r>
            <a:r>
              <a:rPr i="0" lang="en-US" sz="1800" u="none" cap="none" strike="noStrike">
                <a:solidFill>
                  <a:srgbClr val="81D1F4"/>
                </a:solidFill>
              </a:rPr>
              <a:t>.</a:t>
            </a:r>
            <a:endParaRPr i="0" sz="1800" u="none" cap="none" strike="noStrike">
              <a:solidFill>
                <a:srgbClr val="81D1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33"/>
        </a:solidFill>
      </p:bgPr>
    </p:bg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5" name="Google Shape;805;g3b78501958d_0_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61750"/>
            <a:ext cx="9204946" cy="530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6" name="Google Shape;806;g3b78501958d_0_25" title="PI logos al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1925" y="595467"/>
            <a:ext cx="2240181" cy="327125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g3b78501958d_0_25"/>
          <p:cNvSpPr/>
          <p:nvPr/>
        </p:nvSpPr>
        <p:spPr>
          <a:xfrm>
            <a:off x="457200" y="1742017"/>
            <a:ext cx="82296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98FF"/>
              </a:buClr>
              <a:buSzPts val="10000"/>
              <a:buFont typeface="Arial Black"/>
              <a:buNone/>
            </a:pPr>
            <a:r>
              <a:rPr b="1" i="0" lang="en-US" sz="13000" u="none" cap="none" strike="noStrike">
                <a:solidFill>
                  <a:srgbClr val="2398FF"/>
                </a:solidFill>
                <a:latin typeface="Arial Black"/>
                <a:ea typeface="Arial Black"/>
                <a:cs typeface="Arial Black"/>
                <a:sym typeface="Arial Black"/>
              </a:rPr>
              <a:t>Q&amp;A</a:t>
            </a:r>
            <a:endParaRPr b="0" i="0" sz="1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g3b78501958d_0_25"/>
          <p:cNvSpPr/>
          <p:nvPr/>
        </p:nvSpPr>
        <p:spPr>
          <a:xfrm>
            <a:off x="457200" y="3152503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2400"/>
              <a:buFont typeface="Arial"/>
              <a:buNone/>
            </a:pPr>
            <a:r>
              <a:rPr b="0" i="0" lang="en-US" sz="18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What questions do you have?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g3b78501958d_0_25"/>
          <p:cNvSpPr/>
          <p:nvPr/>
        </p:nvSpPr>
        <p:spPr>
          <a:xfrm>
            <a:off x="457200" y="428111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Arial"/>
              <a:buNone/>
            </a:pPr>
            <a:r>
              <a:rPr i="0" lang="en-US" sz="1800" u="none" cap="none" strike="noStrike">
                <a:solidFill>
                  <a:schemeClr val="lt1"/>
                </a:solidFill>
              </a:rPr>
              <a:t>48-Hour Special: </a:t>
            </a:r>
            <a:r>
              <a:rPr i="0" lang="en-US" sz="1800" u="none" cap="none" strike="noStrike">
                <a:solidFill>
                  <a:srgbClr val="81D1F4"/>
                </a:solidFill>
              </a:rPr>
              <a:t>$159/year</a:t>
            </a:r>
            <a:r>
              <a:rPr i="0" lang="en-US" sz="1800" u="none" cap="none" strike="noStrike">
                <a:solidFill>
                  <a:schemeClr val="lt1"/>
                </a:solidFill>
              </a:rPr>
              <a:t>  •  pilotinstitute.com/</a:t>
            </a:r>
            <a:r>
              <a:rPr lang="en-US" sz="1800">
                <a:solidFill>
                  <a:schemeClr val="lt1"/>
                </a:solidFill>
              </a:rPr>
              <a:t>community</a:t>
            </a:r>
            <a:endParaRPr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000033"/>
        </a:solidFill>
      </p:bgPr>
    </p:bg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39"/>
          <p:cNvSpPr/>
          <p:nvPr/>
        </p:nvSpPr>
        <p:spPr>
          <a:xfrm>
            <a:off x="543000" y="487675"/>
            <a:ext cx="800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48-Hour Limited Time Offer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816" name="Google Shape;816;p39"/>
          <p:cNvSpPr/>
          <p:nvPr/>
        </p:nvSpPr>
        <p:spPr>
          <a:xfrm>
            <a:off x="542925" y="1049650"/>
            <a:ext cx="80010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E33"/>
              </a:buClr>
              <a:buSzPts val="4800"/>
              <a:buFont typeface="Arial Black"/>
              <a:buNone/>
            </a:pPr>
            <a:r>
              <a:rPr b="1" i="0" lang="en-US" sz="11000" u="none" cap="none" strike="noStrike">
                <a:solidFill>
                  <a:srgbClr val="2398FF"/>
                </a:solidFill>
                <a:latin typeface="Arial Black"/>
                <a:ea typeface="Arial Black"/>
                <a:cs typeface="Arial Black"/>
                <a:sym typeface="Arial Black"/>
              </a:rPr>
              <a:t>$159</a:t>
            </a:r>
            <a:endParaRPr b="0" i="0" sz="11000" u="none" cap="none" strike="noStrike">
              <a:solidFill>
                <a:srgbClr val="2398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39"/>
          <p:cNvSpPr/>
          <p:nvPr/>
        </p:nvSpPr>
        <p:spPr>
          <a:xfrm>
            <a:off x="571500" y="4335775"/>
            <a:ext cx="8001000" cy="405300"/>
          </a:xfrm>
          <a:prstGeom prst="rect">
            <a:avLst/>
          </a:prstGeom>
          <a:solidFill>
            <a:srgbClr val="2123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Arial"/>
              <a:buNone/>
            </a:pPr>
            <a:r>
              <a:rPr i="0" lang="en-US" sz="1500" u="none" cap="none" strike="noStrike">
                <a:solidFill>
                  <a:srgbClr val="81D1F4"/>
                </a:solidFill>
              </a:rPr>
              <a:t>After 48 hours: </a:t>
            </a:r>
            <a:r>
              <a:rPr i="0" lang="en-US" sz="1500" u="none" cap="none" strike="noStrike">
                <a:solidFill>
                  <a:schemeClr val="lt1"/>
                </a:solidFill>
              </a:rPr>
              <a:t>$199</a:t>
            </a:r>
            <a:r>
              <a:rPr i="0" lang="en-US" sz="1500" u="none" cap="none" strike="noStrike">
                <a:solidFill>
                  <a:srgbClr val="81D1F4"/>
                </a:solidFill>
              </a:rPr>
              <a:t>  •  Right now: </a:t>
            </a:r>
            <a:r>
              <a:rPr i="0" lang="en-US" sz="1500" u="none" cap="none" strike="noStrike">
                <a:solidFill>
                  <a:schemeClr val="lt1"/>
                </a:solidFill>
              </a:rPr>
              <a:t>$159</a:t>
            </a:r>
            <a:r>
              <a:rPr i="0" lang="en-US" sz="1500" u="none" cap="none" strike="noStrike">
                <a:solidFill>
                  <a:srgbClr val="81D1F4"/>
                </a:solidFill>
              </a:rPr>
              <a:t> (save </a:t>
            </a:r>
            <a:r>
              <a:rPr lang="en-US" sz="1500">
                <a:solidFill>
                  <a:srgbClr val="81D1F4"/>
                </a:solidFill>
              </a:rPr>
              <a:t>20%</a:t>
            </a:r>
            <a:r>
              <a:rPr i="0" lang="en-US" sz="1500" u="none" cap="none" strike="noStrike">
                <a:solidFill>
                  <a:srgbClr val="81D1F4"/>
                </a:solidFill>
              </a:rPr>
              <a:t>)</a:t>
            </a:r>
            <a:endParaRPr i="0" sz="1500" u="none" cap="none" strike="noStrike">
              <a:solidFill>
                <a:srgbClr val="81D1F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18" name="Google Shape;818;p39"/>
          <p:cNvGrpSpPr/>
          <p:nvPr/>
        </p:nvGrpSpPr>
        <p:grpSpPr>
          <a:xfrm>
            <a:off x="1381125" y="2426375"/>
            <a:ext cx="3032450" cy="639500"/>
            <a:chOff x="1381125" y="2426375"/>
            <a:chExt cx="3032450" cy="639500"/>
          </a:xfrm>
        </p:grpSpPr>
        <p:sp>
          <p:nvSpPr>
            <p:cNvPr id="819" name="Google Shape;819;p39"/>
            <p:cNvSpPr/>
            <p:nvPr/>
          </p:nvSpPr>
          <p:spPr>
            <a:xfrm>
              <a:off x="1913977" y="2426375"/>
              <a:ext cx="2385300" cy="3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BE33"/>
                </a:buClr>
                <a:buSzPts val="1500"/>
                <a:buFont typeface="Arial"/>
                <a:buNone/>
              </a:pPr>
              <a:r>
                <a:rPr b="1" i="0" lang="en-US" sz="1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48 Hours Only</a:t>
              </a:r>
              <a:endPara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0" name="Google Shape;820;p39"/>
            <p:cNvSpPr/>
            <p:nvPr/>
          </p:nvSpPr>
          <p:spPr>
            <a:xfrm>
              <a:off x="1913975" y="2745775"/>
              <a:ext cx="2499600" cy="3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1300"/>
                <a:buFont typeface="Arial"/>
                <a:buNone/>
              </a:pPr>
              <a:r>
                <a:rPr b="0" i="0" lang="en-US" sz="1300" u="none" cap="none" strike="noStrike">
                  <a:solidFill>
                    <a:srgbClr val="CCCCCC"/>
                  </a:solidFill>
                  <a:latin typeface="Arial"/>
                  <a:ea typeface="Arial"/>
                  <a:cs typeface="Arial"/>
                  <a:sym typeface="Arial"/>
                </a:rPr>
                <a:t>This 20% discount expires when this webinar replay ends</a:t>
              </a:r>
              <a:endParaRPr b="0" i="0" sz="13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21" name="Google Shape;821;p39" title="check mark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381125" y="2521627"/>
              <a:ext cx="345053" cy="3465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22" name="Google Shape;822;p39"/>
          <p:cNvGrpSpPr/>
          <p:nvPr/>
        </p:nvGrpSpPr>
        <p:grpSpPr>
          <a:xfrm>
            <a:off x="1381125" y="3303276"/>
            <a:ext cx="3080150" cy="649024"/>
            <a:chOff x="1381125" y="3303276"/>
            <a:chExt cx="3080150" cy="649024"/>
          </a:xfrm>
        </p:grpSpPr>
        <p:sp>
          <p:nvSpPr>
            <p:cNvPr id="823" name="Google Shape;823;p39"/>
            <p:cNvSpPr/>
            <p:nvPr/>
          </p:nvSpPr>
          <p:spPr>
            <a:xfrm>
              <a:off x="1913977" y="3303276"/>
              <a:ext cx="2385300" cy="3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BE33"/>
                </a:buClr>
                <a:buSzPts val="1500"/>
                <a:buFont typeface="Arial"/>
                <a:buNone/>
              </a:pPr>
              <a:r>
                <a:rPr b="1" i="0" lang="en-US" sz="1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90-Day Cohort Starts Jan </a:t>
              </a:r>
              <a:r>
                <a:rPr b="1" lang="en-US" sz="1300">
                  <a:solidFill>
                    <a:schemeClr val="lt1"/>
                  </a:solidFill>
                </a:rPr>
                <a:t>19</a:t>
              </a:r>
              <a:endPara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4" name="Google Shape;824;p39"/>
            <p:cNvSpPr/>
            <p:nvPr/>
          </p:nvSpPr>
          <p:spPr>
            <a:xfrm>
              <a:off x="1913975" y="3632200"/>
              <a:ext cx="2547300" cy="3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1300"/>
                <a:buFont typeface="Arial"/>
                <a:buNone/>
              </a:pPr>
              <a:r>
                <a:rPr b="0" i="0" lang="en-US" sz="1300" u="none" cap="none" strike="noStrike">
                  <a:solidFill>
                    <a:srgbClr val="CCCCCC"/>
                  </a:solidFill>
                  <a:latin typeface="Arial"/>
                  <a:ea typeface="Arial"/>
                  <a:cs typeface="Arial"/>
                  <a:sym typeface="Arial"/>
                </a:rPr>
                <a:t>Miss it and you miss weeks of structured guidance</a:t>
              </a:r>
              <a:endParaRPr b="0" i="0" sz="13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25" name="Google Shape;825;p39" title="check mark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381125" y="3402814"/>
              <a:ext cx="345053" cy="3465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26" name="Google Shape;826;p39"/>
          <p:cNvGrpSpPr/>
          <p:nvPr/>
        </p:nvGrpSpPr>
        <p:grpSpPr>
          <a:xfrm>
            <a:off x="4713522" y="2426375"/>
            <a:ext cx="2757528" cy="639500"/>
            <a:chOff x="4713522" y="2426375"/>
            <a:chExt cx="2757528" cy="639500"/>
          </a:xfrm>
        </p:grpSpPr>
        <p:sp>
          <p:nvSpPr>
            <p:cNvPr id="827" name="Google Shape;827;p39"/>
            <p:cNvSpPr/>
            <p:nvPr/>
          </p:nvSpPr>
          <p:spPr>
            <a:xfrm>
              <a:off x="5221946" y="2426375"/>
              <a:ext cx="2201700" cy="3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BE33"/>
                </a:buClr>
                <a:buSzPts val="1500"/>
                <a:buFont typeface="Arial"/>
                <a:buNone/>
              </a:pPr>
              <a:r>
                <a:rPr b="1" i="0" lang="en-US" sz="1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Your Motivation is at Peak</a:t>
              </a:r>
              <a:endPara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8" name="Google Shape;828;p39"/>
            <p:cNvSpPr/>
            <p:nvPr/>
          </p:nvSpPr>
          <p:spPr>
            <a:xfrm>
              <a:off x="5221950" y="2745775"/>
              <a:ext cx="2249100" cy="3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1300"/>
                <a:buFont typeface="Arial"/>
                <a:buNone/>
              </a:pPr>
              <a:r>
                <a:rPr b="0" i="0" lang="en-US" sz="1300" u="none" cap="none" strike="noStrike">
                  <a:solidFill>
                    <a:srgbClr val="CCCCCC"/>
                  </a:solidFill>
                  <a:latin typeface="Arial"/>
                  <a:ea typeface="Arial"/>
                  <a:cs typeface="Arial"/>
                  <a:sym typeface="Arial"/>
                </a:rPr>
                <a:t>In 48 hours, you'll be back to your normal routine</a:t>
              </a:r>
              <a:endParaRPr b="0" i="0" sz="13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29" name="Google Shape;829;p39" title="check mark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713522" y="2521627"/>
              <a:ext cx="345053" cy="3465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30" name="Google Shape;830;p39"/>
          <p:cNvGrpSpPr/>
          <p:nvPr/>
        </p:nvGrpSpPr>
        <p:grpSpPr>
          <a:xfrm>
            <a:off x="4713522" y="3303276"/>
            <a:ext cx="3335327" cy="649023"/>
            <a:chOff x="4713522" y="3303276"/>
            <a:chExt cx="3335327" cy="649023"/>
          </a:xfrm>
        </p:grpSpPr>
        <p:sp>
          <p:nvSpPr>
            <p:cNvPr id="831" name="Google Shape;831;p39"/>
            <p:cNvSpPr/>
            <p:nvPr/>
          </p:nvSpPr>
          <p:spPr>
            <a:xfrm>
              <a:off x="5221946" y="3303276"/>
              <a:ext cx="2201700" cy="3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BE33"/>
                </a:buClr>
                <a:buSzPts val="1500"/>
                <a:buFont typeface="Arial"/>
                <a:buNone/>
              </a:pPr>
              <a:r>
                <a:rPr b="1" i="0" lang="en-US" sz="1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Remember the Data</a:t>
              </a:r>
              <a:endPara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2" name="Google Shape;832;p39"/>
            <p:cNvSpPr/>
            <p:nvPr/>
          </p:nvSpPr>
          <p:spPr>
            <a:xfrm>
              <a:off x="5221948" y="3632200"/>
              <a:ext cx="2826900" cy="3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1300"/>
                <a:buFont typeface="Arial"/>
                <a:buNone/>
              </a:pPr>
              <a:r>
                <a:rPr lang="en-US" sz="1300">
                  <a:solidFill>
                    <a:srgbClr val="CCCCCC"/>
                  </a:solidFill>
                </a:rPr>
                <a:t>The data is clear. Action beats perfection. Start today.</a:t>
              </a:r>
              <a:endParaRPr b="0" i="0" sz="13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33" name="Google Shape;833;p39" title="check mark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713522" y="3402814"/>
              <a:ext cx="345053" cy="3465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34" name="Google Shape;834;p39"/>
          <p:cNvSpPr txBox="1"/>
          <p:nvPr/>
        </p:nvSpPr>
        <p:spPr>
          <a:xfrm>
            <a:off x="6473475" y="1762800"/>
            <a:ext cx="1584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</a:rPr>
              <a:t>(reg. $199)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000033"/>
        </a:solidFill>
      </p:bgPr>
    </p:bg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1"/>
          <p:cNvSpPr/>
          <p:nvPr/>
        </p:nvSpPr>
        <p:spPr>
          <a:xfrm>
            <a:off x="571500" y="430893"/>
            <a:ext cx="800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E33"/>
              </a:buClr>
              <a:buSzPts val="1600"/>
              <a:buFont typeface="Arial Black"/>
              <a:buNone/>
            </a:pPr>
            <a:r>
              <a:rPr lang="en-US" sz="1800">
                <a:solidFill>
                  <a:schemeClr val="lt1"/>
                </a:solidFill>
              </a:rPr>
              <a:t>Your Free Bonus</a:t>
            </a:r>
            <a:endParaRPr i="0" sz="1800" u="none" cap="none" strike="noStrike">
              <a:solidFill>
                <a:schemeClr val="lt1"/>
              </a:solidFill>
            </a:endParaRPr>
          </a:p>
        </p:txBody>
      </p:sp>
      <p:sp>
        <p:nvSpPr>
          <p:cNvPr id="841" name="Google Shape;841;p41"/>
          <p:cNvSpPr/>
          <p:nvPr/>
        </p:nvSpPr>
        <p:spPr>
          <a:xfrm>
            <a:off x="571500" y="863383"/>
            <a:ext cx="800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4000"/>
              <a:buFont typeface="Arial Black"/>
              <a:buNone/>
            </a:pPr>
            <a:r>
              <a:rPr b="1" i="0" lang="en-US" sz="3600" u="none" cap="none" strike="noStrike">
                <a:solidFill>
                  <a:srgbClr val="F0F0F0"/>
                </a:solidFill>
                <a:latin typeface="Arial Black"/>
                <a:ea typeface="Arial Black"/>
                <a:cs typeface="Arial Black"/>
                <a:sym typeface="Arial Black"/>
              </a:rPr>
              <a:t>Part 107 to Paid</a:t>
            </a: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3600" u="none" cap="none" strike="noStrike">
                <a:solidFill>
                  <a:srgbClr val="F0F0F0"/>
                </a:solidFill>
                <a:latin typeface="Arial Black"/>
                <a:ea typeface="Arial Black"/>
                <a:cs typeface="Arial Black"/>
                <a:sym typeface="Arial Black"/>
              </a:rPr>
              <a:t>Action Guide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41"/>
          <p:cNvSpPr/>
          <p:nvPr/>
        </p:nvSpPr>
        <p:spPr>
          <a:xfrm>
            <a:off x="457200" y="1402564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Arial"/>
              <a:buNone/>
            </a:pPr>
            <a:r>
              <a:rPr i="0" lang="en-US" sz="1800" u="none" cap="none" strike="noStrike">
                <a:solidFill>
                  <a:schemeClr val="lt1"/>
                </a:solidFill>
              </a:rPr>
              <a:t>The complete 3-Part Playbook with all exercises</a:t>
            </a:r>
            <a:endParaRPr i="0" sz="1800" u="none" cap="none" strike="noStrike">
              <a:solidFill>
                <a:schemeClr val="lt1"/>
              </a:solidFill>
            </a:endParaRPr>
          </a:p>
        </p:txBody>
      </p:sp>
      <p:sp>
        <p:nvSpPr>
          <p:cNvPr id="843" name="Google Shape;843;p41"/>
          <p:cNvSpPr/>
          <p:nvPr/>
        </p:nvSpPr>
        <p:spPr>
          <a:xfrm>
            <a:off x="1721600" y="2061265"/>
            <a:ext cx="2688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Complete Client Map worksheets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41"/>
          <p:cNvSpPr/>
          <p:nvPr/>
        </p:nvSpPr>
        <p:spPr>
          <a:xfrm>
            <a:off x="1721600" y="2472752"/>
            <a:ext cx="2688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Marketing Roadmap templates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41"/>
          <p:cNvSpPr/>
          <p:nvPr/>
        </p:nvSpPr>
        <p:spPr>
          <a:xfrm>
            <a:off x="1721600" y="2884239"/>
            <a:ext cx="2688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Elevator pitch fill-in-the-blank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41"/>
          <p:cNvSpPr/>
          <p:nvPr/>
        </p:nvSpPr>
        <p:spPr>
          <a:xfrm>
            <a:off x="5229707" y="2061265"/>
            <a:ext cx="2688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Pricing framework calculator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41"/>
          <p:cNvSpPr/>
          <p:nvPr/>
        </p:nvSpPr>
        <p:spPr>
          <a:xfrm>
            <a:off x="5229707" y="2472752"/>
            <a:ext cx="2688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Mock job planning checklist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41"/>
          <p:cNvSpPr/>
          <p:nvPr/>
        </p:nvSpPr>
        <p:spPr>
          <a:xfrm>
            <a:off x="5229707" y="2884239"/>
            <a:ext cx="2688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0F0F0"/>
                </a:solidFill>
                <a:latin typeface="Arial"/>
                <a:ea typeface="Arial"/>
                <a:cs typeface="Arial"/>
                <a:sym typeface="Arial"/>
              </a:rPr>
              <a:t>7-Day action checklist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41"/>
          <p:cNvSpPr/>
          <p:nvPr/>
        </p:nvSpPr>
        <p:spPr>
          <a:xfrm>
            <a:off x="1371600" y="3608432"/>
            <a:ext cx="6400800" cy="548700"/>
          </a:xfrm>
          <a:prstGeom prst="rect">
            <a:avLst/>
          </a:prstGeom>
          <a:solidFill>
            <a:srgbClr val="2123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398FF"/>
              </a:buClr>
              <a:buSzPts val="1800"/>
              <a:buFont typeface="Arial"/>
              <a:buNone/>
            </a:pPr>
            <a:r>
              <a:rPr i="0" lang="en-US" sz="1800" u="none" cap="none" strike="noStrike">
                <a:solidFill>
                  <a:srgbClr val="2398FF"/>
                </a:solidFill>
              </a:rPr>
              <a:t>Check the chat for your download link!</a:t>
            </a:r>
            <a:endParaRPr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41"/>
          <p:cNvSpPr/>
          <p:nvPr/>
        </p:nvSpPr>
        <p:spPr>
          <a:xfrm>
            <a:off x="457200" y="4478111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Arial"/>
              <a:buNone/>
            </a:pPr>
            <a:r>
              <a:rPr i="0" lang="en-US" sz="1800" u="none" cap="none" strike="noStrike">
                <a:solidFill>
                  <a:schemeClr val="lt1"/>
                </a:solidFill>
              </a:rPr>
              <a:t>Now let's do Q&amp;A...</a:t>
            </a:r>
            <a:endParaRPr i="0" sz="1800" u="none" cap="none" strike="noStrike">
              <a:solidFill>
                <a:schemeClr val="lt1"/>
              </a:solidFill>
            </a:endParaRPr>
          </a:p>
        </p:txBody>
      </p:sp>
      <p:pic>
        <p:nvPicPr>
          <p:cNvPr id="851" name="Google Shape;851;p41" title="check mar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8700" y="2123490"/>
            <a:ext cx="228092" cy="229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52" name="Google Shape;852;p41" title="check mar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8700" y="2537721"/>
            <a:ext cx="228092" cy="229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53" name="Google Shape;853;p41" title="check mar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8700" y="2951952"/>
            <a:ext cx="228092" cy="229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54" name="Google Shape;854;p41" title="check mar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8475" y="2123490"/>
            <a:ext cx="228092" cy="229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55" name="Google Shape;855;p41" title="check mar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8475" y="2537721"/>
            <a:ext cx="228092" cy="229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56" name="Google Shape;856;p41" title="check mar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8475" y="2951952"/>
            <a:ext cx="228092" cy="2291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000033"/>
        </a:solidFill>
      </p:bgPr>
    </p:bg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b78501958d_0_73"/>
          <p:cNvSpPr/>
          <p:nvPr/>
        </p:nvSpPr>
        <p:spPr>
          <a:xfrm>
            <a:off x="457200" y="405951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0590"/>
              </a:buClr>
              <a:buSzPts val="2400"/>
              <a:buFont typeface="Arial Black"/>
              <a:buNone/>
            </a:pPr>
            <a:r>
              <a:rPr i="0" lang="en-US" sz="1800" u="none" cap="none" strike="noStrike">
                <a:solidFill>
                  <a:schemeClr val="lt1"/>
                </a:solidFill>
              </a:rPr>
              <a:t>B</a:t>
            </a:r>
            <a:r>
              <a:rPr lang="en-US" sz="1800">
                <a:solidFill>
                  <a:schemeClr val="lt1"/>
                </a:solidFill>
              </a:rPr>
              <a:t>ut wait…</a:t>
            </a:r>
            <a:r>
              <a:rPr i="0" lang="en-US" sz="1800" u="none" cap="none" strike="noStrike">
                <a:solidFill>
                  <a:schemeClr val="lt1"/>
                </a:solidFill>
              </a:rPr>
              <a:t> </a:t>
            </a:r>
            <a:r>
              <a:rPr lang="en-US" sz="1800">
                <a:solidFill>
                  <a:schemeClr val="lt1"/>
                </a:solidFill>
              </a:rPr>
              <a:t>Because you showed up today...</a:t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0590"/>
              </a:buClr>
              <a:buSzPts val="2400"/>
              <a:buFont typeface="Arial Black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863" name="Google Shape;863;g3b78501958d_0_73"/>
          <p:cNvSpPr/>
          <p:nvPr/>
        </p:nvSpPr>
        <p:spPr>
          <a:xfrm>
            <a:off x="713925" y="5694371"/>
            <a:ext cx="8001000" cy="502800"/>
          </a:xfrm>
          <a:prstGeom prst="rect">
            <a:avLst/>
          </a:prstGeom>
          <a:solidFill>
            <a:srgbClr val="2123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E33"/>
              </a:buClr>
              <a:buSzPts val="1500"/>
              <a:buFont typeface="Arial"/>
              <a:buNone/>
            </a:pPr>
            <a:r>
              <a:rPr lang="en-US" sz="1800">
                <a:solidFill>
                  <a:srgbClr val="81D1F4"/>
                </a:solidFill>
              </a:rPr>
              <a:t>T</a:t>
            </a:r>
            <a:r>
              <a:rPr i="0" lang="en-US" sz="1800" u="none" cap="none" strike="noStrike">
                <a:solidFill>
                  <a:srgbClr val="81D1F4"/>
                </a:solidFill>
              </a:rPr>
              <a:t>his </a:t>
            </a:r>
            <a:r>
              <a:rPr i="0" lang="en-US" sz="1800" u="none" cap="none" strike="noStrike">
                <a:solidFill>
                  <a:srgbClr val="81D1F4"/>
                </a:solidFill>
              </a:rPr>
              <a:t>offer</a:t>
            </a:r>
            <a:r>
              <a:rPr i="0" lang="en-US" sz="1800" u="none" cap="none" strike="noStrike">
                <a:solidFill>
                  <a:srgbClr val="81D1F4"/>
                </a:solidFill>
              </a:rPr>
              <a:t> expires in 48 hours!</a:t>
            </a:r>
            <a:endParaRPr i="0" sz="1800" u="none" cap="none" strike="noStrike">
              <a:solidFill>
                <a:srgbClr val="81D1F4"/>
              </a:solidFill>
            </a:endParaRPr>
          </a:p>
        </p:txBody>
      </p:sp>
      <p:sp>
        <p:nvSpPr>
          <p:cNvPr id="864" name="Google Shape;864;g3b78501958d_0_73"/>
          <p:cNvSpPr txBox="1"/>
          <p:nvPr/>
        </p:nvSpPr>
        <p:spPr>
          <a:xfrm>
            <a:off x="1048200" y="905727"/>
            <a:ext cx="7047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48-Hour Webinar Special</a:t>
            </a:r>
            <a:endParaRPr sz="360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grpSp>
        <p:nvGrpSpPr>
          <p:cNvPr id="865" name="Google Shape;865;g3b78501958d_0_73"/>
          <p:cNvGrpSpPr/>
          <p:nvPr/>
        </p:nvGrpSpPr>
        <p:grpSpPr>
          <a:xfrm>
            <a:off x="571500" y="1871855"/>
            <a:ext cx="8295876" cy="2874416"/>
            <a:chOff x="571500" y="1871855"/>
            <a:chExt cx="8295876" cy="2874416"/>
          </a:xfrm>
        </p:grpSpPr>
        <p:grpSp>
          <p:nvGrpSpPr>
            <p:cNvPr id="866" name="Google Shape;866;g3b78501958d_0_73"/>
            <p:cNvGrpSpPr/>
            <p:nvPr/>
          </p:nvGrpSpPr>
          <p:grpSpPr>
            <a:xfrm>
              <a:off x="7003841" y="2902799"/>
              <a:ext cx="1863536" cy="1843472"/>
              <a:chOff x="7249200" y="3122775"/>
              <a:chExt cx="1894800" cy="1874400"/>
            </a:xfrm>
          </p:grpSpPr>
          <p:sp>
            <p:nvSpPr>
              <p:cNvPr id="867" name="Google Shape;867;g3b78501958d_0_73"/>
              <p:cNvSpPr/>
              <p:nvPr/>
            </p:nvSpPr>
            <p:spPr>
              <a:xfrm>
                <a:off x="7249200" y="3122775"/>
                <a:ext cx="1894800" cy="1874400"/>
              </a:xfrm>
              <a:prstGeom prst="ellipse">
                <a:avLst/>
              </a:prstGeom>
              <a:solidFill>
                <a:srgbClr val="212353"/>
              </a:solidFill>
              <a:ln>
                <a:noFill/>
              </a:ln>
            </p:spPr>
            <p:txBody>
              <a:bodyPr anchorCtr="0" anchor="ctr" bIns="89925" lIns="89925" spcFirstLastPara="1" rIns="89925" wrap="square" tIns="899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76">
                  <a:solidFill>
                    <a:schemeClr val="lt1"/>
                  </a:solidFill>
                </a:endParaRPr>
              </a:p>
            </p:txBody>
          </p:sp>
          <p:sp>
            <p:nvSpPr>
              <p:cNvPr id="868" name="Google Shape;868;g3b78501958d_0_73"/>
              <p:cNvSpPr txBox="1"/>
              <p:nvPr/>
            </p:nvSpPr>
            <p:spPr>
              <a:xfrm>
                <a:off x="7451400" y="3552075"/>
                <a:ext cx="1490400" cy="101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89925" lIns="89925" spcFirstLastPara="1" rIns="89925" wrap="square" tIns="899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770">
                    <a:solidFill>
                      <a:srgbClr val="81D1F4"/>
                    </a:solidFill>
                  </a:rPr>
                  <a:t>This offer expires in 48 hours!</a:t>
                </a:r>
                <a:endParaRPr sz="1770">
                  <a:solidFill>
                    <a:srgbClr val="81D1F4"/>
                  </a:solidFill>
                </a:endParaRPr>
              </a:p>
            </p:txBody>
          </p:sp>
        </p:grpSp>
        <p:sp>
          <p:nvSpPr>
            <p:cNvPr id="869" name="Google Shape;869;g3b78501958d_0_73"/>
            <p:cNvSpPr/>
            <p:nvPr/>
          </p:nvSpPr>
          <p:spPr>
            <a:xfrm>
              <a:off x="3205056" y="4164891"/>
              <a:ext cx="2733900" cy="18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1300"/>
                <a:buFont typeface="Arial"/>
                <a:buNone/>
              </a:pPr>
              <a:r>
                <a:rPr lang="en-US" sz="1800">
                  <a:solidFill>
                    <a:schemeClr val="lt1"/>
                  </a:solidFill>
                </a:rPr>
                <a:t>&lt;1 </a:t>
              </a:r>
              <a:r>
                <a:rPr i="0" lang="en-US" sz="1800" u="none" cap="none" strike="noStrike">
                  <a:solidFill>
                    <a:schemeClr val="lt1"/>
                  </a:solidFill>
                </a:rPr>
                <a:t>real estate shoot</a:t>
              </a:r>
              <a:endParaRPr i="0" sz="1800" u="none" cap="none" strike="noStrike">
                <a:solidFill>
                  <a:schemeClr val="lt1"/>
                </a:solidFill>
              </a:endParaRPr>
            </a:p>
          </p:txBody>
        </p:sp>
        <p:sp>
          <p:nvSpPr>
            <p:cNvPr id="870" name="Google Shape;870;g3b78501958d_0_73"/>
            <p:cNvSpPr/>
            <p:nvPr/>
          </p:nvSpPr>
          <p:spPr>
            <a:xfrm>
              <a:off x="3826806" y="4509167"/>
              <a:ext cx="1490400" cy="18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94A3B8"/>
                </a:buClr>
                <a:buSzPts val="1300"/>
                <a:buFont typeface="Arial"/>
                <a:buNone/>
              </a:pPr>
              <a:r>
                <a:rPr lang="en-US" sz="1800">
                  <a:solidFill>
                    <a:schemeClr val="lt1"/>
                  </a:solidFill>
                </a:rPr>
                <a:t>$40 </a:t>
              </a:r>
              <a:r>
                <a:rPr i="0" lang="en-US" sz="1800" u="none" cap="none" strike="noStrike">
                  <a:solidFill>
                    <a:schemeClr val="lt1"/>
                  </a:solidFill>
                </a:rPr>
                <a:t>savings</a:t>
              </a:r>
              <a:endParaRPr i="0" sz="1800" u="none" cap="none" strike="noStrike">
                <a:solidFill>
                  <a:schemeClr val="lt1"/>
                </a:solidFill>
              </a:endParaRPr>
            </a:p>
          </p:txBody>
        </p:sp>
        <p:sp>
          <p:nvSpPr>
            <p:cNvPr id="871" name="Google Shape;871;g3b78501958d_0_73"/>
            <p:cNvSpPr/>
            <p:nvPr/>
          </p:nvSpPr>
          <p:spPr>
            <a:xfrm>
              <a:off x="571500" y="1871855"/>
              <a:ext cx="8001000" cy="112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00033"/>
                </a:buClr>
                <a:buSzPts val="1800"/>
                <a:buFont typeface="Arial Black"/>
                <a:buNone/>
              </a:pPr>
              <a:r>
                <a:rPr b="1" i="0" lang="en-US" sz="14700" u="none" cap="none" strike="noStrike">
                  <a:solidFill>
                    <a:srgbClr val="2398FF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$1</a:t>
              </a:r>
              <a:r>
                <a:rPr b="1" lang="en-US" sz="14700">
                  <a:solidFill>
                    <a:srgbClr val="2398FF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5</a:t>
              </a:r>
              <a:r>
                <a:rPr b="1" i="0" lang="en-US" sz="14700" u="none" cap="none" strike="noStrike">
                  <a:solidFill>
                    <a:srgbClr val="2398FF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9/yr</a:t>
              </a:r>
              <a:endParaRPr b="0" i="0" sz="14700" u="none" cap="none" strike="noStrike">
                <a:solidFill>
                  <a:srgbClr val="2398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72" name="Google Shape;872;g3b78501958d_0_73"/>
            <p:cNvGrpSpPr/>
            <p:nvPr/>
          </p:nvGrpSpPr>
          <p:grpSpPr>
            <a:xfrm>
              <a:off x="1939650" y="3437900"/>
              <a:ext cx="5264700" cy="615600"/>
              <a:chOff x="1939650" y="3437900"/>
              <a:chExt cx="5264700" cy="615600"/>
            </a:xfrm>
          </p:grpSpPr>
          <p:sp>
            <p:nvSpPr>
              <p:cNvPr id="873" name="Google Shape;873;g3b78501958d_0_73"/>
              <p:cNvSpPr txBox="1"/>
              <p:nvPr/>
            </p:nvSpPr>
            <p:spPr>
              <a:xfrm>
                <a:off x="1939650" y="3437900"/>
                <a:ext cx="5264700" cy="615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>
                    <a:solidFill>
                      <a:schemeClr val="lt1"/>
                    </a:solidFill>
                    <a:latin typeface="Arial Black"/>
                    <a:ea typeface="Arial Black"/>
                    <a:cs typeface="Arial Black"/>
                    <a:sym typeface="Arial Black"/>
                  </a:rPr>
                  <a:t>$199</a:t>
                </a:r>
                <a:r>
                  <a:rPr lang="en-US" sz="2800">
                    <a:solidFill>
                      <a:schemeClr val="lt1"/>
                    </a:solidFill>
                  </a:rPr>
                  <a:t> • </a:t>
                </a:r>
                <a:r>
                  <a:rPr b="1" lang="en-US" sz="2800">
                    <a:solidFill>
                      <a:schemeClr val="lt1"/>
                    </a:solidFill>
                    <a:latin typeface="Arial Black"/>
                    <a:ea typeface="Arial Black"/>
                    <a:cs typeface="Arial Black"/>
                    <a:sym typeface="Arial Black"/>
                  </a:rPr>
                  <a:t>SAVE 20%</a:t>
                </a:r>
                <a:r>
                  <a:rPr lang="en-US" sz="2800">
                    <a:solidFill>
                      <a:schemeClr val="lt1"/>
                    </a:solidFill>
                  </a:rPr>
                  <a:t> • </a:t>
                </a:r>
                <a:r>
                  <a:rPr b="1" lang="en-US" sz="2800">
                    <a:solidFill>
                      <a:srgbClr val="81D1F4"/>
                    </a:solidFill>
                    <a:latin typeface="Arial Black"/>
                    <a:ea typeface="Arial Black"/>
                    <a:cs typeface="Arial Black"/>
                    <a:sym typeface="Arial Black"/>
                  </a:rPr>
                  <a:t>$13/mo</a:t>
                </a:r>
                <a:endParaRPr sz="2800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endParaRPr>
              </a:p>
            </p:txBody>
          </p:sp>
          <p:cxnSp>
            <p:nvCxnSpPr>
              <p:cNvPr id="874" name="Google Shape;874;g3b78501958d_0_73"/>
              <p:cNvCxnSpPr/>
              <p:nvPr/>
            </p:nvCxnSpPr>
            <p:spPr>
              <a:xfrm flipH="1" rot="10800000">
                <a:off x="1952896" y="3561579"/>
                <a:ext cx="1259400" cy="3948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F8059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2026-01-09T16:47:15Z</dcterms:created>
  <dc:creator>Pilot Institute</dc:creator>
</cp:coreProperties>
</file>